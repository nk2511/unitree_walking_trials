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5033" autoAdjust="0"/>
  </p:normalViewPr>
  <p:slideViewPr>
    <p:cSldViewPr snapToGrid="0" snapToObjects="1">
      <p:cViewPr varScale="1">
        <p:scale>
          <a:sx n="105" d="100"/>
          <a:sy n="105" d="100"/>
        </p:scale>
        <p:origin x="73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B3340"/>
                </a:solidFill>
                <a:latin typeface="Calibri"/>
              </a:defRPr>
            </a:pPr>
            <a:r>
              <a:rPr lang="en-US" sz="1100" b="0" i="0" u="none" strike="noStrike">
                <a:solidFill>
                  <a:srgbClr val="2B3340"/>
                </a:solidFill>
                <a:latin typeface="Calibri"/>
              </a:rPr>
              <a:t>Chance of choosing each joint angle</a:t>
            </a:r>
          </a:p>
        </c:rich>
      </c:tx>
      <c:overlay val="0"/>
    </c:title>
    <c:autoTitleDeleted val="0"/>
    <c:plotArea>
      <c:layout/>
      <c:lineChart>
        <c:grouping val="standard"/>
        <c:varyColors val="0"/>
        <c:ser>
          <c:idx val="0"/>
          <c:order val="0"/>
          <c:tx>
            <c:strRef>
              <c:f>Sheet1!$B$1</c:f>
              <c:strCache>
                <c:ptCount val="1"/>
                <c:pt idx="0">
                  <c:v>Early training: wide = explore</c:v>
                </c:pt>
              </c:strCache>
            </c:strRef>
          </c:tx>
          <c:spPr>
            <a:ln w="38100" cap="flat">
              <a:solidFill>
                <a:srgbClr val="F28C28"/>
              </a:solidFill>
              <a:prstDash val="solid"/>
              <a:round/>
            </a:ln>
            <a:effectLst/>
          </c:spPr>
          <c:marker>
            <c:symbol val="none"/>
          </c:marker>
          <c:cat>
            <c:strRef>
              <c:f>Sheet1!$A$2:$A$32</c:f>
              <c:strCache>
                <c:ptCount val="31"/>
                <c:pt idx="0">
                  <c:v>-3.0</c:v>
                </c:pt>
                <c:pt idx="1">
                  <c:v>-2.8</c:v>
                </c:pt>
                <c:pt idx="2">
                  <c:v>-2.6</c:v>
                </c:pt>
                <c:pt idx="3">
                  <c:v>-2.4</c:v>
                </c:pt>
                <c:pt idx="4">
                  <c:v>-2.2</c:v>
                </c:pt>
                <c:pt idx="5">
                  <c:v>-2.0</c:v>
                </c:pt>
                <c:pt idx="6">
                  <c:v>-1.8</c:v>
                </c:pt>
                <c:pt idx="7">
                  <c:v>-1.6</c:v>
                </c:pt>
                <c:pt idx="8">
                  <c:v>-1.4</c:v>
                </c:pt>
                <c:pt idx="9">
                  <c:v>-1.2</c:v>
                </c:pt>
                <c:pt idx="10">
                  <c:v>-1.0</c:v>
                </c:pt>
                <c:pt idx="11">
                  <c:v>-0.8</c:v>
                </c:pt>
                <c:pt idx="12">
                  <c:v>-0.6</c:v>
                </c:pt>
                <c:pt idx="13">
                  <c:v>-0.4</c:v>
                </c:pt>
                <c:pt idx="14">
                  <c:v>-0.2</c:v>
                </c:pt>
                <c:pt idx="15">
                  <c:v>0.0</c:v>
                </c:pt>
                <c:pt idx="16">
                  <c:v>0.2</c:v>
                </c:pt>
                <c:pt idx="17">
                  <c:v>0.4</c:v>
                </c:pt>
                <c:pt idx="18">
                  <c:v>0.6</c:v>
                </c:pt>
                <c:pt idx="19">
                  <c:v>0.8</c:v>
                </c:pt>
                <c:pt idx="20">
                  <c:v>1.0</c:v>
                </c:pt>
                <c:pt idx="21">
                  <c:v>1.2</c:v>
                </c:pt>
                <c:pt idx="22">
                  <c:v>1.4</c:v>
                </c:pt>
                <c:pt idx="23">
                  <c:v>1.6</c:v>
                </c:pt>
                <c:pt idx="24">
                  <c:v>1.8</c:v>
                </c:pt>
                <c:pt idx="25">
                  <c:v>2.0</c:v>
                </c:pt>
                <c:pt idx="26">
                  <c:v>2.2</c:v>
                </c:pt>
                <c:pt idx="27">
                  <c:v>2.4</c:v>
                </c:pt>
                <c:pt idx="28">
                  <c:v>2.6</c:v>
                </c:pt>
                <c:pt idx="29">
                  <c:v>2.8</c:v>
                </c:pt>
                <c:pt idx="30">
                  <c:v>3.0</c:v>
                </c:pt>
              </c:strCache>
            </c:strRef>
          </c:cat>
          <c:val>
            <c:numRef>
              <c:f>Sheet1!$B$2:$B$32</c:f>
              <c:numCache>
                <c:formatCode>General</c:formatCode>
                <c:ptCount val="31"/>
                <c:pt idx="0">
                  <c:v>4.4318484119380075E-3</c:v>
                </c:pt>
                <c:pt idx="1">
                  <c:v>7.9154515829799686E-3</c:v>
                </c:pt>
                <c:pt idx="2">
                  <c:v>1.3582969233685615E-2</c:v>
                </c:pt>
                <c:pt idx="3">
                  <c:v>2.2394530294842899E-2</c:v>
                </c:pt>
                <c:pt idx="4">
                  <c:v>3.5474592846231424E-2</c:v>
                </c:pt>
                <c:pt idx="5">
                  <c:v>5.3990966513188063E-2</c:v>
                </c:pt>
                <c:pt idx="6">
                  <c:v>7.8950158300894149E-2</c:v>
                </c:pt>
                <c:pt idx="7">
                  <c:v>0.11092083467945554</c:v>
                </c:pt>
                <c:pt idx="8">
                  <c:v>0.14972746563574488</c:v>
                </c:pt>
                <c:pt idx="9">
                  <c:v>0.19418605498321298</c:v>
                </c:pt>
                <c:pt idx="10">
                  <c:v>0.24197072451914337</c:v>
                </c:pt>
                <c:pt idx="11">
                  <c:v>0.28969155276148278</c:v>
                </c:pt>
                <c:pt idx="12">
                  <c:v>0.33322460289179967</c:v>
                </c:pt>
                <c:pt idx="13">
                  <c:v>0.36827014030332333</c:v>
                </c:pt>
                <c:pt idx="14">
                  <c:v>0.39104269397545588</c:v>
                </c:pt>
                <c:pt idx="15">
                  <c:v>0.3989422804014327</c:v>
                </c:pt>
                <c:pt idx="16">
                  <c:v>0.39104269397545588</c:v>
                </c:pt>
                <c:pt idx="17">
                  <c:v>0.36827014030332333</c:v>
                </c:pt>
                <c:pt idx="18">
                  <c:v>0.33322460289179967</c:v>
                </c:pt>
                <c:pt idx="19">
                  <c:v>0.28969155276148278</c:v>
                </c:pt>
                <c:pt idx="20">
                  <c:v>0.24197072451914337</c:v>
                </c:pt>
                <c:pt idx="21">
                  <c:v>0.19418605498321298</c:v>
                </c:pt>
                <c:pt idx="22">
                  <c:v>0.14972746563574488</c:v>
                </c:pt>
                <c:pt idx="23">
                  <c:v>0.11092083467945554</c:v>
                </c:pt>
                <c:pt idx="24">
                  <c:v>7.8950158300894149E-2</c:v>
                </c:pt>
                <c:pt idx="25">
                  <c:v>5.3990966513188063E-2</c:v>
                </c:pt>
                <c:pt idx="26">
                  <c:v>3.5474592846231424E-2</c:v>
                </c:pt>
                <c:pt idx="27">
                  <c:v>2.2394530294842899E-2</c:v>
                </c:pt>
                <c:pt idx="28">
                  <c:v>1.3582969233685615E-2</c:v>
                </c:pt>
                <c:pt idx="29">
                  <c:v>7.9154515829799686E-3</c:v>
                </c:pt>
                <c:pt idx="30">
                  <c:v>4.4318484119380075E-3</c:v>
                </c:pt>
              </c:numCache>
            </c:numRef>
          </c:val>
          <c:smooth val="1"/>
          <c:extLst>
            <c:ext xmlns:c16="http://schemas.microsoft.com/office/drawing/2014/chart" uri="{C3380CC4-5D6E-409C-BE32-E72D297353CC}">
              <c16:uniqueId val="{00000000-794D-400E-8FA6-34E34CDC3283}"/>
            </c:ext>
          </c:extLst>
        </c:ser>
        <c:ser>
          <c:idx val="1"/>
          <c:order val="1"/>
          <c:tx>
            <c:strRef>
              <c:f>Sheet1!$C$1</c:f>
              <c:strCache>
                <c:ptCount val="1"/>
                <c:pt idx="0">
                  <c:v>Late training: narrow = exploit</c:v>
                </c:pt>
              </c:strCache>
            </c:strRef>
          </c:tx>
          <c:spPr>
            <a:ln w="38100" cap="flat">
              <a:solidFill>
                <a:srgbClr val="1F7AC0"/>
              </a:solidFill>
              <a:prstDash val="solid"/>
              <a:round/>
            </a:ln>
            <a:effectLst/>
          </c:spPr>
          <c:marker>
            <c:symbol val="none"/>
          </c:marker>
          <c:cat>
            <c:strRef>
              <c:f>Sheet1!$A$2:$A$32</c:f>
              <c:strCache>
                <c:ptCount val="31"/>
                <c:pt idx="0">
                  <c:v>-3.0</c:v>
                </c:pt>
                <c:pt idx="1">
                  <c:v>-2.8</c:v>
                </c:pt>
                <c:pt idx="2">
                  <c:v>-2.6</c:v>
                </c:pt>
                <c:pt idx="3">
                  <c:v>-2.4</c:v>
                </c:pt>
                <c:pt idx="4">
                  <c:v>-2.2</c:v>
                </c:pt>
                <c:pt idx="5">
                  <c:v>-2.0</c:v>
                </c:pt>
                <c:pt idx="6">
                  <c:v>-1.8</c:v>
                </c:pt>
                <c:pt idx="7">
                  <c:v>-1.6</c:v>
                </c:pt>
                <c:pt idx="8">
                  <c:v>-1.4</c:v>
                </c:pt>
                <c:pt idx="9">
                  <c:v>-1.2</c:v>
                </c:pt>
                <c:pt idx="10">
                  <c:v>-1.0</c:v>
                </c:pt>
                <c:pt idx="11">
                  <c:v>-0.8</c:v>
                </c:pt>
                <c:pt idx="12">
                  <c:v>-0.6</c:v>
                </c:pt>
                <c:pt idx="13">
                  <c:v>-0.4</c:v>
                </c:pt>
                <c:pt idx="14">
                  <c:v>-0.2</c:v>
                </c:pt>
                <c:pt idx="15">
                  <c:v>0.0</c:v>
                </c:pt>
                <c:pt idx="16">
                  <c:v>0.2</c:v>
                </c:pt>
                <c:pt idx="17">
                  <c:v>0.4</c:v>
                </c:pt>
                <c:pt idx="18">
                  <c:v>0.6</c:v>
                </c:pt>
                <c:pt idx="19">
                  <c:v>0.8</c:v>
                </c:pt>
                <c:pt idx="20">
                  <c:v>1.0</c:v>
                </c:pt>
                <c:pt idx="21">
                  <c:v>1.2</c:v>
                </c:pt>
                <c:pt idx="22">
                  <c:v>1.4</c:v>
                </c:pt>
                <c:pt idx="23">
                  <c:v>1.6</c:v>
                </c:pt>
                <c:pt idx="24">
                  <c:v>1.8</c:v>
                </c:pt>
                <c:pt idx="25">
                  <c:v>2.0</c:v>
                </c:pt>
                <c:pt idx="26">
                  <c:v>2.2</c:v>
                </c:pt>
                <c:pt idx="27">
                  <c:v>2.4</c:v>
                </c:pt>
                <c:pt idx="28">
                  <c:v>2.6</c:v>
                </c:pt>
                <c:pt idx="29">
                  <c:v>2.8</c:v>
                </c:pt>
                <c:pt idx="30">
                  <c:v>3.0</c:v>
                </c:pt>
              </c:strCache>
            </c:strRef>
          </c:cat>
          <c:val>
            <c:numRef>
              <c:f>Sheet1!$C$2:$C$32</c:f>
              <c:numCache>
                <c:formatCode>General</c:formatCode>
                <c:ptCount val="31"/>
                <c:pt idx="0">
                  <c:v>1.2681399259822041E-16</c:v>
                </c:pt>
                <c:pt idx="1">
                  <c:v>1.4435060238676836E-14</c:v>
                </c:pt>
                <c:pt idx="2">
                  <c:v>1.1853854222266254E-12</c:v>
                </c:pt>
                <c:pt idx="3">
                  <c:v>7.0224736839299401E-11</c:v>
                </c:pt>
                <c:pt idx="4">
                  <c:v>3.0013055802755024E-9</c:v>
                </c:pt>
                <c:pt idx="5">
                  <c:v>9.2537948643828566E-8</c:v>
                </c:pt>
                <c:pt idx="6">
                  <c:v>2.0583493050204049E-6</c:v>
                </c:pt>
                <c:pt idx="7">
                  <c:v>3.3029944444209123E-5</c:v>
                </c:pt>
                <c:pt idx="8">
                  <c:v>3.8237207361395821E-4</c:v>
                </c:pt>
                <c:pt idx="9">
                  <c:v>3.1934053328052663E-3</c:v>
                </c:pt>
                <c:pt idx="10">
                  <c:v>1.9240284214943539E-2</c:v>
                </c:pt>
                <c:pt idx="11">
                  <c:v>8.3629302940459296E-2</c:v>
                </c:pt>
                <c:pt idx="12">
                  <c:v>0.26223763989745152</c:v>
                </c:pt>
                <c:pt idx="13">
                  <c:v>0.59322730890057285</c:v>
                </c:pt>
                <c:pt idx="14">
                  <c:v>0.96813695930510735</c:v>
                </c:pt>
                <c:pt idx="15">
                  <c:v>1.1398350868612364</c:v>
                </c:pt>
                <c:pt idx="16">
                  <c:v>0.96813695930510735</c:v>
                </c:pt>
                <c:pt idx="17">
                  <c:v>0.59322730890057285</c:v>
                </c:pt>
                <c:pt idx="18">
                  <c:v>0.26223763989745152</c:v>
                </c:pt>
                <c:pt idx="19">
                  <c:v>8.3629302940459296E-2</c:v>
                </c:pt>
                <c:pt idx="20">
                  <c:v>1.9240284214943539E-2</c:v>
                </c:pt>
                <c:pt idx="21">
                  <c:v>3.1934053328052663E-3</c:v>
                </c:pt>
                <c:pt idx="22">
                  <c:v>3.8237207361395821E-4</c:v>
                </c:pt>
                <c:pt idx="23">
                  <c:v>3.3029944444209123E-5</c:v>
                </c:pt>
                <c:pt idx="24">
                  <c:v>2.0583493050204049E-6</c:v>
                </c:pt>
                <c:pt idx="25">
                  <c:v>9.2537948643828566E-8</c:v>
                </c:pt>
                <c:pt idx="26">
                  <c:v>3.0013055802755024E-9</c:v>
                </c:pt>
                <c:pt idx="27">
                  <c:v>7.0224736839299401E-11</c:v>
                </c:pt>
                <c:pt idx="28">
                  <c:v>1.1853854222266254E-12</c:v>
                </c:pt>
                <c:pt idx="29">
                  <c:v>1.4435060238676836E-14</c:v>
                </c:pt>
                <c:pt idx="30">
                  <c:v>1.2681399259822041E-16</c:v>
                </c:pt>
              </c:numCache>
            </c:numRef>
          </c:val>
          <c:smooth val="1"/>
          <c:extLst>
            <c:ext xmlns:c16="http://schemas.microsoft.com/office/drawing/2014/chart" uri="{C3380CC4-5D6E-409C-BE32-E72D297353CC}">
              <c16:uniqueId val="{00000001-794D-400E-8FA6-34E34CDC3283}"/>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000">
              <a:solidFill>
                <a:srgbClr val="2B3340"/>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9166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upright and smooth.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EQUATIONS (CO2/CO3). These are the exact quantities the RSL-RL PPO code computes. 1) TD error: reward now + discounted value of next state minus the Critic's guess for now. 2) Advantage: a smoothed sum of TD errors (GAE); lambda trades noise against bias. 3) Actor loss: PPO's clipped objective; rho is new-policy / old-policy probability; clipping to [0.8, 1.2] (epsilon 0.2) limits how far one update can move the policy. 4) Critic loss: mean squared error between predicted value and the actual discounted return. Total loss = -L_clip + 1.0*L_V - 0.01*entropy (value_loss_coef 1.0, entropy_coef 0.01). VIVA: "What does the discount factor do?" -&gt; gamma = 0.99 makes the agent care about future rewards (not falling in the next second) while still preferring sooner rewards. "How does the agent learn from reward?" -&gt; reward -&gt; return -&gt; advantage -&gt; actor update.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ANALYSIS (CO3). Left: seven training experiments in order; each row states the change and what was observed. Iterations and outcomes come from your weekly slides and plots. Right: interpretation. LEARNING: compare Method 2 (about 1.8 m/s reached when 3.0 m/s commanded) with Method 4 (about 3.0 m/s). Note Method 4 also used a better gait reference, so the gain is not from iterations alone. SUCCESS RATE: fill the number from W&amp;B (termination statistics such as time_out vs fell_over) - or remove that sentence. STABILITY: tracking is stable; the biggest remaining problem is foot impact force (peaks about 630-940 N versus about 185 N body weight). VIVA: "How do you know whether the agent has learned?" -&gt; (1) reward curve rises and flattens, (2) actual speed follows commanded speed, (3) robot stays upright for whole episodes.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50">
                <a:solidFill>
                  <a:srgbClr val="667085"/>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50">
                <a:solidFill>
                  <a:srgbClr val="667085"/>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5.png"/><Relationship Id="rId5" Type="http://schemas.openxmlformats.org/officeDocument/2006/relationships/image" Target="../media/image13.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3440"/>
        </a:solidFill>
        <a:effectLst/>
      </p:bgPr>
    </p:bg>
    <p:spTree>
      <p:nvGrpSpPr>
        <p:cNvPr id="1" name=""/>
        <p:cNvGrpSpPr/>
        <p:nvPr/>
      </p:nvGrpSpPr>
      <p:grpSpPr>
        <a:xfrm>
          <a:off x="0" y="0"/>
          <a:ext cx="0" cy="0"/>
          <a:chOff x="0" y="0"/>
          <a:chExt cx="0" cy="0"/>
        </a:xfrm>
      </p:grpSpPr>
      <p:sp>
        <p:nvSpPr>
          <p:cNvPr id="3" name="Text 0"/>
          <p:cNvSpPr txBox="1"/>
          <p:nvPr/>
        </p:nvSpPr>
        <p:spPr>
          <a:xfrm>
            <a:off x="548640" y="502920"/>
            <a:ext cx="5577840" cy="274320"/>
          </a:xfrm>
          <a:prstGeom prst="rect">
            <a:avLst/>
          </a:prstGeom>
          <a:noFill/>
          <a:ln/>
        </p:spPr>
        <p:txBody>
          <a:bodyPr wrap="square" lIns="0" tIns="0" rIns="0" bIns="0" rtlCol="0" anchor="ctr"/>
          <a:lstStyle/>
          <a:p>
            <a:pPr marL="0" indent="0">
              <a:buNone/>
            </a:pPr>
            <a:r>
              <a:rPr lang="en-US" sz="1000" b="1" kern="0" spc="200" dirty="0">
                <a:solidFill>
                  <a:srgbClr val="F28C28"/>
                </a:solidFill>
                <a:latin typeface="Calibri" pitchFamily="34" charset="0"/>
                <a:ea typeface="Calibri" pitchFamily="34" charset="-122"/>
                <a:cs typeface="Calibri" pitchFamily="34" charset="-120"/>
              </a:rPr>
              <a:t>RL MINI-PROJECT  ·  PART I (CO1–CO3)  &amp;  PART II (CO4–CO5)</a:t>
            </a:r>
            <a:endParaRPr lang="en-US" sz="1000" dirty="0"/>
          </a:p>
        </p:txBody>
      </p:sp>
      <p:sp>
        <p:nvSpPr>
          <p:cNvPr id="4" name="Text 1"/>
          <p:cNvSpPr txBox="1"/>
          <p:nvPr/>
        </p:nvSpPr>
        <p:spPr>
          <a:xfrm>
            <a:off x="548640" y="868680"/>
            <a:ext cx="5486400" cy="1371600"/>
          </a:xfrm>
          <a:prstGeom prst="rect">
            <a:avLst/>
          </a:prstGeom>
          <a:noFill/>
          <a:ln/>
        </p:spPr>
        <p:txBody>
          <a:bodyPr wrap="square" lIns="0" tIns="0" rIns="0" bIns="0" rtlCol="0" anchor="t"/>
          <a:lstStyle/>
          <a:p>
            <a:pPr marL="0" indent="0">
              <a:buNone/>
            </a:pPr>
            <a:r>
              <a:rPr lang="en-US" sz="2900" b="1" dirty="0">
                <a:solidFill>
                  <a:srgbClr val="FFFFFF"/>
                </a:solidFill>
                <a:latin typeface="Cambria" pitchFamily="34" charset="0"/>
                <a:ea typeface="Cambria" pitchFamily="34" charset="-122"/>
                <a:cs typeface="Cambria" pitchFamily="34" charset="-120"/>
              </a:rPr>
              <a:t>Teaching a Biped Robot to Walk with Reinforcement Learning</a:t>
            </a:r>
            <a:endParaRPr lang="en-US" sz="2900" dirty="0"/>
          </a:p>
        </p:txBody>
      </p:sp>
      <p:sp>
        <p:nvSpPr>
          <p:cNvPr id="5" name="Text 2"/>
          <p:cNvSpPr txBox="1"/>
          <p:nvPr/>
        </p:nvSpPr>
        <p:spPr>
          <a:xfrm>
            <a:off x="548640" y="2423160"/>
            <a:ext cx="5394960" cy="548640"/>
          </a:xfrm>
          <a:prstGeom prst="rect">
            <a:avLst/>
          </a:prstGeom>
          <a:noFill/>
          <a:ln/>
        </p:spPr>
        <p:txBody>
          <a:bodyPr wrap="square" lIns="0" tIns="0" rIns="0" bIns="0" rtlCol="0" anchor="t"/>
          <a:lstStyle/>
          <a:p>
            <a:pPr marL="0" indent="0">
              <a:buNone/>
            </a:pPr>
            <a:r>
              <a:rPr lang="en-US" sz="1500" dirty="0">
                <a:solidFill>
                  <a:srgbClr val="C9D3E0"/>
                </a:solidFill>
                <a:latin typeface="Calibri" pitchFamily="34" charset="0"/>
                <a:ea typeface="Calibri" pitchFamily="34" charset="-122"/>
                <a:cs typeface="Calibri" pitchFamily="34" charset="-120"/>
              </a:rPr>
              <a:t>12-joint bipedal robot</a:t>
            </a:r>
            <a:endParaRPr lang="en-US" sz="1500" dirty="0"/>
          </a:p>
        </p:txBody>
      </p:sp>
      <p:sp>
        <p:nvSpPr>
          <p:cNvPr id="6" name="Text 3"/>
          <p:cNvSpPr txBox="1"/>
          <p:nvPr/>
        </p:nvSpPr>
        <p:spPr>
          <a:xfrm>
            <a:off x="548640" y="3108960"/>
            <a:ext cx="1234440" cy="256032"/>
          </a:xfrm>
          <a:prstGeom prst="rect">
            <a:avLst/>
          </a:prstGeom>
          <a:noFill/>
          <a:ln/>
        </p:spPr>
        <p:txBody>
          <a:bodyPr wrap="square" lIns="0" tIns="0" rIns="0" bIns="0" rtlCol="0" anchor="ctr"/>
          <a:lstStyle/>
          <a:p>
            <a:pPr marL="0" indent="0">
              <a:buNone/>
            </a:pPr>
            <a:r>
              <a:rPr lang="en-US" sz="1050" dirty="0">
                <a:solidFill>
                  <a:srgbClr val="9AA6B8"/>
                </a:solidFill>
                <a:latin typeface="Calibri" pitchFamily="34" charset="0"/>
                <a:ea typeface="Calibri" pitchFamily="34" charset="-122"/>
                <a:cs typeface="Calibri" pitchFamily="34" charset="-120"/>
              </a:rPr>
              <a:t>Team member</a:t>
            </a:r>
            <a:endParaRPr lang="en-US" sz="1050" dirty="0"/>
          </a:p>
        </p:txBody>
      </p:sp>
      <p:sp>
        <p:nvSpPr>
          <p:cNvPr id="7" name="Text 4"/>
          <p:cNvSpPr txBox="1"/>
          <p:nvPr/>
        </p:nvSpPr>
        <p:spPr>
          <a:xfrm>
            <a:off x="1783080" y="3108960"/>
            <a:ext cx="4297680" cy="256032"/>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Nandhith Karthikeyan  ·  RAE23027</a:t>
            </a:r>
            <a:endParaRPr lang="en-US" sz="1250" dirty="0"/>
          </a:p>
        </p:txBody>
      </p:sp>
      <p:sp>
        <p:nvSpPr>
          <p:cNvPr id="8" name="Text 5"/>
          <p:cNvSpPr txBox="1"/>
          <p:nvPr/>
        </p:nvSpPr>
        <p:spPr>
          <a:xfrm>
            <a:off x="548640" y="3392424"/>
            <a:ext cx="1234440" cy="256032"/>
          </a:xfrm>
          <a:prstGeom prst="rect">
            <a:avLst/>
          </a:prstGeom>
          <a:noFill/>
          <a:ln/>
        </p:spPr>
        <p:txBody>
          <a:bodyPr wrap="square" lIns="0" tIns="0" rIns="0" bIns="0" rtlCol="0" anchor="ctr"/>
          <a:lstStyle/>
          <a:p>
            <a:pPr marL="0" indent="0">
              <a:buNone/>
            </a:pPr>
            <a:r>
              <a:rPr lang="en-US" sz="1050" dirty="0">
                <a:solidFill>
                  <a:srgbClr val="9AA6B8"/>
                </a:solidFill>
                <a:latin typeface="Calibri" pitchFamily="34" charset="0"/>
                <a:ea typeface="Calibri" pitchFamily="34" charset="-122"/>
                <a:cs typeface="Calibri" pitchFamily="34" charset="-120"/>
              </a:rPr>
              <a:t>Course</a:t>
            </a:r>
            <a:endParaRPr lang="en-US" sz="1050" dirty="0"/>
          </a:p>
        </p:txBody>
      </p:sp>
      <p:sp>
        <p:nvSpPr>
          <p:cNvPr id="9" name="Text 6"/>
          <p:cNvSpPr txBox="1"/>
          <p:nvPr/>
        </p:nvSpPr>
        <p:spPr>
          <a:xfrm>
            <a:off x="1783080" y="3392424"/>
            <a:ext cx="4297680" cy="256032"/>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Reinforcement Learning: Mini-Project Assessment</a:t>
            </a:r>
            <a:endParaRPr lang="en-US" sz="1250" dirty="0"/>
          </a:p>
        </p:txBody>
      </p:sp>
      <p:sp>
        <p:nvSpPr>
          <p:cNvPr id="10" name="Text 7"/>
          <p:cNvSpPr txBox="1"/>
          <p:nvPr/>
        </p:nvSpPr>
        <p:spPr>
          <a:xfrm>
            <a:off x="548640" y="3675888"/>
            <a:ext cx="1234440" cy="256032"/>
          </a:xfrm>
          <a:prstGeom prst="rect">
            <a:avLst/>
          </a:prstGeom>
          <a:noFill/>
          <a:ln/>
        </p:spPr>
        <p:txBody>
          <a:bodyPr wrap="square" lIns="0" tIns="0" rIns="0" bIns="0" rtlCol="0" anchor="ctr"/>
          <a:lstStyle/>
          <a:p>
            <a:pPr marL="0" indent="0">
              <a:buNone/>
            </a:pPr>
            <a:r>
              <a:rPr lang="en-US" sz="1050" dirty="0">
                <a:solidFill>
                  <a:srgbClr val="9AA6B8"/>
                </a:solidFill>
                <a:latin typeface="Calibri" pitchFamily="34" charset="0"/>
                <a:ea typeface="Calibri" pitchFamily="34" charset="-122"/>
                <a:cs typeface="Calibri" pitchFamily="34" charset="-120"/>
              </a:rPr>
              <a:t>Faculty</a:t>
            </a:r>
            <a:endParaRPr lang="en-US" sz="1050" dirty="0"/>
          </a:p>
        </p:txBody>
      </p:sp>
      <p:sp>
        <p:nvSpPr>
          <p:cNvPr id="11" name="Text 8"/>
          <p:cNvSpPr txBox="1"/>
          <p:nvPr/>
        </p:nvSpPr>
        <p:spPr>
          <a:xfrm>
            <a:off x="1783080" y="3675888"/>
            <a:ext cx="4297680" cy="256032"/>
          </a:xfrm>
          <a:prstGeom prst="rect">
            <a:avLst/>
          </a:prstGeom>
          <a:noFill/>
          <a:ln/>
        </p:spPr>
        <p:txBody>
          <a:bodyPr wrap="square" lIns="0" tIns="0" rIns="0" bIns="0" rtlCol="0" anchor="ctr"/>
          <a:lstStyle/>
          <a:p>
            <a:pPr marL="0" indent="0">
              <a:buNone/>
            </a:pPr>
            <a:r>
              <a:rPr lang="en-US" sz="1250" dirty="0">
                <a:solidFill>
                  <a:srgbClr val="F28C28"/>
                </a:solidFill>
                <a:latin typeface="Calibri" pitchFamily="34" charset="0"/>
                <a:ea typeface="Calibri" pitchFamily="34" charset="-122"/>
                <a:cs typeface="Calibri" pitchFamily="34" charset="-120"/>
              </a:rPr>
              <a:t>Amudha Mam</a:t>
            </a:r>
            <a:endParaRPr lang="en-US" sz="1250" dirty="0"/>
          </a:p>
        </p:txBody>
      </p:sp>
      <p:sp>
        <p:nvSpPr>
          <p:cNvPr id="12" name="Text 9"/>
          <p:cNvSpPr txBox="1"/>
          <p:nvPr/>
        </p:nvSpPr>
        <p:spPr>
          <a:xfrm>
            <a:off x="548640" y="3959352"/>
            <a:ext cx="1234440" cy="256032"/>
          </a:xfrm>
          <a:prstGeom prst="rect">
            <a:avLst/>
          </a:prstGeom>
          <a:noFill/>
          <a:ln/>
        </p:spPr>
        <p:txBody>
          <a:bodyPr wrap="square" lIns="0" tIns="0" rIns="0" bIns="0" rtlCol="0" anchor="ctr"/>
          <a:lstStyle/>
          <a:p>
            <a:pPr marL="0" indent="0">
              <a:buNone/>
            </a:pPr>
            <a:r>
              <a:rPr lang="en-US" sz="1050" dirty="0">
                <a:solidFill>
                  <a:srgbClr val="9AA6B8"/>
                </a:solidFill>
                <a:latin typeface="Calibri" pitchFamily="34" charset="0"/>
                <a:ea typeface="Calibri" pitchFamily="34" charset="-122"/>
                <a:cs typeface="Calibri" pitchFamily="34" charset="-120"/>
              </a:rPr>
              <a:t>Academic year</a:t>
            </a:r>
            <a:endParaRPr lang="en-US" sz="1050" dirty="0"/>
          </a:p>
        </p:txBody>
      </p:sp>
      <p:sp>
        <p:nvSpPr>
          <p:cNvPr id="13" name="Text 10"/>
          <p:cNvSpPr txBox="1"/>
          <p:nvPr/>
        </p:nvSpPr>
        <p:spPr>
          <a:xfrm>
            <a:off x="1783080" y="3959352"/>
            <a:ext cx="4297680" cy="256032"/>
          </a:xfrm>
          <a:prstGeom prst="rect">
            <a:avLst/>
          </a:prstGeom>
          <a:noFill/>
          <a:ln/>
        </p:spPr>
        <p:txBody>
          <a:bodyPr wrap="square" lIns="0" tIns="0" rIns="0" bIns="0" rtlCol="0" anchor="ctr"/>
          <a:lstStyle/>
          <a:p>
            <a:pPr marL="0" indent="0">
              <a:buNone/>
            </a:pPr>
            <a:r>
              <a:rPr lang="en-US" sz="1250" dirty="0">
                <a:solidFill>
                  <a:srgbClr val="F28C28"/>
                </a:solidFill>
                <a:latin typeface="Calibri" pitchFamily="34" charset="0"/>
                <a:ea typeface="Calibri" pitchFamily="34" charset="-122"/>
                <a:cs typeface="Calibri" pitchFamily="34" charset="-120"/>
              </a:rPr>
              <a:t>2026</a:t>
            </a:r>
            <a:endParaRPr lang="en-US" sz="1250" dirty="0"/>
          </a:p>
        </p:txBody>
      </p:sp>
      <p:sp>
        <p:nvSpPr>
          <p:cNvPr id="14" name="Text 11"/>
          <p:cNvSpPr txBox="1"/>
          <p:nvPr/>
        </p:nvSpPr>
        <p:spPr>
          <a:xfrm>
            <a:off x="548640" y="4242816"/>
            <a:ext cx="1234440" cy="256032"/>
          </a:xfrm>
          <a:prstGeom prst="rect">
            <a:avLst/>
          </a:prstGeom>
          <a:noFill/>
          <a:ln/>
        </p:spPr>
        <p:txBody>
          <a:bodyPr wrap="square" lIns="0" tIns="0" rIns="0" bIns="0" rtlCol="0" anchor="ctr"/>
          <a:lstStyle/>
          <a:p>
            <a:pPr marL="0" indent="0">
              <a:buNone/>
            </a:pPr>
            <a:r>
              <a:rPr lang="en-US" sz="1050" dirty="0">
                <a:solidFill>
                  <a:srgbClr val="9AA6B8"/>
                </a:solidFill>
                <a:latin typeface="Calibri" pitchFamily="34" charset="0"/>
                <a:ea typeface="Calibri" pitchFamily="34" charset="-122"/>
                <a:cs typeface="Calibri" pitchFamily="34" charset="-120"/>
              </a:rPr>
              <a:t>Institution</a:t>
            </a:r>
            <a:endParaRPr lang="en-US" sz="1050" dirty="0"/>
          </a:p>
        </p:txBody>
      </p:sp>
      <p:sp>
        <p:nvSpPr>
          <p:cNvPr id="15" name="Text 12"/>
          <p:cNvSpPr txBox="1"/>
          <p:nvPr/>
        </p:nvSpPr>
        <p:spPr>
          <a:xfrm>
            <a:off x="1783080" y="4242816"/>
            <a:ext cx="4297680" cy="256032"/>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Amrita School of Engineering</a:t>
            </a:r>
            <a:endParaRPr lang="en-US" sz="1250" dirty="0"/>
          </a:p>
        </p:txBody>
      </p:sp>
      <p:sp>
        <p:nvSpPr>
          <p:cNvPr id="16" name="Text 13"/>
          <p:cNvSpPr txBox="1"/>
          <p:nvPr/>
        </p:nvSpPr>
        <p:spPr>
          <a:xfrm>
            <a:off x="548640" y="4663440"/>
            <a:ext cx="5577840" cy="274320"/>
          </a:xfrm>
          <a:prstGeom prst="rect">
            <a:avLst/>
          </a:prstGeom>
          <a:noFill/>
          <a:ln/>
        </p:spPr>
        <p:txBody>
          <a:bodyPr wrap="square" lIns="0" tIns="0" rIns="0" bIns="0" rtlCol="0" anchor="ctr"/>
          <a:lstStyle/>
          <a:p>
            <a:pPr marL="0" indent="0">
              <a:buNone/>
            </a:pPr>
            <a:r>
              <a:rPr lang="en-US" sz="900" dirty="0">
                <a:solidFill>
                  <a:srgbClr val="9AA6B8"/>
                </a:solidFill>
                <a:latin typeface="Calibri" pitchFamily="34" charset="0"/>
                <a:ea typeface="Calibri" pitchFamily="34" charset="-122"/>
                <a:cs typeface="Calibri" pitchFamily="34" charset="-120"/>
              </a:rPr>
              <a:t>Simulation work carried out during an internship at Xterra Robotics Pvt. Ltd. (IHFC, IIT Delhi)</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457200" y="219456"/>
            <a:ext cx="3017520" cy="219456"/>
          </a:xfrm>
          <a:prstGeom prst="roundRect">
            <a:avLst>
              <a:gd name="adj" fmla="val 20833"/>
            </a:avLst>
          </a:prstGeom>
          <a:solidFill>
            <a:srgbClr val="E6F1FA"/>
          </a:solidFill>
          <a:ln w="12700">
            <a:solidFill>
              <a:srgbClr val="E6F1FA"/>
            </a:solidFill>
            <a:prstDash val="solid"/>
          </a:ln>
        </p:spPr>
        <p:txBody>
          <a:bodyPr/>
          <a:lstStyle/>
          <a:p>
            <a:endParaRPr lang="en-US"/>
          </a:p>
        </p:txBody>
      </p:sp>
      <p:sp>
        <p:nvSpPr>
          <p:cNvPr id="3" name="Text 1"/>
          <p:cNvSpPr txBox="1"/>
          <p:nvPr/>
        </p:nvSpPr>
        <p:spPr>
          <a:xfrm>
            <a:off x="457200" y="219456"/>
            <a:ext cx="3017520" cy="219456"/>
          </a:xfrm>
          <a:prstGeom prst="rect">
            <a:avLst/>
          </a:prstGeom>
          <a:noFill/>
          <a:ln/>
        </p:spPr>
        <p:txBody>
          <a:bodyPr wrap="square" lIns="0" tIns="0" rIns="0" bIns="0" rtlCol="0" anchor="ctr"/>
          <a:lstStyle/>
          <a:p>
            <a:pPr marL="0" indent="0" algn="ctr">
              <a:buNone/>
            </a:pPr>
            <a:r>
              <a:rPr lang="en-US" sz="850" b="1" kern="0" spc="100" dirty="0">
                <a:solidFill>
                  <a:srgbClr val="1F7AC0"/>
                </a:solidFill>
                <a:latin typeface="Calibri" pitchFamily="34" charset="0"/>
                <a:ea typeface="Calibri" pitchFamily="34" charset="-122"/>
                <a:cs typeface="Calibri" pitchFamily="34" charset="-120"/>
              </a:rPr>
              <a:t>PART I  ·  CO1  ·  PROBLEM UNDERSTANDING</a:t>
            </a:r>
            <a:endParaRPr lang="en-US" sz="850" dirty="0"/>
          </a:p>
        </p:txBody>
      </p:sp>
      <p:sp>
        <p:nvSpPr>
          <p:cNvPr id="4" name="Text 2"/>
          <p:cNvSpPr txBox="1"/>
          <p:nvPr/>
        </p:nvSpPr>
        <p:spPr>
          <a:xfrm>
            <a:off x="457200" y="475488"/>
            <a:ext cx="8229600" cy="502920"/>
          </a:xfrm>
          <a:prstGeom prst="rect">
            <a:avLst/>
          </a:prstGeom>
          <a:noFill/>
          <a:ln/>
        </p:spPr>
        <p:txBody>
          <a:bodyPr wrap="square" lIns="0" tIns="0" rIns="0" bIns="0" rtlCol="0" anchor="ctr"/>
          <a:lstStyle/>
          <a:p>
            <a:pPr marL="0" indent="0">
              <a:buNone/>
            </a:pPr>
            <a:r>
              <a:rPr lang="en-US" sz="2600" b="1" dirty="0">
                <a:solidFill>
                  <a:srgbClr val="2B3340"/>
                </a:solidFill>
                <a:latin typeface="Cambria" pitchFamily="34" charset="0"/>
                <a:ea typeface="Cambria" pitchFamily="34" charset="-122"/>
                <a:cs typeface="Cambria" pitchFamily="34" charset="-120"/>
              </a:rPr>
              <a:t>Problem Statement</a:t>
            </a:r>
            <a:endParaRPr lang="en-US" sz="2600" dirty="0"/>
          </a:p>
        </p:txBody>
      </p:sp>
      <p:sp>
        <p:nvSpPr>
          <p:cNvPr id="5" name="Text 3"/>
          <p:cNvSpPr txBox="1"/>
          <p:nvPr/>
        </p:nvSpPr>
        <p:spPr>
          <a:xfrm>
            <a:off x="457200" y="4846320"/>
            <a:ext cx="4572000" cy="201168"/>
          </a:xfrm>
          <a:prstGeom prst="rect">
            <a:avLst/>
          </a:prstGeom>
          <a:noFill/>
          <a:ln/>
        </p:spPr>
        <p:txBody>
          <a:bodyPr wrap="square" lIns="0" tIns="0" rIns="0" bIns="0" rtlCol="0" anchor="ctr"/>
          <a:lstStyle/>
          <a:p>
            <a:pPr marL="0" indent="0">
              <a:buNone/>
            </a:pPr>
            <a:r>
              <a:rPr lang="en-US" sz="850" dirty="0">
                <a:solidFill>
                  <a:srgbClr val="667085"/>
                </a:solidFill>
                <a:latin typeface="Calibri" pitchFamily="34" charset="0"/>
                <a:ea typeface="Calibri" pitchFamily="34" charset="-122"/>
                <a:cs typeface="Calibri" pitchFamily="34" charset="-120"/>
              </a:rPr>
              <a:t>RL Mini-Project  Biped walking</a:t>
            </a:r>
            <a:endParaRPr lang="en-US" sz="850" dirty="0"/>
          </a:p>
        </p:txBody>
      </p:sp>
      <p:sp>
        <p:nvSpPr>
          <p:cNvPr id="6" name="Shape 4"/>
          <p:cNvSpPr/>
          <p:nvPr/>
        </p:nvSpPr>
        <p:spPr>
          <a:xfrm>
            <a:off x="457200" y="1115568"/>
            <a:ext cx="5532120" cy="685800"/>
          </a:xfrm>
          <a:prstGeom prst="roundRect">
            <a:avLst>
              <a:gd name="adj" fmla="val 1066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594360" y="1225296"/>
            <a:ext cx="457200" cy="457200"/>
          </a:xfrm>
          <a:prstGeom prst="ellipse">
            <a:avLst/>
          </a:prstGeom>
          <a:solidFill>
            <a:srgbClr val="1F7AC0"/>
          </a:solidFill>
          <a:ln w="12700">
            <a:solidFill>
              <a:srgbClr val="1F7AC0"/>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708660" y="1339596"/>
            <a:ext cx="228600" cy="228600"/>
          </a:xfrm>
          <a:prstGeom prst="rect">
            <a:avLst/>
          </a:prstGeom>
        </p:spPr>
      </p:pic>
      <p:sp>
        <p:nvSpPr>
          <p:cNvPr id="9" name="Text 6"/>
          <p:cNvSpPr txBox="1"/>
          <p:nvPr/>
        </p:nvSpPr>
        <p:spPr>
          <a:xfrm>
            <a:off x="1188720" y="1170432"/>
            <a:ext cx="4663440" cy="219456"/>
          </a:xfrm>
          <a:prstGeom prst="rect">
            <a:avLst/>
          </a:prstGeom>
          <a:noFill/>
          <a:ln/>
        </p:spPr>
        <p:txBody>
          <a:bodyPr wrap="square" lIns="0" tIns="0" rIns="0" bIns="0" rtlCol="0" anchor="ctr"/>
          <a:lstStyle/>
          <a:p>
            <a:pPr marL="0" indent="0">
              <a:buNone/>
            </a:pPr>
            <a:r>
              <a:rPr lang="en-US" sz="1100" b="1" dirty="0">
                <a:solidFill>
                  <a:srgbClr val="1F7AC0"/>
                </a:solidFill>
                <a:latin typeface="Calibri" pitchFamily="34" charset="0"/>
                <a:ea typeface="Calibri" pitchFamily="34" charset="-122"/>
                <a:cs typeface="Calibri" pitchFamily="34" charset="-120"/>
              </a:rPr>
              <a:t>Problem</a:t>
            </a:r>
            <a:endParaRPr lang="en-US" sz="1100" dirty="0"/>
          </a:p>
        </p:txBody>
      </p:sp>
      <p:sp>
        <p:nvSpPr>
          <p:cNvPr id="10" name="Text 7"/>
          <p:cNvSpPr txBox="1"/>
          <p:nvPr/>
        </p:nvSpPr>
        <p:spPr>
          <a:xfrm>
            <a:off x="1188720" y="1380744"/>
            <a:ext cx="4709160" cy="384048"/>
          </a:xfrm>
          <a:prstGeom prst="rect">
            <a:avLst/>
          </a:prstGeom>
          <a:noFill/>
          <a:ln/>
        </p:spPr>
        <p:txBody>
          <a:bodyPr wrap="square" lIns="0" tIns="0" rIns="0" bIns="0" rtlCol="0" anchor="t"/>
          <a:lstStyle/>
          <a:p>
            <a:pPr marL="0" indent="0">
              <a:buNone/>
            </a:pPr>
            <a:r>
              <a:rPr lang="en-US" sz="1200" dirty="0">
                <a:solidFill>
                  <a:srgbClr val="2B3340"/>
                </a:solidFill>
                <a:latin typeface="Calibri" pitchFamily="34" charset="0"/>
                <a:ea typeface="Calibri" pitchFamily="34" charset="-122"/>
                <a:cs typeface="Calibri" pitchFamily="34" charset="-120"/>
              </a:rPr>
              <a:t>Make a 12-joint bipedal robot, walk without falling at any speed we ask for.</a:t>
            </a:r>
            <a:endParaRPr lang="en-US" sz="1200" dirty="0"/>
          </a:p>
        </p:txBody>
      </p:sp>
      <p:sp>
        <p:nvSpPr>
          <p:cNvPr id="11" name="Shape 8"/>
          <p:cNvSpPr/>
          <p:nvPr/>
        </p:nvSpPr>
        <p:spPr>
          <a:xfrm>
            <a:off x="457200" y="1892808"/>
            <a:ext cx="5532120" cy="685800"/>
          </a:xfrm>
          <a:prstGeom prst="roundRect">
            <a:avLst>
              <a:gd name="adj" fmla="val 1066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12" name="Shape 9"/>
          <p:cNvSpPr/>
          <p:nvPr/>
        </p:nvSpPr>
        <p:spPr>
          <a:xfrm>
            <a:off x="594360" y="2002536"/>
            <a:ext cx="457200" cy="457200"/>
          </a:xfrm>
          <a:prstGeom prst="ellipse">
            <a:avLst/>
          </a:prstGeom>
          <a:solidFill>
            <a:srgbClr val="1F7AC0"/>
          </a:solidFill>
          <a:ln w="12700">
            <a:solidFill>
              <a:srgbClr val="1F7AC0"/>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708660" y="2116836"/>
            <a:ext cx="228600" cy="228600"/>
          </a:xfrm>
          <a:prstGeom prst="rect">
            <a:avLst/>
          </a:prstGeom>
        </p:spPr>
      </p:pic>
      <p:sp>
        <p:nvSpPr>
          <p:cNvPr id="14" name="Text 10"/>
          <p:cNvSpPr txBox="1"/>
          <p:nvPr/>
        </p:nvSpPr>
        <p:spPr>
          <a:xfrm>
            <a:off x="1188720" y="1947672"/>
            <a:ext cx="4663440" cy="219456"/>
          </a:xfrm>
          <a:prstGeom prst="rect">
            <a:avLst/>
          </a:prstGeom>
          <a:noFill/>
          <a:ln/>
        </p:spPr>
        <p:txBody>
          <a:bodyPr wrap="square" lIns="0" tIns="0" rIns="0" bIns="0" rtlCol="0" anchor="ctr"/>
          <a:lstStyle/>
          <a:p>
            <a:pPr marL="0" indent="0">
              <a:buNone/>
            </a:pPr>
            <a:r>
              <a:rPr lang="en-US" sz="1100" b="1" dirty="0">
                <a:solidFill>
                  <a:srgbClr val="1F7AC0"/>
                </a:solidFill>
                <a:latin typeface="Calibri" pitchFamily="34" charset="0"/>
                <a:ea typeface="Calibri" pitchFamily="34" charset="-122"/>
                <a:cs typeface="Calibri" pitchFamily="34" charset="-120"/>
              </a:rPr>
              <a:t>Objective</a:t>
            </a:r>
            <a:endParaRPr lang="en-US" sz="1100" dirty="0"/>
          </a:p>
        </p:txBody>
      </p:sp>
      <p:sp>
        <p:nvSpPr>
          <p:cNvPr id="15" name="Text 11"/>
          <p:cNvSpPr txBox="1"/>
          <p:nvPr/>
        </p:nvSpPr>
        <p:spPr>
          <a:xfrm>
            <a:off x="1188720" y="2157984"/>
            <a:ext cx="4709160" cy="384048"/>
          </a:xfrm>
          <a:prstGeom prst="rect">
            <a:avLst/>
          </a:prstGeom>
          <a:noFill/>
          <a:ln/>
        </p:spPr>
        <p:txBody>
          <a:bodyPr wrap="square" lIns="0" tIns="0" rIns="0" bIns="0" rtlCol="0" anchor="t"/>
          <a:lstStyle/>
          <a:p>
            <a:pPr marL="0" indent="0">
              <a:buNone/>
            </a:pPr>
            <a:r>
              <a:rPr lang="en-US" sz="1200" dirty="0">
                <a:solidFill>
                  <a:srgbClr val="2B3340"/>
                </a:solidFill>
                <a:latin typeface="Calibri" pitchFamily="34" charset="0"/>
                <a:ea typeface="Calibri" pitchFamily="34" charset="-122"/>
                <a:cs typeface="Calibri" pitchFamily="34" charset="-120"/>
              </a:rPr>
              <a:t>Follow the commanded forward, sideways and turning speed (up to 2.5 m/s) with smooth, natural steps.</a:t>
            </a:r>
            <a:endParaRPr lang="en-US" sz="1200" dirty="0"/>
          </a:p>
        </p:txBody>
      </p:sp>
      <p:sp>
        <p:nvSpPr>
          <p:cNvPr id="16" name="Shape 12"/>
          <p:cNvSpPr/>
          <p:nvPr/>
        </p:nvSpPr>
        <p:spPr>
          <a:xfrm>
            <a:off x="457200" y="2670048"/>
            <a:ext cx="5532120" cy="685800"/>
          </a:xfrm>
          <a:prstGeom prst="roundRect">
            <a:avLst>
              <a:gd name="adj" fmla="val 1066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3"/>
          <p:cNvSpPr/>
          <p:nvPr/>
        </p:nvSpPr>
        <p:spPr>
          <a:xfrm>
            <a:off x="594360" y="2779776"/>
            <a:ext cx="457200" cy="457200"/>
          </a:xfrm>
          <a:prstGeom prst="ellipse">
            <a:avLst/>
          </a:prstGeom>
          <a:solidFill>
            <a:srgbClr val="1F7AC0"/>
          </a:solidFill>
          <a:ln w="12700">
            <a:solidFill>
              <a:srgbClr val="1F7AC0"/>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708660" y="2894076"/>
            <a:ext cx="228600" cy="228600"/>
          </a:xfrm>
          <a:prstGeom prst="rect">
            <a:avLst/>
          </a:prstGeom>
        </p:spPr>
      </p:pic>
      <p:sp>
        <p:nvSpPr>
          <p:cNvPr id="19" name="Text 14"/>
          <p:cNvSpPr txBox="1"/>
          <p:nvPr/>
        </p:nvSpPr>
        <p:spPr>
          <a:xfrm>
            <a:off x="1188720" y="2724912"/>
            <a:ext cx="4663440" cy="219456"/>
          </a:xfrm>
          <a:prstGeom prst="rect">
            <a:avLst/>
          </a:prstGeom>
          <a:noFill/>
          <a:ln/>
        </p:spPr>
        <p:txBody>
          <a:bodyPr wrap="square" lIns="0" tIns="0" rIns="0" bIns="0" rtlCol="0" anchor="ctr"/>
          <a:lstStyle/>
          <a:p>
            <a:pPr marL="0" indent="0">
              <a:buNone/>
            </a:pPr>
            <a:r>
              <a:rPr lang="en-US" sz="1100" b="1" dirty="0">
                <a:solidFill>
                  <a:srgbClr val="1F7AC0"/>
                </a:solidFill>
                <a:latin typeface="Calibri" pitchFamily="34" charset="0"/>
                <a:ea typeface="Calibri" pitchFamily="34" charset="-122"/>
                <a:cs typeface="Calibri" pitchFamily="34" charset="-120"/>
              </a:rPr>
              <a:t>Environment</a:t>
            </a:r>
            <a:endParaRPr lang="en-US" sz="1100" dirty="0"/>
          </a:p>
        </p:txBody>
      </p:sp>
      <p:sp>
        <p:nvSpPr>
          <p:cNvPr id="20" name="Text 15"/>
          <p:cNvSpPr txBox="1"/>
          <p:nvPr/>
        </p:nvSpPr>
        <p:spPr>
          <a:xfrm>
            <a:off x="1188720" y="2935224"/>
            <a:ext cx="4709160" cy="384048"/>
          </a:xfrm>
          <a:prstGeom prst="rect">
            <a:avLst/>
          </a:prstGeom>
          <a:noFill/>
          <a:ln/>
        </p:spPr>
        <p:txBody>
          <a:bodyPr wrap="square" lIns="0" tIns="0" rIns="0" bIns="0" rtlCol="0" anchor="t"/>
          <a:lstStyle/>
          <a:p>
            <a:pPr marL="0" indent="0">
              <a:buNone/>
            </a:pPr>
            <a:r>
              <a:rPr lang="en-US" sz="1200" dirty="0">
                <a:solidFill>
                  <a:srgbClr val="2B3340"/>
                </a:solidFill>
                <a:latin typeface="Calibri" pitchFamily="34" charset="0"/>
                <a:ea typeface="Calibri" pitchFamily="34" charset="-122"/>
                <a:cs typeface="Calibri" pitchFamily="34" charset="-120"/>
              </a:rPr>
              <a:t>A physics simulator (MuJoCo Warp via mjlab) holding the model on flat ground.</a:t>
            </a:r>
            <a:endParaRPr lang="en-US" sz="1200" dirty="0"/>
          </a:p>
        </p:txBody>
      </p:sp>
      <p:sp>
        <p:nvSpPr>
          <p:cNvPr id="21" name="Shape 16"/>
          <p:cNvSpPr/>
          <p:nvPr/>
        </p:nvSpPr>
        <p:spPr>
          <a:xfrm>
            <a:off x="457200" y="3447288"/>
            <a:ext cx="5532120" cy="685800"/>
          </a:xfrm>
          <a:prstGeom prst="roundRect">
            <a:avLst>
              <a:gd name="adj" fmla="val 1066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22" name="Shape 17"/>
          <p:cNvSpPr/>
          <p:nvPr/>
        </p:nvSpPr>
        <p:spPr>
          <a:xfrm>
            <a:off x="594360" y="3557016"/>
            <a:ext cx="457200" cy="457200"/>
          </a:xfrm>
          <a:prstGeom prst="ellipse">
            <a:avLst/>
          </a:prstGeom>
          <a:solidFill>
            <a:srgbClr val="1F7AC0"/>
          </a:solidFill>
          <a:ln w="12700">
            <a:solidFill>
              <a:srgbClr val="1F7AC0"/>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708660" y="3671316"/>
            <a:ext cx="228600" cy="228600"/>
          </a:xfrm>
          <a:prstGeom prst="rect">
            <a:avLst/>
          </a:prstGeom>
        </p:spPr>
      </p:pic>
      <p:sp>
        <p:nvSpPr>
          <p:cNvPr id="24" name="Text 18"/>
          <p:cNvSpPr txBox="1"/>
          <p:nvPr/>
        </p:nvSpPr>
        <p:spPr>
          <a:xfrm>
            <a:off x="1188720" y="3502152"/>
            <a:ext cx="4663440" cy="219456"/>
          </a:xfrm>
          <a:prstGeom prst="rect">
            <a:avLst/>
          </a:prstGeom>
          <a:noFill/>
          <a:ln/>
        </p:spPr>
        <p:txBody>
          <a:bodyPr wrap="square" lIns="0" tIns="0" rIns="0" bIns="0" rtlCol="0" anchor="ctr"/>
          <a:lstStyle/>
          <a:p>
            <a:pPr marL="0" indent="0">
              <a:buNone/>
            </a:pPr>
            <a:r>
              <a:rPr lang="en-US" sz="1100" b="1" dirty="0">
                <a:solidFill>
                  <a:srgbClr val="1F7AC0"/>
                </a:solidFill>
                <a:latin typeface="Calibri" pitchFamily="34" charset="0"/>
                <a:ea typeface="Calibri" pitchFamily="34" charset="-122"/>
                <a:cs typeface="Calibri" pitchFamily="34" charset="-120"/>
              </a:rPr>
              <a:t>Decision</a:t>
            </a:r>
            <a:endParaRPr lang="en-US" sz="1100" dirty="0"/>
          </a:p>
        </p:txBody>
      </p:sp>
      <p:sp>
        <p:nvSpPr>
          <p:cNvPr id="25" name="Text 19"/>
          <p:cNvSpPr txBox="1"/>
          <p:nvPr/>
        </p:nvSpPr>
        <p:spPr>
          <a:xfrm>
            <a:off x="1188720" y="3712464"/>
            <a:ext cx="4709160" cy="384048"/>
          </a:xfrm>
          <a:prstGeom prst="rect">
            <a:avLst/>
          </a:prstGeom>
          <a:noFill/>
          <a:ln/>
        </p:spPr>
        <p:txBody>
          <a:bodyPr wrap="square" lIns="0" tIns="0" rIns="0" bIns="0" rtlCol="0" anchor="t"/>
          <a:lstStyle/>
          <a:p>
            <a:pPr marL="0" indent="0">
              <a:buNone/>
            </a:pPr>
            <a:r>
              <a:rPr lang="en-US" sz="1200" dirty="0">
                <a:solidFill>
                  <a:srgbClr val="2B3340"/>
                </a:solidFill>
                <a:latin typeface="Calibri" pitchFamily="34" charset="0"/>
                <a:ea typeface="Calibri" pitchFamily="34" charset="-122"/>
                <a:cs typeface="Calibri" pitchFamily="34" charset="-120"/>
              </a:rPr>
              <a:t>At every control step, choose a target angle for each of the 12 joints.</a:t>
            </a:r>
            <a:endParaRPr lang="en-US" sz="1200" dirty="0"/>
          </a:p>
        </p:txBody>
      </p:sp>
      <p:sp>
        <p:nvSpPr>
          <p:cNvPr id="27" name="Shape 20"/>
          <p:cNvSpPr/>
          <p:nvPr/>
        </p:nvSpPr>
        <p:spPr>
          <a:xfrm>
            <a:off x="457200" y="4279392"/>
            <a:ext cx="8229600" cy="457200"/>
          </a:xfrm>
          <a:prstGeom prst="roundRect">
            <a:avLst>
              <a:gd name="adj" fmla="val 16000"/>
            </a:avLst>
          </a:prstGeom>
          <a:solidFill>
            <a:srgbClr val="FFF1E0"/>
          </a:solidFill>
          <a:ln w="12700">
            <a:solidFill>
              <a:srgbClr val="FFF1E0"/>
            </a:solidFill>
            <a:prstDash val="solid"/>
          </a:ln>
        </p:spPr>
        <p:txBody>
          <a:bodyPr/>
          <a:lstStyle/>
          <a:p>
            <a:endParaRPr lang="en-US"/>
          </a:p>
        </p:txBody>
      </p:sp>
      <p:pic>
        <p:nvPicPr>
          <p:cNvPr id="28" name="Image 5" descr="preencoded.png"/>
          <p:cNvPicPr>
            <a:picLocks noChangeAspect="1"/>
          </p:cNvPicPr>
          <p:nvPr/>
        </p:nvPicPr>
        <p:blipFill>
          <a:blip r:embed="rId7"/>
          <a:stretch>
            <a:fillRect/>
          </a:stretch>
        </p:blipFill>
        <p:spPr>
          <a:xfrm>
            <a:off x="585216" y="4389120"/>
            <a:ext cx="237744" cy="237744"/>
          </a:xfrm>
          <a:prstGeom prst="rect">
            <a:avLst/>
          </a:prstGeom>
        </p:spPr>
      </p:pic>
      <p:sp>
        <p:nvSpPr>
          <p:cNvPr id="29" name="Text 21"/>
          <p:cNvSpPr txBox="1"/>
          <p:nvPr/>
        </p:nvSpPr>
        <p:spPr>
          <a:xfrm>
            <a:off x="932688" y="4279392"/>
            <a:ext cx="7635240" cy="457200"/>
          </a:xfrm>
          <a:prstGeom prst="rect">
            <a:avLst/>
          </a:prstGeom>
          <a:noFill/>
          <a:ln/>
        </p:spPr>
        <p:txBody>
          <a:bodyPr wrap="square" lIns="0" tIns="0" rIns="0" bIns="0" rtlCol="0" anchor="ctr"/>
          <a:lstStyle/>
          <a:p>
            <a:pPr marL="0" indent="0">
              <a:buNone/>
            </a:pPr>
            <a:r>
              <a:rPr lang="en-US" sz="1150" b="1" dirty="0">
                <a:solidFill>
                  <a:srgbClr val="F28C28"/>
                </a:solidFill>
                <a:latin typeface="Calibri" pitchFamily="34" charset="0"/>
                <a:ea typeface="Calibri" pitchFamily="34" charset="-122"/>
                <a:cs typeface="Calibri" pitchFamily="34" charset="-120"/>
              </a:rPr>
              <a:t>In plain words:  </a:t>
            </a:r>
            <a:r>
              <a:rPr lang="en-US" sz="1150" dirty="0">
                <a:solidFill>
                  <a:srgbClr val="2B3340"/>
                </a:solidFill>
                <a:latin typeface="Calibri" pitchFamily="34" charset="0"/>
                <a:ea typeface="Calibri" pitchFamily="34" charset="-122"/>
                <a:cs typeface="Calibri" pitchFamily="34" charset="-120"/>
              </a:rPr>
              <a:t>We do not tell the robot how to walk. We give it a goal (follow the speed, stay upright) and let it discover the walking itself.</a:t>
            </a:r>
            <a:endParaRPr lang="en-US" sz="1150" dirty="0"/>
          </a:p>
        </p:txBody>
      </p:sp>
      <p:sp>
        <p:nvSpPr>
          <p:cNvPr id="30"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50">
                <a:solidFill>
                  <a:srgbClr val="667085"/>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457200" y="219456"/>
            <a:ext cx="2674620" cy="219456"/>
          </a:xfrm>
          <a:prstGeom prst="roundRect">
            <a:avLst>
              <a:gd name="adj" fmla="val 20833"/>
            </a:avLst>
          </a:prstGeom>
          <a:solidFill>
            <a:srgbClr val="E6F1FA"/>
          </a:solidFill>
          <a:ln w="12700">
            <a:solidFill>
              <a:srgbClr val="E6F1FA"/>
            </a:solidFill>
            <a:prstDash val="solid"/>
          </a:ln>
        </p:spPr>
        <p:txBody>
          <a:bodyPr/>
          <a:lstStyle/>
          <a:p>
            <a:endParaRPr lang="en-US"/>
          </a:p>
        </p:txBody>
      </p:sp>
      <p:sp>
        <p:nvSpPr>
          <p:cNvPr id="3" name="Text 1"/>
          <p:cNvSpPr txBox="1"/>
          <p:nvPr/>
        </p:nvSpPr>
        <p:spPr>
          <a:xfrm>
            <a:off x="457200" y="219456"/>
            <a:ext cx="2674620" cy="219456"/>
          </a:xfrm>
          <a:prstGeom prst="rect">
            <a:avLst/>
          </a:prstGeom>
          <a:noFill/>
          <a:ln/>
        </p:spPr>
        <p:txBody>
          <a:bodyPr wrap="square" lIns="0" tIns="0" rIns="0" bIns="0" rtlCol="0" anchor="ctr"/>
          <a:lstStyle/>
          <a:p>
            <a:pPr marL="0" indent="0" algn="ctr">
              <a:buNone/>
            </a:pPr>
            <a:r>
              <a:rPr lang="en-US" sz="850" b="1" kern="0" spc="100" dirty="0">
                <a:solidFill>
                  <a:srgbClr val="1F7AC0"/>
                </a:solidFill>
                <a:latin typeface="Calibri" pitchFamily="34" charset="0"/>
                <a:ea typeface="Calibri" pitchFamily="34" charset="-122"/>
                <a:cs typeface="Calibri" pitchFamily="34" charset="-120"/>
              </a:rPr>
              <a:t>PART I  ·  CO1  ·  RL JUSTIFICATION</a:t>
            </a:r>
            <a:endParaRPr lang="en-US" sz="850" dirty="0"/>
          </a:p>
        </p:txBody>
      </p:sp>
      <p:sp>
        <p:nvSpPr>
          <p:cNvPr id="4" name="Text 2"/>
          <p:cNvSpPr txBox="1"/>
          <p:nvPr/>
        </p:nvSpPr>
        <p:spPr>
          <a:xfrm>
            <a:off x="457200" y="475488"/>
            <a:ext cx="8229600" cy="502920"/>
          </a:xfrm>
          <a:prstGeom prst="rect">
            <a:avLst/>
          </a:prstGeom>
          <a:noFill/>
          <a:ln/>
        </p:spPr>
        <p:txBody>
          <a:bodyPr wrap="square" lIns="0" tIns="0" rIns="0" bIns="0" rtlCol="0" anchor="ctr"/>
          <a:lstStyle/>
          <a:p>
            <a:pPr marL="0" indent="0">
              <a:buNone/>
            </a:pPr>
            <a:r>
              <a:rPr lang="en-US" sz="2600" b="1" dirty="0">
                <a:solidFill>
                  <a:srgbClr val="2B3340"/>
                </a:solidFill>
                <a:latin typeface="Cambria" pitchFamily="34" charset="0"/>
                <a:ea typeface="Cambria" pitchFamily="34" charset="-122"/>
                <a:cs typeface="Cambria" pitchFamily="34" charset="-120"/>
              </a:rPr>
              <a:t>Why Reinforcement Learning?</a:t>
            </a:r>
            <a:endParaRPr lang="en-US" sz="2600" dirty="0"/>
          </a:p>
        </p:txBody>
      </p:sp>
      <p:sp>
        <p:nvSpPr>
          <p:cNvPr id="5" name="Text 3"/>
          <p:cNvSpPr txBox="1"/>
          <p:nvPr/>
        </p:nvSpPr>
        <p:spPr>
          <a:xfrm>
            <a:off x="457200" y="4846320"/>
            <a:ext cx="4572000" cy="201168"/>
          </a:xfrm>
          <a:prstGeom prst="rect">
            <a:avLst/>
          </a:prstGeom>
          <a:noFill/>
          <a:ln/>
        </p:spPr>
        <p:txBody>
          <a:bodyPr wrap="square" lIns="0" tIns="0" rIns="0" bIns="0" rtlCol="0" anchor="ctr"/>
          <a:lstStyle/>
          <a:p>
            <a:pPr marL="0" indent="0">
              <a:buNone/>
            </a:pPr>
            <a:r>
              <a:rPr lang="en-US" sz="850" dirty="0">
                <a:solidFill>
                  <a:srgbClr val="667085"/>
                </a:solidFill>
                <a:latin typeface="Calibri" pitchFamily="34" charset="0"/>
                <a:ea typeface="Calibri" pitchFamily="34" charset="-122"/>
                <a:cs typeface="Calibri" pitchFamily="34" charset="-120"/>
              </a:rPr>
              <a:t>RL Mini-Project  ·  Biped walking</a:t>
            </a:r>
            <a:endParaRPr lang="en-US" sz="850" dirty="0"/>
          </a:p>
        </p:txBody>
      </p:sp>
      <p:sp>
        <p:nvSpPr>
          <p:cNvPr id="6" name="Shape 4"/>
          <p:cNvSpPr/>
          <p:nvPr/>
        </p:nvSpPr>
        <p:spPr>
          <a:xfrm>
            <a:off x="457200" y="1097280"/>
            <a:ext cx="4023360" cy="1417320"/>
          </a:xfrm>
          <a:prstGeom prst="roundRect">
            <a:avLst>
              <a:gd name="adj" fmla="val 5161"/>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640080" y="1298448"/>
            <a:ext cx="502920" cy="502920"/>
          </a:xfrm>
          <a:prstGeom prst="ellipse">
            <a:avLst/>
          </a:prstGeom>
          <a:solidFill>
            <a:srgbClr val="1F7AC0"/>
          </a:solidFill>
          <a:ln w="12700">
            <a:solidFill>
              <a:srgbClr val="1F7AC0"/>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765810" y="1424178"/>
            <a:ext cx="251460" cy="251460"/>
          </a:xfrm>
          <a:prstGeom prst="rect">
            <a:avLst/>
          </a:prstGeom>
        </p:spPr>
      </p:pic>
      <p:sp>
        <p:nvSpPr>
          <p:cNvPr id="9" name="Text 6"/>
          <p:cNvSpPr txBox="1"/>
          <p:nvPr/>
        </p:nvSpPr>
        <p:spPr>
          <a:xfrm>
            <a:off x="1325880" y="1261872"/>
            <a:ext cx="3017520" cy="274320"/>
          </a:xfrm>
          <a:prstGeom prst="rect">
            <a:avLst/>
          </a:prstGeom>
          <a:noFill/>
          <a:ln/>
        </p:spPr>
        <p:txBody>
          <a:bodyPr wrap="square" lIns="0" tIns="0" rIns="0" bIns="0" rtlCol="0" anchor="ctr"/>
          <a:lstStyle/>
          <a:p>
            <a:pPr marL="0" indent="0">
              <a:buNone/>
            </a:pPr>
            <a:r>
              <a:rPr lang="en-US" sz="1400" b="1" dirty="0">
                <a:solidFill>
                  <a:srgbClr val="2B3340"/>
                </a:solidFill>
                <a:latin typeface="Calibri" pitchFamily="34" charset="0"/>
                <a:ea typeface="Calibri" pitchFamily="34" charset="-122"/>
                <a:cs typeface="Calibri" pitchFamily="34" charset="-120"/>
              </a:rPr>
              <a:t>Interaction</a:t>
            </a:r>
            <a:endParaRPr lang="en-US" sz="1400" dirty="0"/>
          </a:p>
        </p:txBody>
      </p:sp>
      <p:sp>
        <p:nvSpPr>
          <p:cNvPr id="10" name="Text 7"/>
          <p:cNvSpPr txBox="1"/>
          <p:nvPr/>
        </p:nvSpPr>
        <p:spPr>
          <a:xfrm>
            <a:off x="1325880" y="1554480"/>
            <a:ext cx="3017520" cy="868680"/>
          </a:xfrm>
          <a:prstGeom prst="rect">
            <a:avLst/>
          </a:prstGeom>
          <a:noFill/>
          <a:ln/>
        </p:spPr>
        <p:txBody>
          <a:bodyPr wrap="square" lIns="0" tIns="0" rIns="0" bIns="0" rtlCol="0" anchor="t"/>
          <a:lstStyle/>
          <a:p>
            <a:pPr marL="0" indent="0">
              <a:buNone/>
            </a:pPr>
            <a:r>
              <a:rPr lang="en-US" sz="1200" dirty="0">
                <a:solidFill>
                  <a:srgbClr val="2B3340"/>
                </a:solidFill>
                <a:latin typeface="Calibri" pitchFamily="34" charset="0"/>
                <a:ea typeface="Calibri" pitchFamily="34" charset="-122"/>
                <a:cs typeface="Calibri" pitchFamily="34" charset="-120"/>
              </a:rPr>
              <a:t>The robot must act in the world and see what happens. There is no ready-made dataset to learn from.</a:t>
            </a:r>
            <a:endParaRPr lang="en-US" sz="1200" dirty="0"/>
          </a:p>
        </p:txBody>
      </p:sp>
      <p:sp>
        <p:nvSpPr>
          <p:cNvPr id="11" name="Shape 8"/>
          <p:cNvSpPr/>
          <p:nvPr/>
        </p:nvSpPr>
        <p:spPr>
          <a:xfrm>
            <a:off x="4663440" y="1097280"/>
            <a:ext cx="4023360" cy="1417320"/>
          </a:xfrm>
          <a:prstGeom prst="roundRect">
            <a:avLst>
              <a:gd name="adj" fmla="val 5161"/>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12" name="Shape 9"/>
          <p:cNvSpPr/>
          <p:nvPr/>
        </p:nvSpPr>
        <p:spPr>
          <a:xfrm>
            <a:off x="4846320" y="1298448"/>
            <a:ext cx="502920" cy="502920"/>
          </a:xfrm>
          <a:prstGeom prst="ellipse">
            <a:avLst/>
          </a:prstGeom>
          <a:solidFill>
            <a:srgbClr val="1F7AC0"/>
          </a:solidFill>
          <a:ln w="12700">
            <a:solidFill>
              <a:srgbClr val="1F7AC0"/>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972050" y="1424178"/>
            <a:ext cx="251460" cy="251460"/>
          </a:xfrm>
          <a:prstGeom prst="rect">
            <a:avLst/>
          </a:prstGeom>
        </p:spPr>
      </p:pic>
      <p:sp>
        <p:nvSpPr>
          <p:cNvPr id="14" name="Text 10"/>
          <p:cNvSpPr txBox="1"/>
          <p:nvPr/>
        </p:nvSpPr>
        <p:spPr>
          <a:xfrm>
            <a:off x="5532120" y="1261872"/>
            <a:ext cx="3017520" cy="274320"/>
          </a:xfrm>
          <a:prstGeom prst="rect">
            <a:avLst/>
          </a:prstGeom>
          <a:noFill/>
          <a:ln/>
        </p:spPr>
        <p:txBody>
          <a:bodyPr wrap="square" lIns="0" tIns="0" rIns="0" bIns="0" rtlCol="0" anchor="ctr"/>
          <a:lstStyle/>
          <a:p>
            <a:pPr marL="0" indent="0">
              <a:buNone/>
            </a:pPr>
            <a:r>
              <a:rPr lang="en-US" sz="1400" b="1" dirty="0">
                <a:solidFill>
                  <a:srgbClr val="2B3340"/>
                </a:solidFill>
                <a:latin typeface="Calibri" pitchFamily="34" charset="0"/>
                <a:ea typeface="Calibri" pitchFamily="34" charset="-122"/>
                <a:cs typeface="Calibri" pitchFamily="34" charset="-120"/>
              </a:rPr>
              <a:t>Sequential decisions</a:t>
            </a:r>
            <a:endParaRPr lang="en-US" sz="1400" dirty="0"/>
          </a:p>
        </p:txBody>
      </p:sp>
      <p:sp>
        <p:nvSpPr>
          <p:cNvPr id="15" name="Text 11"/>
          <p:cNvSpPr txBox="1"/>
          <p:nvPr/>
        </p:nvSpPr>
        <p:spPr>
          <a:xfrm>
            <a:off x="5532120" y="1554480"/>
            <a:ext cx="3017520" cy="868680"/>
          </a:xfrm>
          <a:prstGeom prst="rect">
            <a:avLst/>
          </a:prstGeom>
          <a:noFill/>
          <a:ln/>
        </p:spPr>
        <p:txBody>
          <a:bodyPr wrap="square" lIns="0" tIns="0" rIns="0" bIns="0" rtlCol="0" anchor="t"/>
          <a:lstStyle/>
          <a:p>
            <a:pPr marL="0" indent="0">
              <a:buNone/>
            </a:pPr>
            <a:r>
              <a:rPr lang="en-US" sz="1200" dirty="0">
                <a:solidFill>
                  <a:srgbClr val="2B3340"/>
                </a:solidFill>
                <a:latin typeface="Calibri" pitchFamily="34" charset="0"/>
                <a:ea typeface="Calibri" pitchFamily="34" charset="-122"/>
                <a:cs typeface="Calibri" pitchFamily="34" charset="-120"/>
              </a:rPr>
              <a:t>A wrong step now can make the robot fall a few steps later, so every decision affects the future.</a:t>
            </a:r>
            <a:endParaRPr lang="en-US" sz="1200" dirty="0"/>
          </a:p>
        </p:txBody>
      </p:sp>
      <p:sp>
        <p:nvSpPr>
          <p:cNvPr id="16" name="Shape 12"/>
          <p:cNvSpPr/>
          <p:nvPr/>
        </p:nvSpPr>
        <p:spPr>
          <a:xfrm>
            <a:off x="457200" y="2651760"/>
            <a:ext cx="4023360" cy="1417320"/>
          </a:xfrm>
          <a:prstGeom prst="roundRect">
            <a:avLst>
              <a:gd name="adj" fmla="val 5161"/>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3"/>
          <p:cNvSpPr/>
          <p:nvPr/>
        </p:nvSpPr>
        <p:spPr>
          <a:xfrm>
            <a:off x="640080" y="2852928"/>
            <a:ext cx="502920" cy="502920"/>
          </a:xfrm>
          <a:prstGeom prst="ellipse">
            <a:avLst/>
          </a:prstGeom>
          <a:solidFill>
            <a:srgbClr val="1F7AC0"/>
          </a:solidFill>
          <a:ln w="12700">
            <a:solidFill>
              <a:srgbClr val="1F7AC0"/>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765810" y="2978658"/>
            <a:ext cx="251460" cy="251460"/>
          </a:xfrm>
          <a:prstGeom prst="rect">
            <a:avLst/>
          </a:prstGeom>
        </p:spPr>
      </p:pic>
      <p:sp>
        <p:nvSpPr>
          <p:cNvPr id="19" name="Text 14"/>
          <p:cNvSpPr txBox="1"/>
          <p:nvPr/>
        </p:nvSpPr>
        <p:spPr>
          <a:xfrm>
            <a:off x="1325880" y="2816352"/>
            <a:ext cx="3017520" cy="274320"/>
          </a:xfrm>
          <a:prstGeom prst="rect">
            <a:avLst/>
          </a:prstGeom>
          <a:noFill/>
          <a:ln/>
        </p:spPr>
        <p:txBody>
          <a:bodyPr wrap="square" lIns="0" tIns="0" rIns="0" bIns="0" rtlCol="0" anchor="ctr"/>
          <a:lstStyle/>
          <a:p>
            <a:pPr marL="0" indent="0">
              <a:buNone/>
            </a:pPr>
            <a:r>
              <a:rPr lang="en-US" sz="1400" b="1" dirty="0">
                <a:solidFill>
                  <a:srgbClr val="2B3340"/>
                </a:solidFill>
                <a:latin typeface="Calibri" pitchFamily="34" charset="0"/>
                <a:ea typeface="Calibri" pitchFamily="34" charset="-122"/>
                <a:cs typeface="Calibri" pitchFamily="34" charset="-120"/>
              </a:rPr>
              <a:t>Actions have consequences</a:t>
            </a:r>
            <a:endParaRPr lang="en-US" sz="1400" dirty="0"/>
          </a:p>
        </p:txBody>
      </p:sp>
      <p:sp>
        <p:nvSpPr>
          <p:cNvPr id="20" name="Text 15"/>
          <p:cNvSpPr txBox="1"/>
          <p:nvPr/>
        </p:nvSpPr>
        <p:spPr>
          <a:xfrm>
            <a:off x="1325880" y="3108960"/>
            <a:ext cx="3017520" cy="868680"/>
          </a:xfrm>
          <a:prstGeom prst="rect">
            <a:avLst/>
          </a:prstGeom>
          <a:noFill/>
          <a:ln/>
        </p:spPr>
        <p:txBody>
          <a:bodyPr wrap="square" lIns="0" tIns="0" rIns="0" bIns="0" rtlCol="0" anchor="t"/>
          <a:lstStyle/>
          <a:p>
            <a:pPr marL="0" indent="0">
              <a:buNone/>
            </a:pPr>
            <a:r>
              <a:rPr lang="en-US" sz="1200" dirty="0">
                <a:solidFill>
                  <a:srgbClr val="2B3340"/>
                </a:solidFill>
                <a:latin typeface="Calibri" pitchFamily="34" charset="0"/>
                <a:ea typeface="Calibri" pitchFamily="34" charset="-122"/>
                <a:cs typeface="Calibri" pitchFamily="34" charset="-120"/>
              </a:rPr>
              <a:t>12 joints at every step means an enormous number of possible movements. Each choice changes the next situation.</a:t>
            </a:r>
            <a:endParaRPr lang="en-US" sz="1200" dirty="0"/>
          </a:p>
        </p:txBody>
      </p:sp>
      <p:sp>
        <p:nvSpPr>
          <p:cNvPr id="21" name="Shape 16"/>
          <p:cNvSpPr/>
          <p:nvPr/>
        </p:nvSpPr>
        <p:spPr>
          <a:xfrm>
            <a:off x="4663440" y="2651760"/>
            <a:ext cx="4023360" cy="1417320"/>
          </a:xfrm>
          <a:prstGeom prst="roundRect">
            <a:avLst>
              <a:gd name="adj" fmla="val 5161"/>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22" name="Shape 17"/>
          <p:cNvSpPr/>
          <p:nvPr/>
        </p:nvSpPr>
        <p:spPr>
          <a:xfrm>
            <a:off x="4846320" y="2852928"/>
            <a:ext cx="502920" cy="502920"/>
          </a:xfrm>
          <a:prstGeom prst="ellipse">
            <a:avLst/>
          </a:prstGeom>
          <a:solidFill>
            <a:srgbClr val="1F7AC0"/>
          </a:solidFill>
          <a:ln w="12700">
            <a:solidFill>
              <a:srgbClr val="1F7AC0"/>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4972050" y="2978658"/>
            <a:ext cx="251460" cy="251460"/>
          </a:xfrm>
          <a:prstGeom prst="rect">
            <a:avLst/>
          </a:prstGeom>
        </p:spPr>
      </p:pic>
      <p:sp>
        <p:nvSpPr>
          <p:cNvPr id="24" name="Text 18"/>
          <p:cNvSpPr txBox="1"/>
          <p:nvPr/>
        </p:nvSpPr>
        <p:spPr>
          <a:xfrm>
            <a:off x="5532120" y="2816352"/>
            <a:ext cx="3017520" cy="274320"/>
          </a:xfrm>
          <a:prstGeom prst="rect">
            <a:avLst/>
          </a:prstGeom>
          <a:noFill/>
          <a:ln/>
        </p:spPr>
        <p:txBody>
          <a:bodyPr wrap="square" lIns="0" tIns="0" rIns="0" bIns="0" rtlCol="0" anchor="ctr"/>
          <a:lstStyle/>
          <a:p>
            <a:pPr marL="0" indent="0">
              <a:buNone/>
            </a:pPr>
            <a:r>
              <a:rPr lang="en-US" sz="1400" b="1" dirty="0">
                <a:solidFill>
                  <a:srgbClr val="2B3340"/>
                </a:solidFill>
                <a:latin typeface="Calibri" pitchFamily="34" charset="0"/>
                <a:ea typeface="Calibri" pitchFamily="34" charset="-122"/>
                <a:cs typeface="Calibri" pitchFamily="34" charset="-120"/>
              </a:rPr>
              <a:t>Feedback is a reward</a:t>
            </a:r>
            <a:endParaRPr lang="en-US" sz="1400" dirty="0"/>
          </a:p>
        </p:txBody>
      </p:sp>
      <p:sp>
        <p:nvSpPr>
          <p:cNvPr id="25" name="Text 19"/>
          <p:cNvSpPr txBox="1"/>
          <p:nvPr/>
        </p:nvSpPr>
        <p:spPr>
          <a:xfrm>
            <a:off x="5532120" y="3108960"/>
            <a:ext cx="3017520" cy="868680"/>
          </a:xfrm>
          <a:prstGeom prst="rect">
            <a:avLst/>
          </a:prstGeom>
          <a:noFill/>
          <a:ln/>
        </p:spPr>
        <p:txBody>
          <a:bodyPr wrap="square" lIns="0" tIns="0" rIns="0" bIns="0" rtlCol="0" anchor="t"/>
          <a:lstStyle/>
          <a:p>
            <a:pPr marL="0" indent="0">
              <a:buNone/>
            </a:pPr>
            <a:r>
              <a:rPr lang="en-US" sz="1200" dirty="0">
                <a:solidFill>
                  <a:srgbClr val="2B3340"/>
                </a:solidFill>
                <a:latin typeface="Calibri" pitchFamily="34" charset="0"/>
                <a:ea typeface="Calibri" pitchFamily="34" charset="-122"/>
                <a:cs typeface="Calibri" pitchFamily="34" charset="-120"/>
              </a:rPr>
              <a:t>Nobody can label the "correct" torque for each joint. We only score the result: did it follow the speed and stay upright?</a:t>
            </a:r>
            <a:endParaRPr lang="en-US" sz="1200" dirty="0"/>
          </a:p>
        </p:txBody>
      </p:sp>
      <p:sp>
        <p:nvSpPr>
          <p:cNvPr id="26" name="Shape 20"/>
          <p:cNvSpPr/>
          <p:nvPr/>
        </p:nvSpPr>
        <p:spPr>
          <a:xfrm>
            <a:off x="457200" y="4279392"/>
            <a:ext cx="8229600" cy="457200"/>
          </a:xfrm>
          <a:prstGeom prst="roundRect">
            <a:avLst>
              <a:gd name="adj" fmla="val 16000"/>
            </a:avLst>
          </a:prstGeom>
          <a:solidFill>
            <a:srgbClr val="FFF1E0"/>
          </a:solidFill>
          <a:ln w="12700">
            <a:solidFill>
              <a:srgbClr val="FFF1E0"/>
            </a:solidFill>
            <a:prstDash val="solid"/>
          </a:ln>
        </p:spPr>
        <p:txBody>
          <a:bodyPr/>
          <a:lstStyle/>
          <a:p>
            <a:endParaRPr lang="en-US"/>
          </a:p>
        </p:txBody>
      </p:sp>
      <p:pic>
        <p:nvPicPr>
          <p:cNvPr id="27" name="Image 4" descr="preencoded.png"/>
          <p:cNvPicPr>
            <a:picLocks noChangeAspect="1"/>
          </p:cNvPicPr>
          <p:nvPr/>
        </p:nvPicPr>
        <p:blipFill>
          <a:blip r:embed="rId7"/>
          <a:stretch>
            <a:fillRect/>
          </a:stretch>
        </p:blipFill>
        <p:spPr>
          <a:xfrm>
            <a:off x="585216" y="4389120"/>
            <a:ext cx="237744" cy="237744"/>
          </a:xfrm>
          <a:prstGeom prst="rect">
            <a:avLst/>
          </a:prstGeom>
        </p:spPr>
      </p:pic>
      <p:sp>
        <p:nvSpPr>
          <p:cNvPr id="28" name="Text 21"/>
          <p:cNvSpPr txBox="1"/>
          <p:nvPr/>
        </p:nvSpPr>
        <p:spPr>
          <a:xfrm>
            <a:off x="932688" y="4279392"/>
            <a:ext cx="7635240" cy="457200"/>
          </a:xfrm>
          <a:prstGeom prst="rect">
            <a:avLst/>
          </a:prstGeom>
          <a:noFill/>
          <a:ln/>
        </p:spPr>
        <p:txBody>
          <a:bodyPr wrap="square" lIns="0" tIns="0" rIns="0" bIns="0" rtlCol="0" anchor="ctr"/>
          <a:lstStyle/>
          <a:p>
            <a:pPr marL="0" indent="0">
              <a:buNone/>
            </a:pPr>
            <a:r>
              <a:rPr lang="en-US" sz="1150" b="1" dirty="0">
                <a:solidFill>
                  <a:srgbClr val="F28C28"/>
                </a:solidFill>
                <a:latin typeface="Calibri" pitchFamily="34" charset="0"/>
                <a:ea typeface="Calibri" pitchFamily="34" charset="-122"/>
                <a:cs typeface="Calibri" pitchFamily="34" charset="-120"/>
              </a:rPr>
              <a:t>In plain words:  </a:t>
            </a:r>
            <a:r>
              <a:rPr lang="en-US" sz="1150" dirty="0">
                <a:solidFill>
                  <a:srgbClr val="2B3340"/>
                </a:solidFill>
                <a:latin typeface="Calibri" pitchFamily="34" charset="0"/>
                <a:ea typeface="Calibri" pitchFamily="34" charset="-122"/>
                <a:cs typeface="Calibri" pitchFamily="34" charset="-120"/>
              </a:rPr>
              <a:t>It is like learning to ride a bicycle. Nobody gives you the exact muscle force for each moment. You try, wobble, get feedback and improve.</a:t>
            </a:r>
            <a:endParaRPr lang="en-US" sz="1150" dirty="0"/>
          </a:p>
        </p:txBody>
      </p:sp>
      <p:sp>
        <p:nvSpPr>
          <p:cNvPr id="29"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50">
                <a:solidFill>
                  <a:srgbClr val="667085"/>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457200" y="219456"/>
            <a:ext cx="2263140" cy="219456"/>
          </a:xfrm>
          <a:prstGeom prst="roundRect">
            <a:avLst>
              <a:gd name="adj" fmla="val 20833"/>
            </a:avLst>
          </a:prstGeom>
          <a:solidFill>
            <a:srgbClr val="E6F1FA"/>
          </a:solidFill>
          <a:ln w="12700">
            <a:solidFill>
              <a:srgbClr val="E6F1FA"/>
            </a:solidFill>
            <a:prstDash val="solid"/>
          </a:ln>
        </p:spPr>
        <p:txBody>
          <a:bodyPr/>
          <a:lstStyle/>
          <a:p>
            <a:endParaRPr lang="en-US"/>
          </a:p>
        </p:txBody>
      </p:sp>
      <p:sp>
        <p:nvSpPr>
          <p:cNvPr id="3" name="Text 1"/>
          <p:cNvSpPr txBox="1"/>
          <p:nvPr/>
        </p:nvSpPr>
        <p:spPr>
          <a:xfrm>
            <a:off x="457200" y="219456"/>
            <a:ext cx="2263140" cy="219456"/>
          </a:xfrm>
          <a:prstGeom prst="rect">
            <a:avLst/>
          </a:prstGeom>
          <a:noFill/>
          <a:ln/>
        </p:spPr>
        <p:txBody>
          <a:bodyPr wrap="square" lIns="0" tIns="0" rIns="0" bIns="0" rtlCol="0" anchor="ctr"/>
          <a:lstStyle/>
          <a:p>
            <a:pPr marL="0" indent="0" algn="ctr">
              <a:buNone/>
            </a:pPr>
            <a:r>
              <a:rPr lang="en-US" sz="850" b="1" kern="0" spc="100" dirty="0">
                <a:solidFill>
                  <a:srgbClr val="1F7AC0"/>
                </a:solidFill>
                <a:latin typeface="Calibri" pitchFamily="34" charset="0"/>
                <a:ea typeface="Calibri" pitchFamily="34" charset="-122"/>
                <a:cs typeface="Calibri" pitchFamily="34" charset="-120"/>
              </a:rPr>
              <a:t>PART I  ·  CO1  ·  COMPARISON</a:t>
            </a:r>
            <a:endParaRPr lang="en-US" sz="850" dirty="0"/>
          </a:p>
        </p:txBody>
      </p:sp>
      <p:sp>
        <p:nvSpPr>
          <p:cNvPr id="4" name="Text 2"/>
          <p:cNvSpPr txBox="1"/>
          <p:nvPr/>
        </p:nvSpPr>
        <p:spPr>
          <a:xfrm>
            <a:off x="457200" y="475488"/>
            <a:ext cx="8229600" cy="502920"/>
          </a:xfrm>
          <a:prstGeom prst="rect">
            <a:avLst/>
          </a:prstGeom>
          <a:noFill/>
          <a:ln/>
        </p:spPr>
        <p:txBody>
          <a:bodyPr wrap="square" lIns="0" tIns="0" rIns="0" bIns="0" rtlCol="0" anchor="ctr"/>
          <a:lstStyle/>
          <a:p>
            <a:pPr marL="0" indent="0">
              <a:buNone/>
            </a:pPr>
            <a:r>
              <a:rPr lang="en-US" sz="2600" b="1" dirty="0">
                <a:solidFill>
                  <a:srgbClr val="2B3340"/>
                </a:solidFill>
                <a:latin typeface="Cambria" pitchFamily="34" charset="0"/>
                <a:ea typeface="Cambria" pitchFamily="34" charset="-122"/>
                <a:cs typeface="Cambria" pitchFamily="34" charset="-120"/>
              </a:rPr>
              <a:t>RL vs Other Machine Learning</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2148840"/>
        </p:xfrm>
        <a:graphic>
          <a:graphicData uri="http://schemas.openxmlformats.org/drawingml/2006/table">
            <a:tbl>
              <a:tblPr/>
              <a:tblGrid>
                <a:gridCol w="14173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423160">
                  <a:extLst>
                    <a:ext uri="{9D8B030D-6E8A-4147-A177-3AD203B41FA5}">
                      <a16:colId xmlns:a16="http://schemas.microsoft.com/office/drawing/2014/main" val="20003"/>
                    </a:ext>
                  </a:extLst>
                </a:gridCol>
              </a:tblGrid>
              <a:tr h="292608">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Aspect</a:t>
                      </a:r>
                      <a:endParaRPr lang="en-US" sz="11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1F7AC0"/>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Supervised / conventional ML</a:t>
                      </a:r>
                      <a:endParaRPr lang="en-US" sz="11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1F7AC0"/>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Reinforcement learning</a:t>
                      </a:r>
                      <a:endParaRPr lang="en-US" sz="11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1F7AC0"/>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In our project</a:t>
                      </a:r>
                      <a:endParaRPr lang="en-US" sz="11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28C28"/>
                    </a:solidFill>
                  </a:tcPr>
                </a:tc>
                <a:extLst>
                  <a:ext uri="{0D108BD9-81ED-4DB2-BD59-A6C34878D82A}">
                    <a16:rowId xmlns:a16="http://schemas.microsoft.com/office/drawing/2014/main" val="10000"/>
                  </a:ext>
                </a:extLst>
              </a:tr>
              <a:tr h="365760">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Learning signal</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Label or target value</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Reward / return</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E6F1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Reward for following the speed command and staying upright</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1E0"/>
                    </a:solidFill>
                  </a:tcPr>
                </a:tc>
                <a:extLst>
                  <a:ext uri="{0D108BD9-81ED-4DB2-BD59-A6C34878D82A}">
                    <a16:rowId xmlns:a16="http://schemas.microsoft.com/office/drawing/2014/main" val="10001"/>
                  </a:ext>
                </a:extLst>
              </a:tr>
              <a:tr h="365760">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Interaction</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Normally no action–environment loop</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Agent interacts with environment</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E6F1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Robot acts in the simulator and sees the result</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1E0"/>
                    </a:solidFill>
                  </a:tcPr>
                </a:tc>
                <a:extLst>
                  <a:ext uri="{0D108BD9-81ED-4DB2-BD59-A6C34878D82A}">
                    <a16:rowId xmlns:a16="http://schemas.microsoft.com/office/drawing/2014/main" val="10002"/>
                  </a:ext>
                </a:extLst>
              </a:tr>
              <a:tr h="365760">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Decision</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Prediction</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Action selection</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E6F1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Picks 12 joint targets at each step</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1E0"/>
                    </a:solidFill>
                  </a:tcPr>
                </a:tc>
                <a:extLst>
                  <a:ext uri="{0D108BD9-81ED-4DB2-BD59-A6C34878D82A}">
                    <a16:rowId xmlns:a16="http://schemas.microsoft.com/office/drawing/2014/main" val="10003"/>
                  </a:ext>
                </a:extLst>
              </a:tr>
              <a:tr h="365760">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Temporal structure</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Often independent samples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Sequential decisions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E6F1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Each step affects balance in the next one</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1E0"/>
                    </a:solidFill>
                  </a:tcPr>
                </a:tc>
                <a:extLst>
                  <a:ext uri="{0D108BD9-81ED-4DB2-BD59-A6C34878D82A}">
                    <a16:rowId xmlns:a16="http://schemas.microsoft.com/office/drawing/2014/main" val="10004"/>
                  </a:ext>
                </a:extLst>
              </a:tr>
              <a:tr h="365760">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Objective</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Prediction loss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Expected cumulative return</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E6F1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Maximise total reward until the episode ends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1E0"/>
                    </a:solidFill>
                  </a:tcPr>
                </a:tc>
                <a:extLst>
                  <a:ext uri="{0D108BD9-81ED-4DB2-BD59-A6C34878D82A}">
                    <a16:rowId xmlns:a16="http://schemas.microsoft.com/office/drawing/2014/main" val="10005"/>
                  </a:ext>
                </a:extLst>
              </a:tr>
            </a:tbl>
          </a:graphicData>
        </a:graphic>
      </p:graphicFrame>
      <p:sp>
        <p:nvSpPr>
          <p:cNvPr id="7" name="Shape 4"/>
          <p:cNvSpPr/>
          <p:nvPr/>
        </p:nvSpPr>
        <p:spPr>
          <a:xfrm>
            <a:off x="457200" y="3611880"/>
            <a:ext cx="8229600" cy="594360"/>
          </a:xfrm>
          <a:prstGeom prst="roundRect">
            <a:avLst>
              <a:gd name="adj" fmla="val 12308"/>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8" name="Text 5"/>
          <p:cNvSpPr txBox="1"/>
          <p:nvPr/>
        </p:nvSpPr>
        <p:spPr>
          <a:xfrm>
            <a:off x="640080" y="3611880"/>
            <a:ext cx="7863840" cy="594360"/>
          </a:xfrm>
          <a:prstGeom prst="rect">
            <a:avLst/>
          </a:prstGeom>
          <a:noFill/>
          <a:ln/>
        </p:spPr>
        <p:txBody>
          <a:bodyPr wrap="square" lIns="0" tIns="0" rIns="0" bIns="0" rtlCol="0" anchor="ctr"/>
          <a:lstStyle/>
          <a:p>
            <a:pPr marL="0" indent="0">
              <a:buNone/>
            </a:pPr>
            <a:r>
              <a:rPr lang="en-US" sz="1100" b="1" dirty="0">
                <a:solidFill>
                  <a:srgbClr val="1F7AC0"/>
                </a:solidFill>
                <a:latin typeface="Calibri" pitchFamily="34" charset="0"/>
                <a:ea typeface="Calibri" pitchFamily="34" charset="-122"/>
                <a:cs typeface="Calibri" pitchFamily="34" charset="-120"/>
              </a:rPr>
              <a:t>Versus a fixed rule-based controller:  </a:t>
            </a:r>
            <a:r>
              <a:rPr lang="en-US" sz="1100" dirty="0">
                <a:solidFill>
                  <a:srgbClr val="2B3340"/>
                </a:solidFill>
                <a:latin typeface="Calibri" pitchFamily="34" charset="0"/>
                <a:ea typeface="Calibri" pitchFamily="34" charset="-122"/>
                <a:cs typeface="Calibri" pitchFamily="34" charset="-120"/>
              </a:rPr>
              <a:t>a hand-coded walking routine must be re-tuned for every speed, floor and push. RL learns one policy that adapts. We train with random pushes (every 1–3 s), random friction and random start poses.</a:t>
            </a:r>
            <a:endParaRPr lang="en-US" sz="1100" dirty="0"/>
          </a:p>
        </p:txBody>
      </p:sp>
      <p:sp>
        <p:nvSpPr>
          <p:cNvPr id="9" name="Shape 6"/>
          <p:cNvSpPr/>
          <p:nvPr/>
        </p:nvSpPr>
        <p:spPr>
          <a:xfrm>
            <a:off x="457200" y="4279392"/>
            <a:ext cx="8229600" cy="457200"/>
          </a:xfrm>
          <a:prstGeom prst="roundRect">
            <a:avLst>
              <a:gd name="adj" fmla="val 16000"/>
            </a:avLst>
          </a:prstGeom>
          <a:solidFill>
            <a:srgbClr val="FFF1E0"/>
          </a:solidFill>
          <a:ln w="12700">
            <a:solidFill>
              <a:srgbClr val="FFF1E0"/>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585216" y="4389120"/>
            <a:ext cx="237744" cy="237744"/>
          </a:xfrm>
          <a:prstGeom prst="rect">
            <a:avLst/>
          </a:prstGeom>
        </p:spPr>
      </p:pic>
      <p:sp>
        <p:nvSpPr>
          <p:cNvPr id="11" name="Text 7"/>
          <p:cNvSpPr txBox="1"/>
          <p:nvPr/>
        </p:nvSpPr>
        <p:spPr>
          <a:xfrm>
            <a:off x="932688" y="4279392"/>
            <a:ext cx="7635240" cy="457200"/>
          </a:xfrm>
          <a:prstGeom prst="rect">
            <a:avLst/>
          </a:prstGeom>
          <a:noFill/>
          <a:ln/>
        </p:spPr>
        <p:txBody>
          <a:bodyPr wrap="square" lIns="0" tIns="0" rIns="0" bIns="0" rtlCol="0" anchor="ctr"/>
          <a:lstStyle/>
          <a:p>
            <a:pPr marL="0" indent="0">
              <a:buNone/>
            </a:pPr>
            <a:r>
              <a:rPr lang="en-US" sz="1150" b="1" dirty="0">
                <a:solidFill>
                  <a:srgbClr val="F28C28"/>
                </a:solidFill>
                <a:latin typeface="Calibri" pitchFamily="34" charset="0"/>
                <a:ea typeface="Calibri" pitchFamily="34" charset="-122"/>
                <a:cs typeface="Calibri" pitchFamily="34" charset="-120"/>
              </a:rPr>
              <a:t>In plain words:  </a:t>
            </a:r>
            <a:r>
              <a:rPr lang="en-US" sz="1150" dirty="0">
                <a:solidFill>
                  <a:srgbClr val="2B3340"/>
                </a:solidFill>
                <a:latin typeface="Calibri" pitchFamily="34" charset="0"/>
                <a:ea typeface="Calibri" pitchFamily="34" charset="-122"/>
                <a:cs typeface="Calibri" pitchFamily="34" charset="-120"/>
              </a:rPr>
              <a:t>Supervised learning answers "what is this?". Reinforcement learning answers "what should I do next, so things turn out well later?".</a:t>
            </a:r>
            <a:endParaRPr lang="en-US" sz="115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50">
                <a:solidFill>
                  <a:srgbClr val="667085"/>
                </a:solidFill>
                <a:latin typeface="Calibri"/>
                <a:ea typeface="Calibri"/>
                <a:cs typeface="Calibri"/>
              </a:defRPr>
            </a:lvl1pPr>
          </a:lstStyle>
          <a:p>
            <a:pPr algn="r"/>
            <a:fld id="{F7021451-1387-4CA6-816F-3879F97B5CBC}" type="slidenum">
              <a:rPr lang="en-US" b="0"/>
              <a:t>4</a:t>
            </a:fld>
            <a:endParaRPr lang="en-US"/>
          </a:p>
        </p:txBody>
      </p:sp>
      <p:sp>
        <p:nvSpPr>
          <p:cNvPr id="13" name="Text 3">
            <a:extLst>
              <a:ext uri="{FF2B5EF4-FFF2-40B4-BE49-F238E27FC236}">
                <a16:creationId xmlns:a16="http://schemas.microsoft.com/office/drawing/2014/main" id="{590362DC-2918-4ABB-5F82-6C2276E0C999}"/>
              </a:ext>
            </a:extLst>
          </p:cNvPr>
          <p:cNvSpPr txBox="1"/>
          <p:nvPr/>
        </p:nvSpPr>
        <p:spPr>
          <a:xfrm>
            <a:off x="457200" y="4846320"/>
            <a:ext cx="4572000" cy="201168"/>
          </a:xfrm>
          <a:prstGeom prst="rect">
            <a:avLst/>
          </a:prstGeom>
          <a:noFill/>
          <a:ln/>
        </p:spPr>
        <p:txBody>
          <a:bodyPr wrap="square" lIns="0" tIns="0" rIns="0" bIns="0" rtlCol="0" anchor="ctr"/>
          <a:lstStyle/>
          <a:p>
            <a:pPr marL="0" indent="0">
              <a:buNone/>
            </a:pPr>
            <a:r>
              <a:rPr lang="en-US" sz="850" dirty="0">
                <a:solidFill>
                  <a:srgbClr val="667085"/>
                </a:solidFill>
                <a:latin typeface="Calibri" pitchFamily="34" charset="0"/>
                <a:ea typeface="Calibri" pitchFamily="34" charset="-122"/>
                <a:cs typeface="Calibri" pitchFamily="34" charset="-120"/>
              </a:rPr>
              <a:t>RL Mini-Project  ·  Biped walking</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457200" y="219456"/>
            <a:ext cx="3086100" cy="219456"/>
          </a:xfrm>
          <a:prstGeom prst="roundRect">
            <a:avLst>
              <a:gd name="adj" fmla="val 20833"/>
            </a:avLst>
          </a:prstGeom>
          <a:solidFill>
            <a:srgbClr val="E6F1FA"/>
          </a:solidFill>
          <a:ln w="12700">
            <a:solidFill>
              <a:srgbClr val="E6F1FA"/>
            </a:solidFill>
            <a:prstDash val="solid"/>
          </a:ln>
        </p:spPr>
        <p:txBody>
          <a:bodyPr/>
          <a:lstStyle/>
          <a:p>
            <a:endParaRPr lang="en-US"/>
          </a:p>
        </p:txBody>
      </p:sp>
      <p:sp>
        <p:nvSpPr>
          <p:cNvPr id="3" name="Text 1"/>
          <p:cNvSpPr txBox="1"/>
          <p:nvPr/>
        </p:nvSpPr>
        <p:spPr>
          <a:xfrm>
            <a:off x="457200" y="219456"/>
            <a:ext cx="3086100" cy="219456"/>
          </a:xfrm>
          <a:prstGeom prst="rect">
            <a:avLst/>
          </a:prstGeom>
          <a:noFill/>
          <a:ln/>
        </p:spPr>
        <p:txBody>
          <a:bodyPr wrap="square" lIns="0" tIns="0" rIns="0" bIns="0" rtlCol="0" anchor="ctr"/>
          <a:lstStyle/>
          <a:p>
            <a:pPr marL="0" indent="0" algn="ctr">
              <a:buNone/>
            </a:pPr>
            <a:r>
              <a:rPr lang="en-US" sz="850" b="1" kern="0" spc="100" dirty="0">
                <a:solidFill>
                  <a:srgbClr val="1F7AC0"/>
                </a:solidFill>
                <a:latin typeface="Calibri" pitchFamily="34" charset="0"/>
                <a:ea typeface="Calibri" pitchFamily="34" charset="-122"/>
                <a:cs typeface="Calibri" pitchFamily="34" charset="-120"/>
              </a:rPr>
              <a:t>PART I  ·  CO1 / CO2  ·  INTERACTION LOOP</a:t>
            </a:r>
            <a:endParaRPr lang="en-US" sz="850" dirty="0"/>
          </a:p>
        </p:txBody>
      </p:sp>
      <p:sp>
        <p:nvSpPr>
          <p:cNvPr id="4" name="Text 2"/>
          <p:cNvSpPr txBox="1"/>
          <p:nvPr/>
        </p:nvSpPr>
        <p:spPr>
          <a:xfrm>
            <a:off x="457200" y="475488"/>
            <a:ext cx="8229600" cy="502920"/>
          </a:xfrm>
          <a:prstGeom prst="rect">
            <a:avLst/>
          </a:prstGeom>
          <a:noFill/>
          <a:ln/>
        </p:spPr>
        <p:txBody>
          <a:bodyPr wrap="square" lIns="0" tIns="0" rIns="0" bIns="0" rtlCol="0" anchor="ctr"/>
          <a:lstStyle/>
          <a:p>
            <a:pPr marL="0" indent="0">
              <a:buNone/>
            </a:pPr>
            <a:r>
              <a:rPr lang="en-US" sz="2600" b="1" dirty="0">
                <a:solidFill>
                  <a:srgbClr val="2B3340"/>
                </a:solidFill>
                <a:latin typeface="Cambria" pitchFamily="34" charset="0"/>
                <a:ea typeface="Cambria" pitchFamily="34" charset="-122"/>
                <a:cs typeface="Cambria" pitchFamily="34" charset="-120"/>
              </a:rPr>
              <a:t>Agent–Environment Model</a:t>
            </a:r>
            <a:endParaRPr lang="en-US" sz="2600" dirty="0"/>
          </a:p>
        </p:txBody>
      </p:sp>
      <p:sp>
        <p:nvSpPr>
          <p:cNvPr id="6" name="Shape 4"/>
          <p:cNvSpPr/>
          <p:nvPr/>
        </p:nvSpPr>
        <p:spPr>
          <a:xfrm>
            <a:off x="457200" y="1143000"/>
            <a:ext cx="2743200" cy="1691640"/>
          </a:xfrm>
          <a:prstGeom prst="roundRect">
            <a:avLst>
              <a:gd name="adj" fmla="val 4324"/>
            </a:avLst>
          </a:prstGeom>
          <a:solidFill>
            <a:srgbClr val="1F7AC0"/>
          </a:solidFill>
          <a:ln w="12700">
            <a:solidFill>
              <a:srgbClr val="1F7AC0"/>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5"/>
          <p:cNvSpPr txBox="1"/>
          <p:nvPr/>
        </p:nvSpPr>
        <p:spPr>
          <a:xfrm>
            <a:off x="457200" y="1234440"/>
            <a:ext cx="2743200" cy="228600"/>
          </a:xfrm>
          <a:prstGeom prst="rect">
            <a:avLst/>
          </a:prstGeom>
          <a:noFill/>
          <a:ln/>
        </p:spPr>
        <p:txBody>
          <a:bodyPr wrap="square" lIns="0" tIns="0" rIns="0" bIns="0" rtlCol="0" anchor="ctr"/>
          <a:lstStyle/>
          <a:p>
            <a:pPr marL="0" indent="0" algn="ctr">
              <a:buNone/>
            </a:pPr>
            <a:r>
              <a:rPr lang="en-US" sz="1000" b="1" kern="0" spc="200" dirty="0">
                <a:solidFill>
                  <a:srgbClr val="CFE4F6"/>
                </a:solidFill>
                <a:latin typeface="Calibri" pitchFamily="34" charset="0"/>
                <a:ea typeface="Calibri" pitchFamily="34" charset="-122"/>
                <a:cs typeface="Calibri" pitchFamily="34" charset="-120"/>
              </a:rPr>
              <a:t>AGENT</a:t>
            </a:r>
            <a:endParaRPr lang="en-US" sz="1000" dirty="0"/>
          </a:p>
        </p:txBody>
      </p:sp>
      <p:pic>
        <p:nvPicPr>
          <p:cNvPr id="8" name="Image 0" descr="preencoded.png"/>
          <p:cNvPicPr>
            <a:picLocks noChangeAspect="1"/>
          </p:cNvPicPr>
          <p:nvPr/>
        </p:nvPicPr>
        <p:blipFill>
          <a:blip r:embed="rId3"/>
          <a:stretch>
            <a:fillRect/>
          </a:stretch>
        </p:blipFill>
        <p:spPr>
          <a:xfrm>
            <a:off x="1600200" y="1536192"/>
            <a:ext cx="457200" cy="457200"/>
          </a:xfrm>
          <a:prstGeom prst="rect">
            <a:avLst/>
          </a:prstGeom>
        </p:spPr>
      </p:pic>
      <p:sp>
        <p:nvSpPr>
          <p:cNvPr id="9" name="Text 6"/>
          <p:cNvSpPr txBox="1"/>
          <p:nvPr/>
        </p:nvSpPr>
        <p:spPr>
          <a:xfrm>
            <a:off x="548640" y="2057400"/>
            <a:ext cx="2560320" cy="685800"/>
          </a:xfrm>
          <a:prstGeom prst="rect">
            <a:avLst/>
          </a:prstGeom>
          <a:noFill/>
          <a:ln/>
        </p:spPr>
        <p:txBody>
          <a:bodyPr wrap="square" lIns="0" tIns="0" rIns="0" bIns="0"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PPO neural network</a:t>
            </a:r>
            <a:endParaRPr lang="en-US" sz="1250" dirty="0"/>
          </a:p>
          <a:p>
            <a:pPr marL="0" indent="0" algn="ctr">
              <a:buNone/>
            </a:pPr>
            <a:r>
              <a:rPr lang="en-US" sz="1250" dirty="0">
                <a:solidFill>
                  <a:srgbClr val="FFFFFF"/>
                </a:solidFill>
                <a:latin typeface="Calibri" pitchFamily="34" charset="0"/>
                <a:ea typeface="Calibri" pitchFamily="34" charset="-122"/>
                <a:cs typeface="Calibri" pitchFamily="34" charset="-120"/>
              </a:rPr>
              <a:t>Actor + Critic: the robot’s "brain"</a:t>
            </a:r>
            <a:endParaRPr lang="en-US" sz="1250" dirty="0"/>
          </a:p>
        </p:txBody>
      </p:sp>
      <p:sp>
        <p:nvSpPr>
          <p:cNvPr id="10" name="Shape 7"/>
          <p:cNvSpPr/>
          <p:nvPr/>
        </p:nvSpPr>
        <p:spPr>
          <a:xfrm>
            <a:off x="5943600" y="1143000"/>
            <a:ext cx="2743200" cy="1691640"/>
          </a:xfrm>
          <a:prstGeom prst="roundRect">
            <a:avLst>
              <a:gd name="adj" fmla="val 4324"/>
            </a:avLst>
          </a:prstGeom>
          <a:solidFill>
            <a:srgbClr val="2E3440"/>
          </a:solidFill>
          <a:ln w="12700">
            <a:solidFill>
              <a:srgbClr val="2E3440"/>
            </a:solidFill>
            <a:prstDash val="solid"/>
          </a:ln>
          <a:effectLst>
            <a:outerShdw blurRad="76200" dist="25400" dir="5400000" algn="bl" rotWithShape="0">
              <a:srgbClr val="000000">
                <a:alpha val="12000"/>
              </a:srgbClr>
            </a:outerShdw>
          </a:effectLst>
        </p:spPr>
        <p:txBody>
          <a:bodyPr/>
          <a:lstStyle/>
          <a:p>
            <a:endParaRPr lang="en-US"/>
          </a:p>
        </p:txBody>
      </p:sp>
      <p:sp>
        <p:nvSpPr>
          <p:cNvPr id="11" name="Text 8"/>
          <p:cNvSpPr txBox="1"/>
          <p:nvPr/>
        </p:nvSpPr>
        <p:spPr>
          <a:xfrm>
            <a:off x="5943600" y="1234440"/>
            <a:ext cx="2743200" cy="228600"/>
          </a:xfrm>
          <a:prstGeom prst="rect">
            <a:avLst/>
          </a:prstGeom>
          <a:noFill/>
          <a:ln/>
        </p:spPr>
        <p:txBody>
          <a:bodyPr wrap="square" lIns="0" tIns="0" rIns="0" bIns="0" rtlCol="0" anchor="ctr"/>
          <a:lstStyle/>
          <a:p>
            <a:pPr marL="0" indent="0" algn="ctr">
              <a:buNone/>
            </a:pPr>
            <a:r>
              <a:rPr lang="en-US" sz="1000" b="1" kern="0" spc="200" dirty="0">
                <a:solidFill>
                  <a:srgbClr val="C9D3E0"/>
                </a:solidFill>
                <a:latin typeface="Calibri" pitchFamily="34" charset="0"/>
                <a:ea typeface="Calibri" pitchFamily="34" charset="-122"/>
                <a:cs typeface="Calibri" pitchFamily="34" charset="-120"/>
              </a:rPr>
              <a:t>ENVIRONMENT</a:t>
            </a:r>
            <a:endParaRPr lang="en-US" sz="1000" dirty="0"/>
          </a:p>
        </p:txBody>
      </p:sp>
      <p:pic>
        <p:nvPicPr>
          <p:cNvPr id="12" name="Image 1" descr="preencoded.png"/>
          <p:cNvPicPr>
            <a:picLocks noChangeAspect="1"/>
          </p:cNvPicPr>
          <p:nvPr/>
        </p:nvPicPr>
        <p:blipFill>
          <a:blip r:embed="rId4"/>
          <a:stretch>
            <a:fillRect/>
          </a:stretch>
        </p:blipFill>
        <p:spPr>
          <a:xfrm>
            <a:off x="7086600" y="1536192"/>
            <a:ext cx="457200" cy="457200"/>
          </a:xfrm>
          <a:prstGeom prst="rect">
            <a:avLst/>
          </a:prstGeom>
        </p:spPr>
      </p:pic>
      <p:sp>
        <p:nvSpPr>
          <p:cNvPr id="13" name="Text 9"/>
          <p:cNvSpPr txBox="1"/>
          <p:nvPr/>
        </p:nvSpPr>
        <p:spPr>
          <a:xfrm>
            <a:off x="6035040" y="2057400"/>
            <a:ext cx="2560320" cy="685800"/>
          </a:xfrm>
          <a:prstGeom prst="rect">
            <a:avLst/>
          </a:prstGeom>
          <a:noFill/>
          <a:ln/>
        </p:spPr>
        <p:txBody>
          <a:bodyPr wrap="square" lIns="0" tIns="0" rIns="0" bIns="0"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Simulated Angad + floor</a:t>
            </a:r>
            <a:endParaRPr lang="en-US" sz="1250" dirty="0"/>
          </a:p>
          <a:p>
            <a:pPr marL="0" indent="0" algn="ctr">
              <a:buNone/>
            </a:pPr>
            <a:r>
              <a:rPr lang="en-US" sz="1250" dirty="0">
                <a:solidFill>
                  <a:srgbClr val="FFFFFF"/>
                </a:solidFill>
                <a:latin typeface="Calibri" pitchFamily="34" charset="0"/>
                <a:ea typeface="Calibri" pitchFamily="34" charset="-122"/>
                <a:cs typeface="Calibri" pitchFamily="34" charset="-120"/>
              </a:rPr>
              <a:t>MuJoCo Warp physics</a:t>
            </a:r>
            <a:endParaRPr lang="en-US" sz="1250" dirty="0"/>
          </a:p>
        </p:txBody>
      </p:sp>
      <p:sp>
        <p:nvSpPr>
          <p:cNvPr id="14" name="Shape 10"/>
          <p:cNvSpPr/>
          <p:nvPr/>
        </p:nvSpPr>
        <p:spPr>
          <a:xfrm>
            <a:off x="3291840" y="1691640"/>
            <a:ext cx="2560320" cy="0"/>
          </a:xfrm>
          <a:prstGeom prst="line">
            <a:avLst/>
          </a:prstGeom>
          <a:noFill/>
          <a:ln w="31750">
            <a:solidFill>
              <a:srgbClr val="F28C28"/>
            </a:solidFill>
            <a:prstDash val="solid"/>
            <a:tailEnd type="triangle"/>
          </a:ln>
        </p:spPr>
        <p:txBody>
          <a:bodyPr/>
          <a:lstStyle/>
          <a:p>
            <a:endParaRPr lang="en-US"/>
          </a:p>
        </p:txBody>
      </p:sp>
      <p:sp>
        <p:nvSpPr>
          <p:cNvPr id="15" name="Shape 11"/>
          <p:cNvSpPr/>
          <p:nvPr/>
        </p:nvSpPr>
        <p:spPr>
          <a:xfrm flipH="1">
            <a:off x="3291840" y="2331720"/>
            <a:ext cx="2560320" cy="0"/>
          </a:xfrm>
          <a:prstGeom prst="line">
            <a:avLst/>
          </a:prstGeom>
          <a:noFill/>
          <a:ln w="31750">
            <a:solidFill>
              <a:srgbClr val="2E9E6B"/>
            </a:solidFill>
            <a:prstDash val="solid"/>
            <a:tailEnd type="triangle"/>
          </a:ln>
        </p:spPr>
        <p:txBody>
          <a:bodyPr/>
          <a:lstStyle/>
          <a:p>
            <a:endParaRPr lang="en-US"/>
          </a:p>
        </p:txBody>
      </p:sp>
      <p:sp>
        <p:nvSpPr>
          <p:cNvPr id="16" name="Text 12"/>
          <p:cNvSpPr txBox="1"/>
          <p:nvPr/>
        </p:nvSpPr>
        <p:spPr>
          <a:xfrm>
            <a:off x="3291840" y="1234440"/>
            <a:ext cx="2560320" cy="384048"/>
          </a:xfrm>
          <a:prstGeom prst="rect">
            <a:avLst/>
          </a:prstGeom>
          <a:noFill/>
          <a:ln/>
        </p:spPr>
        <p:txBody>
          <a:bodyPr wrap="square" lIns="0" tIns="0" rIns="0" bIns="0" rtlCol="0" anchor="b"/>
          <a:lstStyle/>
          <a:p>
            <a:pPr marL="0" indent="0" algn="ctr">
              <a:buNone/>
            </a:pPr>
            <a:r>
              <a:rPr lang="en-US" sz="1100" b="1" dirty="0">
                <a:solidFill>
                  <a:srgbClr val="F28C28"/>
                </a:solidFill>
                <a:latin typeface="Calibri" pitchFamily="34" charset="0"/>
                <a:ea typeface="Calibri" pitchFamily="34" charset="-122"/>
                <a:cs typeface="Calibri" pitchFamily="34" charset="-120"/>
              </a:rPr>
              <a:t>Action a</a:t>
            </a:r>
            <a:r>
              <a:rPr lang="en-US" sz="1100" b="1" baseline="-40000" dirty="0">
                <a:solidFill>
                  <a:srgbClr val="F28C28"/>
                </a:solidFill>
                <a:latin typeface="Calibri" pitchFamily="34" charset="0"/>
                <a:ea typeface="Calibri" pitchFamily="34" charset="-122"/>
                <a:cs typeface="Calibri" pitchFamily="34" charset="-120"/>
              </a:rPr>
              <a:t>t</a:t>
            </a:r>
            <a:r>
              <a:rPr lang="en-US" sz="1100" b="1" dirty="0">
                <a:solidFill>
                  <a:srgbClr val="F28C28"/>
                </a:solidFill>
                <a:latin typeface="Calibri" pitchFamily="34" charset="0"/>
                <a:ea typeface="Calibri" pitchFamily="34" charset="-122"/>
                <a:cs typeface="Calibri" pitchFamily="34" charset="-120"/>
              </a:rPr>
              <a:t>: 12 target joint angles</a:t>
            </a:r>
            <a:endParaRPr lang="en-US" sz="1100" dirty="0"/>
          </a:p>
        </p:txBody>
      </p:sp>
      <p:sp>
        <p:nvSpPr>
          <p:cNvPr id="17" name="Text 13"/>
          <p:cNvSpPr txBox="1"/>
          <p:nvPr/>
        </p:nvSpPr>
        <p:spPr>
          <a:xfrm>
            <a:off x="3291840" y="2404872"/>
            <a:ext cx="2560320" cy="384048"/>
          </a:xfrm>
          <a:prstGeom prst="rect">
            <a:avLst/>
          </a:prstGeom>
          <a:noFill/>
          <a:ln/>
        </p:spPr>
        <p:txBody>
          <a:bodyPr wrap="square" lIns="0" tIns="0" rIns="0" bIns="0" rtlCol="0" anchor="t"/>
          <a:lstStyle/>
          <a:p>
            <a:pPr marL="0" indent="0" algn="ctr">
              <a:buNone/>
            </a:pPr>
            <a:r>
              <a:rPr lang="en-US" sz="1100" b="1" dirty="0">
                <a:solidFill>
                  <a:srgbClr val="2E9E6B"/>
                </a:solidFill>
                <a:latin typeface="Calibri" pitchFamily="34" charset="0"/>
                <a:ea typeface="Calibri" pitchFamily="34" charset="-122"/>
                <a:cs typeface="Calibri" pitchFamily="34" charset="-120"/>
              </a:rPr>
              <a:t>State s</a:t>
            </a:r>
            <a:r>
              <a:rPr lang="en-US" sz="1100" b="1" baseline="-40000" dirty="0">
                <a:solidFill>
                  <a:srgbClr val="2E9E6B"/>
                </a:solidFill>
                <a:latin typeface="Calibri" pitchFamily="34" charset="0"/>
                <a:ea typeface="Calibri" pitchFamily="34" charset="-122"/>
                <a:cs typeface="Calibri" pitchFamily="34" charset="-120"/>
              </a:rPr>
              <a:t>t+1</a:t>
            </a:r>
            <a:r>
              <a:rPr lang="en-US" sz="1100" b="1" dirty="0">
                <a:solidFill>
                  <a:srgbClr val="2E9E6B"/>
                </a:solidFill>
                <a:latin typeface="Calibri" pitchFamily="34" charset="0"/>
                <a:ea typeface="Calibri" pitchFamily="34" charset="-122"/>
                <a:cs typeface="Calibri" pitchFamily="34" charset="-120"/>
              </a:rPr>
              <a:t> (48 numbers) + Reward r</a:t>
            </a:r>
            <a:r>
              <a:rPr lang="en-US" sz="1100" b="1" baseline="-40000" dirty="0">
                <a:solidFill>
                  <a:srgbClr val="2E9E6B"/>
                </a:solidFill>
                <a:latin typeface="Calibri" pitchFamily="34" charset="0"/>
                <a:ea typeface="Calibri" pitchFamily="34" charset="-122"/>
                <a:cs typeface="Calibri" pitchFamily="34" charset="-120"/>
              </a:rPr>
              <a:t>t</a:t>
            </a:r>
            <a:endParaRPr lang="en-US" sz="1100" dirty="0"/>
          </a:p>
        </p:txBody>
      </p:sp>
      <p:sp>
        <p:nvSpPr>
          <p:cNvPr id="18" name="Text 14"/>
          <p:cNvSpPr txBox="1"/>
          <p:nvPr/>
        </p:nvSpPr>
        <p:spPr>
          <a:xfrm>
            <a:off x="3291840" y="1874520"/>
            <a:ext cx="2560320" cy="274320"/>
          </a:xfrm>
          <a:prstGeom prst="rect">
            <a:avLst/>
          </a:prstGeom>
          <a:noFill/>
          <a:ln/>
        </p:spPr>
        <p:txBody>
          <a:bodyPr wrap="square" lIns="0" tIns="0" rIns="0" bIns="0" rtlCol="0" anchor="ctr"/>
          <a:lstStyle/>
          <a:p>
            <a:pPr marL="0" indent="0" algn="ctr">
              <a:buNone/>
            </a:pPr>
            <a:r>
              <a:rPr lang="en-US" sz="950" i="1" dirty="0">
                <a:solidFill>
                  <a:srgbClr val="667085"/>
                </a:solidFill>
                <a:latin typeface="Calibri" pitchFamily="34" charset="0"/>
                <a:ea typeface="Calibri" pitchFamily="34" charset="-122"/>
                <a:cs typeface="Calibri" pitchFamily="34" charset="-120"/>
              </a:rPr>
              <a:t>repeat until the robot falls or 20 s pass</a:t>
            </a:r>
            <a:endParaRPr lang="en-US" sz="950" dirty="0"/>
          </a:p>
        </p:txBody>
      </p:sp>
      <p:sp>
        <p:nvSpPr>
          <p:cNvPr id="19" name="Text 15"/>
          <p:cNvSpPr txBox="1"/>
          <p:nvPr/>
        </p:nvSpPr>
        <p:spPr>
          <a:xfrm>
            <a:off x="457200" y="3017520"/>
            <a:ext cx="8229600" cy="256032"/>
          </a:xfrm>
          <a:prstGeom prst="rect">
            <a:avLst/>
          </a:prstGeom>
          <a:noFill/>
          <a:ln/>
        </p:spPr>
        <p:txBody>
          <a:bodyPr wrap="square" lIns="0" tIns="0" rIns="0" bIns="0" rtlCol="0" anchor="ctr"/>
          <a:lstStyle/>
          <a:p>
            <a:pPr marL="0" indent="0">
              <a:buNone/>
            </a:pPr>
            <a:r>
              <a:rPr lang="en-US" sz="1200" b="1" dirty="0">
                <a:solidFill>
                  <a:srgbClr val="2B3340"/>
                </a:solidFill>
                <a:latin typeface="Calibri" pitchFamily="34" charset="0"/>
                <a:ea typeface="Calibri" pitchFamily="34" charset="-122"/>
                <a:cs typeface="Calibri" pitchFamily="34" charset="-120"/>
              </a:rPr>
              <a:t>As a Markov Decision Process   M = (S, A, P, R, γ)</a:t>
            </a:r>
            <a:endParaRPr lang="en-US" sz="1200" dirty="0"/>
          </a:p>
        </p:txBody>
      </p:sp>
      <p:sp>
        <p:nvSpPr>
          <p:cNvPr id="20" name="Shape 16"/>
          <p:cNvSpPr/>
          <p:nvPr/>
        </p:nvSpPr>
        <p:spPr>
          <a:xfrm>
            <a:off x="457200" y="3337560"/>
            <a:ext cx="1572768" cy="777240"/>
          </a:xfrm>
          <a:prstGeom prst="roundRect">
            <a:avLst>
              <a:gd name="adj" fmla="val 9412"/>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21" name="Text 17"/>
          <p:cNvSpPr txBox="1"/>
          <p:nvPr/>
        </p:nvSpPr>
        <p:spPr>
          <a:xfrm>
            <a:off x="548640" y="3383280"/>
            <a:ext cx="1389888" cy="256032"/>
          </a:xfrm>
          <a:prstGeom prst="rect">
            <a:avLst/>
          </a:prstGeom>
          <a:noFill/>
          <a:ln/>
        </p:spPr>
        <p:txBody>
          <a:bodyPr wrap="square" lIns="0" tIns="0" rIns="0" bIns="0" rtlCol="0" anchor="ctr"/>
          <a:lstStyle/>
          <a:p>
            <a:pPr marL="0" indent="0">
              <a:buNone/>
            </a:pPr>
            <a:r>
              <a:rPr lang="en-US" sz="1150" b="1" dirty="0">
                <a:solidFill>
                  <a:srgbClr val="1F7AC0"/>
                </a:solidFill>
                <a:latin typeface="Calibri" pitchFamily="34" charset="0"/>
                <a:ea typeface="Calibri" pitchFamily="34" charset="-122"/>
                <a:cs typeface="Calibri" pitchFamily="34" charset="-120"/>
              </a:rPr>
              <a:t>S  state</a:t>
            </a:r>
            <a:endParaRPr lang="en-US" sz="1150" dirty="0"/>
          </a:p>
        </p:txBody>
      </p:sp>
      <p:sp>
        <p:nvSpPr>
          <p:cNvPr id="22" name="Text 18"/>
          <p:cNvSpPr txBox="1"/>
          <p:nvPr/>
        </p:nvSpPr>
        <p:spPr>
          <a:xfrm>
            <a:off x="548640" y="3639312"/>
            <a:ext cx="1389888" cy="438912"/>
          </a:xfrm>
          <a:prstGeom prst="rect">
            <a:avLst/>
          </a:prstGeom>
          <a:noFill/>
          <a:ln/>
        </p:spPr>
        <p:txBody>
          <a:bodyPr wrap="square" lIns="0" tIns="0" rIns="0" bIns="0" rtlCol="0" anchor="t"/>
          <a:lstStyle/>
          <a:p>
            <a:pPr marL="0" indent="0">
              <a:buNone/>
            </a:pPr>
            <a:r>
              <a:rPr lang="en-US" sz="1050" dirty="0">
                <a:solidFill>
                  <a:srgbClr val="2B3340"/>
                </a:solidFill>
                <a:latin typeface="Calibri" pitchFamily="34" charset="0"/>
                <a:ea typeface="Calibri" pitchFamily="34" charset="-122"/>
                <a:cs typeface="Calibri" pitchFamily="34" charset="-120"/>
              </a:rPr>
              <a:t>48 continuous numbers</a:t>
            </a:r>
            <a:endParaRPr lang="en-US" sz="1050" dirty="0"/>
          </a:p>
        </p:txBody>
      </p:sp>
      <p:sp>
        <p:nvSpPr>
          <p:cNvPr id="23" name="Shape 19"/>
          <p:cNvSpPr/>
          <p:nvPr/>
        </p:nvSpPr>
        <p:spPr>
          <a:xfrm>
            <a:off x="2139696" y="3337560"/>
            <a:ext cx="1572768" cy="777240"/>
          </a:xfrm>
          <a:prstGeom prst="roundRect">
            <a:avLst>
              <a:gd name="adj" fmla="val 9412"/>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24" name="Text 20"/>
          <p:cNvSpPr txBox="1"/>
          <p:nvPr/>
        </p:nvSpPr>
        <p:spPr>
          <a:xfrm>
            <a:off x="2231136" y="3383280"/>
            <a:ext cx="1389888" cy="256032"/>
          </a:xfrm>
          <a:prstGeom prst="rect">
            <a:avLst/>
          </a:prstGeom>
          <a:noFill/>
          <a:ln/>
        </p:spPr>
        <p:txBody>
          <a:bodyPr wrap="square" lIns="0" tIns="0" rIns="0" bIns="0" rtlCol="0" anchor="ctr"/>
          <a:lstStyle/>
          <a:p>
            <a:pPr marL="0" indent="0">
              <a:buNone/>
            </a:pPr>
            <a:r>
              <a:rPr lang="en-US" sz="1150" b="1" dirty="0">
                <a:solidFill>
                  <a:srgbClr val="1F7AC0"/>
                </a:solidFill>
                <a:latin typeface="Calibri" pitchFamily="34" charset="0"/>
                <a:ea typeface="Calibri" pitchFamily="34" charset="-122"/>
                <a:cs typeface="Calibri" pitchFamily="34" charset="-120"/>
              </a:rPr>
              <a:t>A  action</a:t>
            </a:r>
            <a:endParaRPr lang="en-US" sz="1150" dirty="0"/>
          </a:p>
        </p:txBody>
      </p:sp>
      <p:sp>
        <p:nvSpPr>
          <p:cNvPr id="25" name="Text 21"/>
          <p:cNvSpPr txBox="1"/>
          <p:nvPr/>
        </p:nvSpPr>
        <p:spPr>
          <a:xfrm>
            <a:off x="2231136" y="3639312"/>
            <a:ext cx="1389888" cy="438912"/>
          </a:xfrm>
          <a:prstGeom prst="rect">
            <a:avLst/>
          </a:prstGeom>
          <a:noFill/>
          <a:ln/>
        </p:spPr>
        <p:txBody>
          <a:bodyPr wrap="square" lIns="0" tIns="0" rIns="0" bIns="0" rtlCol="0" anchor="t"/>
          <a:lstStyle/>
          <a:p>
            <a:pPr marL="0" indent="0">
              <a:buNone/>
            </a:pPr>
            <a:r>
              <a:rPr lang="en-US" sz="1050" dirty="0">
                <a:solidFill>
                  <a:srgbClr val="2B3340"/>
                </a:solidFill>
                <a:latin typeface="Calibri" pitchFamily="34" charset="0"/>
                <a:ea typeface="Calibri" pitchFamily="34" charset="-122"/>
                <a:cs typeface="Calibri" pitchFamily="34" charset="-120"/>
              </a:rPr>
              <a:t>12 continuous joint targets</a:t>
            </a:r>
            <a:endParaRPr lang="en-US" sz="1050" dirty="0"/>
          </a:p>
        </p:txBody>
      </p:sp>
      <p:sp>
        <p:nvSpPr>
          <p:cNvPr id="26" name="Shape 22"/>
          <p:cNvSpPr/>
          <p:nvPr/>
        </p:nvSpPr>
        <p:spPr>
          <a:xfrm>
            <a:off x="3822192" y="3337560"/>
            <a:ext cx="1572768" cy="777240"/>
          </a:xfrm>
          <a:prstGeom prst="roundRect">
            <a:avLst>
              <a:gd name="adj" fmla="val 9412"/>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27" name="Text 23"/>
          <p:cNvSpPr txBox="1"/>
          <p:nvPr/>
        </p:nvSpPr>
        <p:spPr>
          <a:xfrm>
            <a:off x="3913632" y="3383280"/>
            <a:ext cx="1389888" cy="256032"/>
          </a:xfrm>
          <a:prstGeom prst="rect">
            <a:avLst/>
          </a:prstGeom>
          <a:noFill/>
          <a:ln/>
        </p:spPr>
        <p:txBody>
          <a:bodyPr wrap="square" lIns="0" tIns="0" rIns="0" bIns="0" rtlCol="0" anchor="ctr"/>
          <a:lstStyle/>
          <a:p>
            <a:pPr marL="0" indent="0">
              <a:buNone/>
            </a:pPr>
            <a:r>
              <a:rPr lang="en-US" sz="1150" b="1" dirty="0">
                <a:solidFill>
                  <a:srgbClr val="1F7AC0"/>
                </a:solidFill>
                <a:latin typeface="Calibri" pitchFamily="34" charset="0"/>
                <a:ea typeface="Calibri" pitchFamily="34" charset="-122"/>
                <a:cs typeface="Calibri" pitchFamily="34" charset="-120"/>
              </a:rPr>
              <a:t>P  dynamics</a:t>
            </a:r>
            <a:endParaRPr lang="en-US" sz="1150" dirty="0"/>
          </a:p>
        </p:txBody>
      </p:sp>
      <p:sp>
        <p:nvSpPr>
          <p:cNvPr id="28" name="Text 24"/>
          <p:cNvSpPr txBox="1"/>
          <p:nvPr/>
        </p:nvSpPr>
        <p:spPr>
          <a:xfrm>
            <a:off x="3913632" y="3639312"/>
            <a:ext cx="1389888" cy="438912"/>
          </a:xfrm>
          <a:prstGeom prst="rect">
            <a:avLst/>
          </a:prstGeom>
          <a:noFill/>
          <a:ln/>
        </p:spPr>
        <p:txBody>
          <a:bodyPr wrap="square" lIns="0" tIns="0" rIns="0" bIns="0" rtlCol="0" anchor="t"/>
          <a:lstStyle/>
          <a:p>
            <a:pPr marL="0" indent="0">
              <a:buNone/>
            </a:pPr>
            <a:r>
              <a:rPr lang="en-US" sz="1050" dirty="0">
                <a:solidFill>
                  <a:srgbClr val="2B3340"/>
                </a:solidFill>
                <a:latin typeface="Calibri" pitchFamily="34" charset="0"/>
                <a:ea typeface="Calibri" pitchFamily="34" charset="-122"/>
                <a:cs typeface="Calibri" pitchFamily="34" charset="-120"/>
              </a:rPr>
              <a:t>MuJoCo physics + random pushes</a:t>
            </a:r>
            <a:endParaRPr lang="en-US" sz="1050" dirty="0"/>
          </a:p>
        </p:txBody>
      </p:sp>
      <p:sp>
        <p:nvSpPr>
          <p:cNvPr id="29" name="Shape 25"/>
          <p:cNvSpPr/>
          <p:nvPr/>
        </p:nvSpPr>
        <p:spPr>
          <a:xfrm>
            <a:off x="5504688" y="3337560"/>
            <a:ext cx="1572768" cy="777240"/>
          </a:xfrm>
          <a:prstGeom prst="roundRect">
            <a:avLst>
              <a:gd name="adj" fmla="val 9412"/>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30" name="Text 26"/>
          <p:cNvSpPr txBox="1"/>
          <p:nvPr/>
        </p:nvSpPr>
        <p:spPr>
          <a:xfrm>
            <a:off x="5596128" y="3383280"/>
            <a:ext cx="1389888" cy="256032"/>
          </a:xfrm>
          <a:prstGeom prst="rect">
            <a:avLst/>
          </a:prstGeom>
          <a:noFill/>
          <a:ln/>
        </p:spPr>
        <p:txBody>
          <a:bodyPr wrap="square" lIns="0" tIns="0" rIns="0" bIns="0" rtlCol="0" anchor="ctr"/>
          <a:lstStyle/>
          <a:p>
            <a:pPr marL="0" indent="0">
              <a:buNone/>
            </a:pPr>
            <a:r>
              <a:rPr lang="en-US" sz="1150" b="1" dirty="0">
                <a:solidFill>
                  <a:srgbClr val="1F7AC0"/>
                </a:solidFill>
                <a:latin typeface="Calibri" pitchFamily="34" charset="0"/>
                <a:ea typeface="Calibri" pitchFamily="34" charset="-122"/>
                <a:cs typeface="Calibri" pitchFamily="34" charset="-120"/>
              </a:rPr>
              <a:t>R  reward</a:t>
            </a:r>
            <a:endParaRPr lang="en-US" sz="1150" dirty="0"/>
          </a:p>
        </p:txBody>
      </p:sp>
      <p:sp>
        <p:nvSpPr>
          <p:cNvPr id="31" name="Text 27"/>
          <p:cNvSpPr txBox="1"/>
          <p:nvPr/>
        </p:nvSpPr>
        <p:spPr>
          <a:xfrm>
            <a:off x="5596128" y="3639312"/>
            <a:ext cx="1389888" cy="438912"/>
          </a:xfrm>
          <a:prstGeom prst="rect">
            <a:avLst/>
          </a:prstGeom>
          <a:noFill/>
          <a:ln/>
        </p:spPr>
        <p:txBody>
          <a:bodyPr wrap="square" lIns="0" tIns="0" rIns="0" bIns="0" rtlCol="0" anchor="t"/>
          <a:lstStyle/>
          <a:p>
            <a:pPr marL="0" indent="0">
              <a:buNone/>
            </a:pPr>
            <a:r>
              <a:rPr lang="en-US" sz="1050" dirty="0">
                <a:solidFill>
                  <a:srgbClr val="2B3340"/>
                </a:solidFill>
                <a:latin typeface="Calibri" pitchFamily="34" charset="0"/>
                <a:ea typeface="Calibri" pitchFamily="34" charset="-122"/>
                <a:cs typeface="Calibri" pitchFamily="34" charset="-120"/>
              </a:rPr>
              <a:t>weighted sum of reward terms</a:t>
            </a:r>
            <a:endParaRPr lang="en-US" sz="1050" dirty="0"/>
          </a:p>
        </p:txBody>
      </p:sp>
      <p:sp>
        <p:nvSpPr>
          <p:cNvPr id="32" name="Shape 28"/>
          <p:cNvSpPr/>
          <p:nvPr/>
        </p:nvSpPr>
        <p:spPr>
          <a:xfrm>
            <a:off x="7187184" y="3337560"/>
            <a:ext cx="1572768" cy="777240"/>
          </a:xfrm>
          <a:prstGeom prst="roundRect">
            <a:avLst>
              <a:gd name="adj" fmla="val 9412"/>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33" name="Text 29"/>
          <p:cNvSpPr txBox="1"/>
          <p:nvPr/>
        </p:nvSpPr>
        <p:spPr>
          <a:xfrm>
            <a:off x="7278624" y="3383280"/>
            <a:ext cx="1389888" cy="256032"/>
          </a:xfrm>
          <a:prstGeom prst="rect">
            <a:avLst/>
          </a:prstGeom>
          <a:noFill/>
          <a:ln/>
        </p:spPr>
        <p:txBody>
          <a:bodyPr wrap="square" lIns="0" tIns="0" rIns="0" bIns="0" rtlCol="0" anchor="ctr"/>
          <a:lstStyle/>
          <a:p>
            <a:pPr marL="0" indent="0">
              <a:buNone/>
            </a:pPr>
            <a:r>
              <a:rPr lang="en-US" sz="1150" b="1" dirty="0">
                <a:solidFill>
                  <a:srgbClr val="1F7AC0"/>
                </a:solidFill>
                <a:latin typeface="Calibri" pitchFamily="34" charset="0"/>
                <a:ea typeface="Calibri" pitchFamily="34" charset="-122"/>
                <a:cs typeface="Calibri" pitchFamily="34" charset="-120"/>
              </a:rPr>
              <a:t>γ  discount</a:t>
            </a:r>
            <a:endParaRPr lang="en-US" sz="1150" dirty="0"/>
          </a:p>
        </p:txBody>
      </p:sp>
      <p:sp>
        <p:nvSpPr>
          <p:cNvPr id="34" name="Text 30"/>
          <p:cNvSpPr txBox="1"/>
          <p:nvPr/>
        </p:nvSpPr>
        <p:spPr>
          <a:xfrm>
            <a:off x="7278624" y="3639312"/>
            <a:ext cx="1389888" cy="438912"/>
          </a:xfrm>
          <a:prstGeom prst="rect">
            <a:avLst/>
          </a:prstGeom>
          <a:noFill/>
          <a:ln/>
        </p:spPr>
        <p:txBody>
          <a:bodyPr wrap="square" lIns="0" tIns="0" rIns="0" bIns="0" rtlCol="0" anchor="t"/>
          <a:lstStyle/>
          <a:p>
            <a:pPr marL="0" indent="0">
              <a:buNone/>
            </a:pPr>
            <a:r>
              <a:rPr lang="en-US" sz="1050" dirty="0">
                <a:solidFill>
                  <a:srgbClr val="2B3340"/>
                </a:solidFill>
                <a:latin typeface="Calibri" pitchFamily="34" charset="0"/>
                <a:ea typeface="Calibri" pitchFamily="34" charset="-122"/>
                <a:cs typeface="Calibri" pitchFamily="34" charset="-120"/>
              </a:rPr>
              <a:t>0.99</a:t>
            </a:r>
            <a:endParaRPr lang="en-US" sz="1050" dirty="0"/>
          </a:p>
        </p:txBody>
      </p:sp>
      <p:sp>
        <p:nvSpPr>
          <p:cNvPr id="35" name="Shape 31"/>
          <p:cNvSpPr/>
          <p:nvPr/>
        </p:nvSpPr>
        <p:spPr>
          <a:xfrm>
            <a:off x="457200" y="4279392"/>
            <a:ext cx="8229600" cy="457200"/>
          </a:xfrm>
          <a:prstGeom prst="roundRect">
            <a:avLst>
              <a:gd name="adj" fmla="val 16000"/>
            </a:avLst>
          </a:prstGeom>
          <a:solidFill>
            <a:srgbClr val="FFF1E0"/>
          </a:solidFill>
          <a:ln w="12700">
            <a:solidFill>
              <a:srgbClr val="FFF1E0"/>
            </a:solidFill>
            <a:prstDash val="solid"/>
          </a:ln>
        </p:spPr>
        <p:txBody>
          <a:bodyPr/>
          <a:lstStyle/>
          <a:p>
            <a:endParaRPr lang="en-US"/>
          </a:p>
        </p:txBody>
      </p:sp>
      <p:pic>
        <p:nvPicPr>
          <p:cNvPr id="36" name="Image 2" descr="preencoded.png"/>
          <p:cNvPicPr>
            <a:picLocks noChangeAspect="1"/>
          </p:cNvPicPr>
          <p:nvPr/>
        </p:nvPicPr>
        <p:blipFill>
          <a:blip r:embed="rId5"/>
          <a:stretch>
            <a:fillRect/>
          </a:stretch>
        </p:blipFill>
        <p:spPr>
          <a:xfrm>
            <a:off x="585216" y="4389120"/>
            <a:ext cx="237744" cy="237744"/>
          </a:xfrm>
          <a:prstGeom prst="rect">
            <a:avLst/>
          </a:prstGeom>
        </p:spPr>
      </p:pic>
      <p:sp>
        <p:nvSpPr>
          <p:cNvPr id="37" name="Text 32"/>
          <p:cNvSpPr txBox="1"/>
          <p:nvPr/>
        </p:nvSpPr>
        <p:spPr>
          <a:xfrm>
            <a:off x="932688" y="4279392"/>
            <a:ext cx="7635240" cy="457200"/>
          </a:xfrm>
          <a:prstGeom prst="rect">
            <a:avLst/>
          </a:prstGeom>
          <a:noFill/>
          <a:ln/>
        </p:spPr>
        <p:txBody>
          <a:bodyPr wrap="square" lIns="0" tIns="0" rIns="0" bIns="0" rtlCol="0" anchor="ctr"/>
          <a:lstStyle/>
          <a:p>
            <a:pPr marL="0" indent="0">
              <a:buNone/>
            </a:pPr>
            <a:r>
              <a:rPr lang="en-US" sz="1150" b="1" dirty="0">
                <a:solidFill>
                  <a:srgbClr val="F28C28"/>
                </a:solidFill>
                <a:latin typeface="Calibri" pitchFamily="34" charset="0"/>
                <a:ea typeface="Calibri" pitchFamily="34" charset="-122"/>
                <a:cs typeface="Calibri" pitchFamily="34" charset="-120"/>
              </a:rPr>
              <a:t>In plain words:  </a:t>
            </a:r>
            <a:r>
              <a:rPr lang="en-US" sz="1150" dirty="0">
                <a:solidFill>
                  <a:srgbClr val="2B3340"/>
                </a:solidFill>
                <a:latin typeface="Calibri" pitchFamily="34" charset="0"/>
                <a:ea typeface="Calibri" pitchFamily="34" charset="-122"/>
                <a:cs typeface="Calibri" pitchFamily="34" charset="-120"/>
              </a:rPr>
              <a:t>Think of a game player (agent) pressing buttons (actions) inside a game world (environment) and collecting points (reward).</a:t>
            </a:r>
            <a:endParaRPr lang="en-US" sz="1150" dirty="0"/>
          </a:p>
        </p:txBody>
      </p:sp>
      <p:sp>
        <p:nvSpPr>
          <p:cNvPr id="38"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50">
                <a:solidFill>
                  <a:srgbClr val="667085"/>
                </a:solidFill>
                <a:latin typeface="Calibri"/>
                <a:ea typeface="Calibri"/>
                <a:cs typeface="Calibri"/>
              </a:defRPr>
            </a:lvl1pPr>
          </a:lstStyle>
          <a:p>
            <a:pPr algn="r"/>
            <a:fld id="{F7021451-1387-4CA6-816F-3879F97B5CBC}" type="slidenum">
              <a:rPr lang="en-US" b="0"/>
              <a:t>5</a:t>
            </a:fld>
            <a:endParaRPr lang="en-US"/>
          </a:p>
        </p:txBody>
      </p:sp>
      <p:sp>
        <p:nvSpPr>
          <p:cNvPr id="40" name="Text 3">
            <a:extLst>
              <a:ext uri="{FF2B5EF4-FFF2-40B4-BE49-F238E27FC236}">
                <a16:creationId xmlns:a16="http://schemas.microsoft.com/office/drawing/2014/main" id="{537FF962-3681-BF5E-3092-308C571F70D4}"/>
              </a:ext>
            </a:extLst>
          </p:cNvPr>
          <p:cNvSpPr txBox="1"/>
          <p:nvPr/>
        </p:nvSpPr>
        <p:spPr>
          <a:xfrm>
            <a:off x="457200" y="4846320"/>
            <a:ext cx="4572000" cy="201168"/>
          </a:xfrm>
          <a:prstGeom prst="rect">
            <a:avLst/>
          </a:prstGeom>
          <a:noFill/>
          <a:ln/>
        </p:spPr>
        <p:txBody>
          <a:bodyPr wrap="square" lIns="0" tIns="0" rIns="0" bIns="0" rtlCol="0" anchor="ctr"/>
          <a:lstStyle/>
          <a:p>
            <a:pPr marL="0" indent="0">
              <a:buNone/>
            </a:pPr>
            <a:r>
              <a:rPr lang="en-US" sz="850" dirty="0">
                <a:solidFill>
                  <a:srgbClr val="667085"/>
                </a:solidFill>
                <a:latin typeface="Calibri" pitchFamily="34" charset="0"/>
                <a:ea typeface="Calibri" pitchFamily="34" charset="-122"/>
                <a:cs typeface="Calibri" pitchFamily="34" charset="-120"/>
              </a:rPr>
              <a:t>RL Mini-Project  ·  Biped walking</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457200" y="219456"/>
            <a:ext cx="2194560" cy="219456"/>
          </a:xfrm>
          <a:prstGeom prst="roundRect">
            <a:avLst>
              <a:gd name="adj" fmla="val 20833"/>
            </a:avLst>
          </a:prstGeom>
          <a:solidFill>
            <a:srgbClr val="E6F1FA"/>
          </a:solidFill>
          <a:ln w="12700">
            <a:solidFill>
              <a:srgbClr val="E6F1FA"/>
            </a:solidFill>
            <a:prstDash val="solid"/>
          </a:ln>
        </p:spPr>
        <p:txBody>
          <a:bodyPr/>
          <a:lstStyle/>
          <a:p>
            <a:endParaRPr lang="en-US"/>
          </a:p>
        </p:txBody>
      </p:sp>
      <p:sp>
        <p:nvSpPr>
          <p:cNvPr id="3" name="Text 1"/>
          <p:cNvSpPr txBox="1"/>
          <p:nvPr/>
        </p:nvSpPr>
        <p:spPr>
          <a:xfrm>
            <a:off x="457200" y="219456"/>
            <a:ext cx="2194560" cy="219456"/>
          </a:xfrm>
          <a:prstGeom prst="rect">
            <a:avLst/>
          </a:prstGeom>
          <a:noFill/>
          <a:ln/>
        </p:spPr>
        <p:txBody>
          <a:bodyPr wrap="square" lIns="0" tIns="0" rIns="0" bIns="0" rtlCol="0" anchor="ctr"/>
          <a:lstStyle/>
          <a:p>
            <a:pPr marL="0" indent="0" algn="ctr">
              <a:buNone/>
            </a:pPr>
            <a:r>
              <a:rPr lang="en-US" sz="850" b="1" kern="0" spc="100" dirty="0">
                <a:solidFill>
                  <a:srgbClr val="1F7AC0"/>
                </a:solidFill>
                <a:latin typeface="Calibri" pitchFamily="34" charset="0"/>
                <a:ea typeface="Calibri" pitchFamily="34" charset="-122"/>
                <a:cs typeface="Calibri" pitchFamily="34" charset="-120"/>
              </a:rPr>
              <a:t>PART I  ·  CO2  ·  DATA FLOW</a:t>
            </a:r>
            <a:endParaRPr lang="en-US" sz="850" dirty="0"/>
          </a:p>
        </p:txBody>
      </p:sp>
      <p:sp>
        <p:nvSpPr>
          <p:cNvPr id="4" name="Text 2"/>
          <p:cNvSpPr txBox="1"/>
          <p:nvPr/>
        </p:nvSpPr>
        <p:spPr>
          <a:xfrm>
            <a:off x="457200" y="475488"/>
            <a:ext cx="8229600" cy="502920"/>
          </a:xfrm>
          <a:prstGeom prst="rect">
            <a:avLst/>
          </a:prstGeom>
          <a:noFill/>
          <a:ln/>
        </p:spPr>
        <p:txBody>
          <a:bodyPr wrap="square" lIns="0" tIns="0" rIns="0" bIns="0" rtlCol="0" anchor="ctr"/>
          <a:lstStyle/>
          <a:p>
            <a:pPr marL="0" indent="0">
              <a:buNone/>
            </a:pPr>
            <a:r>
              <a:rPr lang="en-US" sz="2600" b="1" dirty="0">
                <a:solidFill>
                  <a:srgbClr val="2B3340"/>
                </a:solidFill>
                <a:latin typeface="Cambria" pitchFamily="34" charset="0"/>
                <a:ea typeface="Cambria" pitchFamily="34" charset="-122"/>
                <a:cs typeface="Cambria" pitchFamily="34" charset="-120"/>
              </a:rPr>
              <a:t>System Architecture</a:t>
            </a:r>
            <a:endParaRPr lang="en-US" sz="2600" dirty="0"/>
          </a:p>
        </p:txBody>
      </p:sp>
      <p:sp>
        <p:nvSpPr>
          <p:cNvPr id="6" name="Shape 4"/>
          <p:cNvSpPr/>
          <p:nvPr/>
        </p:nvSpPr>
        <p:spPr>
          <a:xfrm>
            <a:off x="457200" y="1143000"/>
            <a:ext cx="1216152" cy="1691640"/>
          </a:xfrm>
          <a:prstGeom prst="roundRect">
            <a:avLst>
              <a:gd name="adj" fmla="val 6015"/>
            </a:avLst>
          </a:prstGeom>
          <a:solidFill>
            <a:srgbClr val="3B4252"/>
          </a:solidFill>
          <a:ln w="12700">
            <a:solidFill>
              <a:srgbClr val="3B4252"/>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5"/>
          <p:cNvSpPr txBox="1"/>
          <p:nvPr/>
        </p:nvSpPr>
        <p:spPr>
          <a:xfrm>
            <a:off x="530352" y="1207008"/>
            <a:ext cx="1069848" cy="457200"/>
          </a:xfrm>
          <a:prstGeom prst="rect">
            <a:avLst/>
          </a:prstGeom>
          <a:noFill/>
          <a:ln/>
        </p:spPr>
        <p:txBody>
          <a:bodyPr wrap="square" lIns="0" tIns="0" rIns="0" bIns="0"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1  Input / observation</a:t>
            </a:r>
            <a:endParaRPr lang="en-US" sz="1100" dirty="0"/>
          </a:p>
        </p:txBody>
      </p:sp>
      <p:sp>
        <p:nvSpPr>
          <p:cNvPr id="8" name="Text 6"/>
          <p:cNvSpPr txBox="1"/>
          <p:nvPr/>
        </p:nvSpPr>
        <p:spPr>
          <a:xfrm>
            <a:off x="530352" y="1691640"/>
            <a:ext cx="1069848" cy="1097280"/>
          </a:xfrm>
          <a:prstGeom prst="rect">
            <a:avLst/>
          </a:prstGeom>
          <a:noFill/>
          <a:ln/>
        </p:spPr>
        <p:txBody>
          <a:bodyPr wrap="square" lIns="0" tIns="0" rIns="0" bIns="0" rtlCol="0" anchor="t"/>
          <a:lstStyle/>
          <a:p>
            <a:pPr marL="0" indent="0">
              <a:buNone/>
            </a:pPr>
            <a:r>
              <a:rPr lang="en-US" sz="1000" dirty="0">
                <a:solidFill>
                  <a:srgbClr val="E5E9F0"/>
                </a:solidFill>
                <a:latin typeface="Calibri" pitchFamily="34" charset="0"/>
                <a:ea typeface="Calibri" pitchFamily="34" charset="-122"/>
                <a:cs typeface="Calibri" pitchFamily="34" charset="-120"/>
              </a:rPr>
              <a:t>Speed command + noisy sensors: body velocity, tilt, joint angles and speeds</a:t>
            </a:r>
            <a:endParaRPr lang="en-US" sz="1000" dirty="0"/>
          </a:p>
        </p:txBody>
      </p:sp>
      <p:sp>
        <p:nvSpPr>
          <p:cNvPr id="9" name="Shape 7"/>
          <p:cNvSpPr/>
          <p:nvPr/>
        </p:nvSpPr>
        <p:spPr>
          <a:xfrm>
            <a:off x="1682496" y="1984248"/>
            <a:ext cx="164592" cy="0"/>
          </a:xfrm>
          <a:prstGeom prst="line">
            <a:avLst/>
          </a:prstGeom>
          <a:noFill/>
          <a:ln w="25400">
            <a:solidFill>
              <a:srgbClr val="F28C28"/>
            </a:solidFill>
            <a:prstDash val="solid"/>
            <a:tailEnd type="triangle"/>
          </a:ln>
        </p:spPr>
        <p:txBody>
          <a:bodyPr/>
          <a:lstStyle/>
          <a:p>
            <a:endParaRPr lang="en-US"/>
          </a:p>
        </p:txBody>
      </p:sp>
      <p:sp>
        <p:nvSpPr>
          <p:cNvPr id="10" name="Shape 8"/>
          <p:cNvSpPr/>
          <p:nvPr/>
        </p:nvSpPr>
        <p:spPr>
          <a:xfrm>
            <a:off x="1856232" y="1143000"/>
            <a:ext cx="1216152" cy="1691640"/>
          </a:xfrm>
          <a:prstGeom prst="roundRect">
            <a:avLst>
              <a:gd name="adj" fmla="val 6015"/>
            </a:avLst>
          </a:prstGeom>
          <a:solidFill>
            <a:srgbClr val="3B4252"/>
          </a:solidFill>
          <a:ln w="12700">
            <a:solidFill>
              <a:srgbClr val="3B4252"/>
            </a:solidFill>
            <a:prstDash val="solid"/>
          </a:ln>
          <a:effectLst>
            <a:outerShdw blurRad="76200" dist="25400" dir="5400000" algn="bl" rotWithShape="0">
              <a:srgbClr val="000000">
                <a:alpha val="12000"/>
              </a:srgbClr>
            </a:outerShdw>
          </a:effectLst>
        </p:spPr>
        <p:txBody>
          <a:bodyPr/>
          <a:lstStyle/>
          <a:p>
            <a:endParaRPr lang="en-US"/>
          </a:p>
        </p:txBody>
      </p:sp>
      <p:sp>
        <p:nvSpPr>
          <p:cNvPr id="11" name="Text 9"/>
          <p:cNvSpPr txBox="1"/>
          <p:nvPr/>
        </p:nvSpPr>
        <p:spPr>
          <a:xfrm>
            <a:off x="1929384" y="1207008"/>
            <a:ext cx="1069848" cy="457200"/>
          </a:xfrm>
          <a:prstGeom prst="rect">
            <a:avLst/>
          </a:prstGeom>
          <a:noFill/>
          <a:ln/>
        </p:spPr>
        <p:txBody>
          <a:bodyPr wrap="square" lIns="0" tIns="0" rIns="0" bIns="0"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2  State s</a:t>
            </a:r>
            <a:r>
              <a:rPr lang="en-US" sz="1100" b="1" baseline="-40000" dirty="0">
                <a:solidFill>
                  <a:srgbClr val="FFFFFF"/>
                </a:solidFill>
                <a:latin typeface="Calibri" pitchFamily="34" charset="0"/>
                <a:ea typeface="Calibri" pitchFamily="34" charset="-122"/>
                <a:cs typeface="Calibri" pitchFamily="34" charset="-120"/>
              </a:rPr>
              <a:t>t</a:t>
            </a:r>
            <a:endParaRPr lang="en-US" sz="1100" dirty="0"/>
          </a:p>
        </p:txBody>
      </p:sp>
      <p:sp>
        <p:nvSpPr>
          <p:cNvPr id="12" name="Text 10"/>
          <p:cNvSpPr txBox="1"/>
          <p:nvPr/>
        </p:nvSpPr>
        <p:spPr>
          <a:xfrm>
            <a:off x="1929384" y="1691640"/>
            <a:ext cx="1069848" cy="1097280"/>
          </a:xfrm>
          <a:prstGeom prst="rect">
            <a:avLst/>
          </a:prstGeom>
          <a:noFill/>
          <a:ln/>
        </p:spPr>
        <p:txBody>
          <a:bodyPr wrap="square" lIns="0" tIns="0" rIns="0" bIns="0" rtlCol="0" anchor="t"/>
          <a:lstStyle/>
          <a:p>
            <a:pPr marL="0" indent="0">
              <a:buNone/>
            </a:pPr>
            <a:r>
              <a:rPr lang="en-US" sz="1000" dirty="0">
                <a:solidFill>
                  <a:srgbClr val="E5E9F0"/>
                </a:solidFill>
                <a:latin typeface="Calibri" pitchFamily="34" charset="0"/>
                <a:ea typeface="Calibri" pitchFamily="34" charset="-122"/>
                <a:cs typeface="Calibri" pitchFamily="34" charset="-120"/>
              </a:rPr>
              <a:t>48 numbers, normalised, fed to the network</a:t>
            </a:r>
            <a:endParaRPr lang="en-US" sz="1000" dirty="0"/>
          </a:p>
        </p:txBody>
      </p:sp>
      <p:sp>
        <p:nvSpPr>
          <p:cNvPr id="13" name="Shape 11"/>
          <p:cNvSpPr/>
          <p:nvPr/>
        </p:nvSpPr>
        <p:spPr>
          <a:xfrm>
            <a:off x="3081528" y="1984248"/>
            <a:ext cx="164592" cy="0"/>
          </a:xfrm>
          <a:prstGeom prst="line">
            <a:avLst/>
          </a:prstGeom>
          <a:noFill/>
          <a:ln w="25400">
            <a:solidFill>
              <a:srgbClr val="F28C28"/>
            </a:solidFill>
            <a:prstDash val="solid"/>
            <a:tailEnd type="triangle"/>
          </a:ln>
        </p:spPr>
        <p:txBody>
          <a:bodyPr/>
          <a:lstStyle/>
          <a:p>
            <a:endParaRPr lang="en-US"/>
          </a:p>
        </p:txBody>
      </p:sp>
      <p:sp>
        <p:nvSpPr>
          <p:cNvPr id="14" name="Shape 12"/>
          <p:cNvSpPr/>
          <p:nvPr/>
        </p:nvSpPr>
        <p:spPr>
          <a:xfrm>
            <a:off x="3255264" y="1143000"/>
            <a:ext cx="1216152" cy="1691640"/>
          </a:xfrm>
          <a:prstGeom prst="roundRect">
            <a:avLst>
              <a:gd name="adj" fmla="val 6015"/>
            </a:avLst>
          </a:prstGeom>
          <a:solidFill>
            <a:srgbClr val="1F7AC0"/>
          </a:solidFill>
          <a:ln w="12700">
            <a:solidFill>
              <a:srgbClr val="1F7AC0"/>
            </a:solidFill>
            <a:prstDash val="solid"/>
          </a:ln>
          <a:effectLst>
            <a:outerShdw blurRad="76200" dist="25400" dir="5400000" algn="bl" rotWithShape="0">
              <a:srgbClr val="000000">
                <a:alpha val="12000"/>
              </a:srgbClr>
            </a:outerShdw>
          </a:effectLst>
        </p:spPr>
        <p:txBody>
          <a:bodyPr/>
          <a:lstStyle/>
          <a:p>
            <a:endParaRPr lang="en-US"/>
          </a:p>
        </p:txBody>
      </p:sp>
      <p:sp>
        <p:nvSpPr>
          <p:cNvPr id="15" name="Text 13"/>
          <p:cNvSpPr txBox="1"/>
          <p:nvPr/>
        </p:nvSpPr>
        <p:spPr>
          <a:xfrm>
            <a:off x="3328416" y="1207008"/>
            <a:ext cx="1069848" cy="457200"/>
          </a:xfrm>
          <a:prstGeom prst="rect">
            <a:avLst/>
          </a:prstGeom>
          <a:noFill/>
          <a:ln/>
        </p:spPr>
        <p:txBody>
          <a:bodyPr wrap="square" lIns="0" tIns="0" rIns="0" bIns="0"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3  RL agent</a:t>
            </a:r>
            <a:endParaRPr lang="en-US" sz="1100" dirty="0"/>
          </a:p>
        </p:txBody>
      </p:sp>
      <p:sp>
        <p:nvSpPr>
          <p:cNvPr id="16" name="Text 14"/>
          <p:cNvSpPr txBox="1"/>
          <p:nvPr/>
        </p:nvSpPr>
        <p:spPr>
          <a:xfrm>
            <a:off x="3328416" y="1691640"/>
            <a:ext cx="1069848" cy="1097280"/>
          </a:xfrm>
          <a:prstGeom prst="rect">
            <a:avLst/>
          </a:prstGeom>
          <a:noFill/>
          <a:ln/>
        </p:spPr>
        <p:txBody>
          <a:bodyPr wrap="square" lIns="0" tIns="0" rIns="0" bIns="0" rtlCol="0" anchor="t"/>
          <a:lstStyle/>
          <a:p>
            <a:pPr marL="0" indent="0">
              <a:buNone/>
            </a:pPr>
            <a:r>
              <a:rPr lang="en-US" sz="1000" dirty="0">
                <a:solidFill>
                  <a:srgbClr val="E5E9F0"/>
                </a:solidFill>
                <a:latin typeface="Calibri" pitchFamily="34" charset="0"/>
                <a:ea typeface="Calibri" pitchFamily="34" charset="-122"/>
                <a:cs typeface="Calibri" pitchFamily="34" charset="-120"/>
              </a:rPr>
              <a:t>Actor network (256-256-128) picks the action</a:t>
            </a:r>
            <a:endParaRPr lang="en-US" sz="1000" dirty="0"/>
          </a:p>
        </p:txBody>
      </p:sp>
      <p:sp>
        <p:nvSpPr>
          <p:cNvPr id="17" name="Shape 15"/>
          <p:cNvSpPr/>
          <p:nvPr/>
        </p:nvSpPr>
        <p:spPr>
          <a:xfrm>
            <a:off x="4480560" y="1984248"/>
            <a:ext cx="164592" cy="0"/>
          </a:xfrm>
          <a:prstGeom prst="line">
            <a:avLst/>
          </a:prstGeom>
          <a:noFill/>
          <a:ln w="25400">
            <a:solidFill>
              <a:srgbClr val="F28C28"/>
            </a:solidFill>
            <a:prstDash val="solid"/>
            <a:tailEnd type="triangle"/>
          </a:ln>
        </p:spPr>
        <p:txBody>
          <a:bodyPr/>
          <a:lstStyle/>
          <a:p>
            <a:endParaRPr lang="en-US"/>
          </a:p>
        </p:txBody>
      </p:sp>
      <p:sp>
        <p:nvSpPr>
          <p:cNvPr id="18" name="Shape 16"/>
          <p:cNvSpPr/>
          <p:nvPr/>
        </p:nvSpPr>
        <p:spPr>
          <a:xfrm>
            <a:off x="4654296" y="1143000"/>
            <a:ext cx="1216152" cy="1691640"/>
          </a:xfrm>
          <a:prstGeom prst="roundRect">
            <a:avLst>
              <a:gd name="adj" fmla="val 6015"/>
            </a:avLst>
          </a:prstGeom>
          <a:solidFill>
            <a:srgbClr val="1F7AC0"/>
          </a:solidFill>
          <a:ln w="12700">
            <a:solidFill>
              <a:srgbClr val="1F7AC0"/>
            </a:solidFill>
            <a:prstDash val="solid"/>
          </a:ln>
          <a:effectLst>
            <a:outerShdw blurRad="76200" dist="25400" dir="5400000" algn="bl" rotWithShape="0">
              <a:srgbClr val="000000">
                <a:alpha val="12000"/>
              </a:srgbClr>
            </a:outerShdw>
          </a:effectLst>
        </p:spPr>
        <p:txBody>
          <a:bodyPr/>
          <a:lstStyle/>
          <a:p>
            <a:endParaRPr lang="en-US"/>
          </a:p>
        </p:txBody>
      </p:sp>
      <p:sp>
        <p:nvSpPr>
          <p:cNvPr id="19" name="Text 17"/>
          <p:cNvSpPr txBox="1"/>
          <p:nvPr/>
        </p:nvSpPr>
        <p:spPr>
          <a:xfrm>
            <a:off x="4727448" y="1207008"/>
            <a:ext cx="1069848" cy="457200"/>
          </a:xfrm>
          <a:prstGeom prst="rect">
            <a:avLst/>
          </a:prstGeom>
          <a:noFill/>
          <a:ln/>
        </p:spPr>
        <p:txBody>
          <a:bodyPr wrap="square" lIns="0" tIns="0" rIns="0" bIns="0"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4  Action a</a:t>
            </a:r>
            <a:r>
              <a:rPr lang="en-US" sz="1100" b="1" baseline="-40000" dirty="0">
                <a:solidFill>
                  <a:srgbClr val="FFFFFF"/>
                </a:solidFill>
                <a:latin typeface="Calibri" pitchFamily="34" charset="0"/>
                <a:ea typeface="Calibri" pitchFamily="34" charset="-122"/>
                <a:cs typeface="Calibri" pitchFamily="34" charset="-120"/>
              </a:rPr>
              <a:t>t</a:t>
            </a:r>
            <a:endParaRPr lang="en-US" sz="1100" dirty="0"/>
          </a:p>
        </p:txBody>
      </p:sp>
      <p:sp>
        <p:nvSpPr>
          <p:cNvPr id="20" name="Text 18"/>
          <p:cNvSpPr txBox="1"/>
          <p:nvPr/>
        </p:nvSpPr>
        <p:spPr>
          <a:xfrm>
            <a:off x="4727448" y="1691640"/>
            <a:ext cx="1069848" cy="1097280"/>
          </a:xfrm>
          <a:prstGeom prst="rect">
            <a:avLst/>
          </a:prstGeom>
          <a:noFill/>
          <a:ln/>
        </p:spPr>
        <p:txBody>
          <a:bodyPr wrap="square" lIns="0" tIns="0" rIns="0" bIns="0" rtlCol="0" anchor="t"/>
          <a:lstStyle/>
          <a:p>
            <a:pPr marL="0" indent="0">
              <a:buNone/>
            </a:pPr>
            <a:r>
              <a:rPr lang="en-US" sz="1000" dirty="0">
                <a:solidFill>
                  <a:srgbClr val="E5E9F0"/>
                </a:solidFill>
                <a:latin typeface="Calibri" pitchFamily="34" charset="0"/>
                <a:ea typeface="Calibri" pitchFamily="34" charset="-122"/>
                <a:cs typeface="Calibri" pitchFamily="34" charset="-120"/>
              </a:rPr>
              <a:t>12 target joint angles (continuous)</a:t>
            </a:r>
            <a:endParaRPr lang="en-US" sz="1000" dirty="0"/>
          </a:p>
        </p:txBody>
      </p:sp>
      <p:sp>
        <p:nvSpPr>
          <p:cNvPr id="21" name="Shape 19"/>
          <p:cNvSpPr/>
          <p:nvPr/>
        </p:nvSpPr>
        <p:spPr>
          <a:xfrm>
            <a:off x="5879592" y="1984248"/>
            <a:ext cx="164592" cy="0"/>
          </a:xfrm>
          <a:prstGeom prst="line">
            <a:avLst/>
          </a:prstGeom>
          <a:noFill/>
          <a:ln w="25400">
            <a:solidFill>
              <a:srgbClr val="F28C28"/>
            </a:solidFill>
            <a:prstDash val="solid"/>
            <a:tailEnd type="triangle"/>
          </a:ln>
        </p:spPr>
        <p:txBody>
          <a:bodyPr/>
          <a:lstStyle/>
          <a:p>
            <a:endParaRPr lang="en-US"/>
          </a:p>
        </p:txBody>
      </p:sp>
      <p:sp>
        <p:nvSpPr>
          <p:cNvPr id="22" name="Shape 20"/>
          <p:cNvSpPr/>
          <p:nvPr/>
        </p:nvSpPr>
        <p:spPr>
          <a:xfrm>
            <a:off x="6053328" y="1143000"/>
            <a:ext cx="1216152" cy="1691640"/>
          </a:xfrm>
          <a:prstGeom prst="roundRect">
            <a:avLst>
              <a:gd name="adj" fmla="val 6015"/>
            </a:avLst>
          </a:prstGeom>
          <a:solidFill>
            <a:srgbClr val="3B4252"/>
          </a:solidFill>
          <a:ln w="12700">
            <a:solidFill>
              <a:srgbClr val="3B4252"/>
            </a:solidFill>
            <a:prstDash val="solid"/>
          </a:ln>
          <a:effectLst>
            <a:outerShdw blurRad="76200" dist="25400" dir="5400000" algn="bl" rotWithShape="0">
              <a:srgbClr val="000000">
                <a:alpha val="12000"/>
              </a:srgbClr>
            </a:outerShdw>
          </a:effectLst>
        </p:spPr>
        <p:txBody>
          <a:bodyPr/>
          <a:lstStyle/>
          <a:p>
            <a:endParaRPr lang="en-US"/>
          </a:p>
        </p:txBody>
      </p:sp>
      <p:sp>
        <p:nvSpPr>
          <p:cNvPr id="23" name="Text 21"/>
          <p:cNvSpPr txBox="1"/>
          <p:nvPr/>
        </p:nvSpPr>
        <p:spPr>
          <a:xfrm>
            <a:off x="6126480" y="1207008"/>
            <a:ext cx="1069848" cy="457200"/>
          </a:xfrm>
          <a:prstGeom prst="rect">
            <a:avLst/>
          </a:prstGeom>
          <a:noFill/>
          <a:ln/>
        </p:spPr>
        <p:txBody>
          <a:bodyPr wrap="square" lIns="0" tIns="0" rIns="0" bIns="0"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5  Environment</a:t>
            </a:r>
            <a:endParaRPr lang="en-US" sz="1100" dirty="0"/>
          </a:p>
        </p:txBody>
      </p:sp>
      <p:sp>
        <p:nvSpPr>
          <p:cNvPr id="24" name="Text 22"/>
          <p:cNvSpPr txBox="1"/>
          <p:nvPr/>
        </p:nvSpPr>
        <p:spPr>
          <a:xfrm>
            <a:off x="6126480" y="1691640"/>
            <a:ext cx="1069848" cy="1097280"/>
          </a:xfrm>
          <a:prstGeom prst="rect">
            <a:avLst/>
          </a:prstGeom>
          <a:noFill/>
          <a:ln/>
        </p:spPr>
        <p:txBody>
          <a:bodyPr wrap="square" lIns="0" tIns="0" rIns="0" bIns="0" rtlCol="0" anchor="t"/>
          <a:lstStyle/>
          <a:p>
            <a:pPr marL="0" indent="0">
              <a:buNone/>
            </a:pPr>
            <a:r>
              <a:rPr lang="en-US" sz="1000" dirty="0">
                <a:solidFill>
                  <a:srgbClr val="E5E9F0"/>
                </a:solidFill>
                <a:latin typeface="Calibri" pitchFamily="34" charset="0"/>
                <a:ea typeface="Calibri" pitchFamily="34" charset="-122"/>
                <a:cs typeface="Calibri" pitchFamily="34" charset="-120"/>
              </a:rPr>
              <a:t>PD controller → motors → MuJoCo physics (4 sub-steps)</a:t>
            </a:r>
            <a:endParaRPr lang="en-US" sz="1000" dirty="0"/>
          </a:p>
        </p:txBody>
      </p:sp>
      <p:sp>
        <p:nvSpPr>
          <p:cNvPr id="25" name="Shape 23"/>
          <p:cNvSpPr/>
          <p:nvPr/>
        </p:nvSpPr>
        <p:spPr>
          <a:xfrm>
            <a:off x="7278624" y="1984248"/>
            <a:ext cx="164592" cy="0"/>
          </a:xfrm>
          <a:prstGeom prst="line">
            <a:avLst/>
          </a:prstGeom>
          <a:noFill/>
          <a:ln w="25400">
            <a:solidFill>
              <a:srgbClr val="F28C28"/>
            </a:solidFill>
            <a:prstDash val="solid"/>
            <a:tailEnd type="triangle"/>
          </a:ln>
        </p:spPr>
        <p:txBody>
          <a:bodyPr/>
          <a:lstStyle/>
          <a:p>
            <a:endParaRPr lang="en-US"/>
          </a:p>
        </p:txBody>
      </p:sp>
      <p:sp>
        <p:nvSpPr>
          <p:cNvPr id="26" name="Shape 24"/>
          <p:cNvSpPr/>
          <p:nvPr/>
        </p:nvSpPr>
        <p:spPr>
          <a:xfrm>
            <a:off x="7452360" y="1143000"/>
            <a:ext cx="1216152" cy="1691640"/>
          </a:xfrm>
          <a:prstGeom prst="roundRect">
            <a:avLst>
              <a:gd name="adj" fmla="val 6015"/>
            </a:avLst>
          </a:prstGeom>
          <a:solidFill>
            <a:srgbClr val="3B4252"/>
          </a:solidFill>
          <a:ln w="12700">
            <a:solidFill>
              <a:srgbClr val="3B4252"/>
            </a:solidFill>
            <a:prstDash val="solid"/>
          </a:ln>
          <a:effectLst>
            <a:outerShdw blurRad="76200" dist="25400" dir="5400000" algn="bl" rotWithShape="0">
              <a:srgbClr val="000000">
                <a:alpha val="12000"/>
              </a:srgbClr>
            </a:outerShdw>
          </a:effectLst>
        </p:spPr>
        <p:txBody>
          <a:bodyPr/>
          <a:lstStyle/>
          <a:p>
            <a:endParaRPr lang="en-US"/>
          </a:p>
        </p:txBody>
      </p:sp>
      <p:sp>
        <p:nvSpPr>
          <p:cNvPr id="27" name="Text 25"/>
          <p:cNvSpPr txBox="1"/>
          <p:nvPr/>
        </p:nvSpPr>
        <p:spPr>
          <a:xfrm>
            <a:off x="7525512" y="1207008"/>
            <a:ext cx="1069848" cy="457200"/>
          </a:xfrm>
          <a:prstGeom prst="rect">
            <a:avLst/>
          </a:prstGeom>
          <a:noFill/>
          <a:ln/>
        </p:spPr>
        <p:txBody>
          <a:bodyPr wrap="square" lIns="0" tIns="0" rIns="0" bIns="0"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6  Reward r</a:t>
            </a:r>
            <a:r>
              <a:rPr lang="en-US" sz="1100" b="1" baseline="-40000" dirty="0">
                <a:solidFill>
                  <a:srgbClr val="FFFFFF"/>
                </a:solidFill>
                <a:latin typeface="Calibri" pitchFamily="34" charset="0"/>
                <a:ea typeface="Calibri" pitchFamily="34" charset="-122"/>
                <a:cs typeface="Calibri" pitchFamily="34" charset="-120"/>
              </a:rPr>
              <a:t>t</a:t>
            </a:r>
            <a:endParaRPr lang="en-US" sz="1100" dirty="0"/>
          </a:p>
        </p:txBody>
      </p:sp>
      <p:sp>
        <p:nvSpPr>
          <p:cNvPr id="28" name="Text 26"/>
          <p:cNvSpPr txBox="1"/>
          <p:nvPr/>
        </p:nvSpPr>
        <p:spPr>
          <a:xfrm>
            <a:off x="7525512" y="1691640"/>
            <a:ext cx="1069848" cy="1097280"/>
          </a:xfrm>
          <a:prstGeom prst="rect">
            <a:avLst/>
          </a:prstGeom>
          <a:noFill/>
          <a:ln/>
        </p:spPr>
        <p:txBody>
          <a:bodyPr wrap="square" lIns="0" tIns="0" rIns="0" bIns="0" rtlCol="0" anchor="t"/>
          <a:lstStyle/>
          <a:p>
            <a:pPr marL="0" indent="0">
              <a:buNone/>
            </a:pPr>
            <a:r>
              <a:rPr lang="en-US" sz="1000" dirty="0">
                <a:solidFill>
                  <a:srgbClr val="E5E9F0"/>
                </a:solidFill>
                <a:latin typeface="Calibri" pitchFamily="34" charset="0"/>
                <a:ea typeface="Calibri" pitchFamily="34" charset="-122"/>
                <a:cs typeface="Calibri" pitchFamily="34" charset="-120"/>
              </a:rPr>
              <a:t>One score for this step, plus the next state s</a:t>
            </a:r>
            <a:r>
              <a:rPr lang="en-US" sz="1000" baseline="-40000" dirty="0">
                <a:solidFill>
                  <a:srgbClr val="E5E9F0"/>
                </a:solidFill>
                <a:latin typeface="Calibri" pitchFamily="34" charset="0"/>
                <a:ea typeface="Calibri" pitchFamily="34" charset="-122"/>
                <a:cs typeface="Calibri" pitchFamily="34" charset="-120"/>
              </a:rPr>
              <a:t>t+1</a:t>
            </a:r>
            <a:endParaRPr lang="en-US" sz="1000" dirty="0"/>
          </a:p>
        </p:txBody>
      </p:sp>
      <p:sp>
        <p:nvSpPr>
          <p:cNvPr id="29" name="Shape 27"/>
          <p:cNvSpPr/>
          <p:nvPr/>
        </p:nvSpPr>
        <p:spPr>
          <a:xfrm>
            <a:off x="8060436" y="2834640"/>
            <a:ext cx="0" cy="256032"/>
          </a:xfrm>
          <a:prstGeom prst="line">
            <a:avLst/>
          </a:prstGeom>
          <a:noFill/>
          <a:ln w="25400">
            <a:solidFill>
              <a:srgbClr val="F28C28"/>
            </a:solidFill>
            <a:prstDash val="solid"/>
          </a:ln>
        </p:spPr>
        <p:txBody>
          <a:bodyPr/>
          <a:lstStyle/>
          <a:p>
            <a:endParaRPr lang="en-US"/>
          </a:p>
        </p:txBody>
      </p:sp>
      <p:sp>
        <p:nvSpPr>
          <p:cNvPr id="30" name="Shape 28"/>
          <p:cNvSpPr/>
          <p:nvPr/>
        </p:nvSpPr>
        <p:spPr>
          <a:xfrm>
            <a:off x="1065276" y="3090672"/>
            <a:ext cx="6995160" cy="0"/>
          </a:xfrm>
          <a:prstGeom prst="line">
            <a:avLst/>
          </a:prstGeom>
          <a:noFill/>
          <a:ln w="25400">
            <a:solidFill>
              <a:srgbClr val="F28C28"/>
            </a:solidFill>
            <a:prstDash val="solid"/>
          </a:ln>
        </p:spPr>
        <p:txBody>
          <a:bodyPr/>
          <a:lstStyle/>
          <a:p>
            <a:endParaRPr lang="en-US"/>
          </a:p>
        </p:txBody>
      </p:sp>
      <p:sp>
        <p:nvSpPr>
          <p:cNvPr id="31" name="Shape 29"/>
          <p:cNvSpPr/>
          <p:nvPr/>
        </p:nvSpPr>
        <p:spPr>
          <a:xfrm flipV="1">
            <a:off x="1065276" y="2834640"/>
            <a:ext cx="0" cy="256032"/>
          </a:xfrm>
          <a:prstGeom prst="line">
            <a:avLst/>
          </a:prstGeom>
          <a:noFill/>
          <a:ln w="25400">
            <a:solidFill>
              <a:srgbClr val="F28C28"/>
            </a:solidFill>
            <a:prstDash val="solid"/>
            <a:headEnd type="triangle"/>
          </a:ln>
        </p:spPr>
        <p:txBody>
          <a:bodyPr/>
          <a:lstStyle/>
          <a:p>
            <a:endParaRPr lang="en-US"/>
          </a:p>
        </p:txBody>
      </p:sp>
      <p:sp>
        <p:nvSpPr>
          <p:cNvPr id="32" name="Text 30"/>
          <p:cNvSpPr txBox="1"/>
          <p:nvPr/>
        </p:nvSpPr>
        <p:spPr>
          <a:xfrm>
            <a:off x="2377440" y="2880360"/>
            <a:ext cx="4389120" cy="201168"/>
          </a:xfrm>
          <a:prstGeom prst="rect">
            <a:avLst/>
          </a:prstGeom>
          <a:noFill/>
          <a:ln/>
        </p:spPr>
        <p:txBody>
          <a:bodyPr wrap="square" lIns="0" tIns="0" rIns="0" bIns="0" rtlCol="0" anchor="ctr"/>
          <a:lstStyle/>
          <a:p>
            <a:pPr marL="0" indent="0" algn="ctr">
              <a:buNone/>
            </a:pPr>
            <a:r>
              <a:rPr lang="en-US" sz="950" i="1" dirty="0">
                <a:solidFill>
                  <a:srgbClr val="667085"/>
                </a:solidFill>
                <a:latin typeface="Calibri" pitchFamily="34" charset="0"/>
                <a:ea typeface="Calibri" pitchFamily="34" charset="-122"/>
                <a:cs typeface="Calibri" pitchFamily="34" charset="-120"/>
              </a:rPr>
              <a:t>next state feeds back → the loop repeats at every control step</a:t>
            </a:r>
            <a:endParaRPr lang="en-US" sz="950" dirty="0"/>
          </a:p>
        </p:txBody>
      </p:sp>
      <p:sp>
        <p:nvSpPr>
          <p:cNvPr id="33" name="Shape 31"/>
          <p:cNvSpPr/>
          <p:nvPr/>
        </p:nvSpPr>
        <p:spPr>
          <a:xfrm>
            <a:off x="457200" y="3383280"/>
            <a:ext cx="8229600" cy="777240"/>
          </a:xfrm>
          <a:prstGeom prst="roundRect">
            <a:avLst>
              <a:gd name="adj" fmla="val 9412"/>
            </a:avLst>
          </a:prstGeom>
          <a:solidFill>
            <a:srgbClr val="FFF1E0"/>
          </a:solidFill>
          <a:ln w="12700">
            <a:solidFill>
              <a:srgbClr val="FFF1E0"/>
            </a:solidFill>
            <a:prstDash val="solid"/>
          </a:ln>
        </p:spPr>
        <p:txBody>
          <a:bodyPr/>
          <a:lstStyle/>
          <a:p>
            <a:endParaRPr lang="en-US"/>
          </a:p>
        </p:txBody>
      </p:sp>
      <p:sp>
        <p:nvSpPr>
          <p:cNvPr id="34" name="Shape 32"/>
          <p:cNvSpPr/>
          <p:nvPr/>
        </p:nvSpPr>
        <p:spPr>
          <a:xfrm>
            <a:off x="594360" y="3584448"/>
            <a:ext cx="384048" cy="384048"/>
          </a:xfrm>
          <a:prstGeom prst="ellipse">
            <a:avLst/>
          </a:prstGeom>
          <a:solidFill>
            <a:srgbClr val="F28C28"/>
          </a:solidFill>
          <a:ln w="12700">
            <a:solidFill>
              <a:srgbClr val="F28C28"/>
            </a:solidFill>
            <a:prstDash val="solid"/>
          </a:ln>
        </p:spPr>
        <p:txBody>
          <a:bodyPr/>
          <a:lstStyle/>
          <a:p>
            <a:endParaRPr lang="en-US"/>
          </a:p>
        </p:txBody>
      </p:sp>
      <p:pic>
        <p:nvPicPr>
          <p:cNvPr id="35" name="Image 0" descr="preencoded.png"/>
          <p:cNvPicPr>
            <a:picLocks noChangeAspect="1"/>
          </p:cNvPicPr>
          <p:nvPr/>
        </p:nvPicPr>
        <p:blipFill>
          <a:blip r:embed="rId3"/>
          <a:stretch>
            <a:fillRect/>
          </a:stretch>
        </p:blipFill>
        <p:spPr>
          <a:xfrm>
            <a:off x="690372" y="3680460"/>
            <a:ext cx="192024" cy="192024"/>
          </a:xfrm>
          <a:prstGeom prst="rect">
            <a:avLst/>
          </a:prstGeom>
        </p:spPr>
      </p:pic>
      <p:sp>
        <p:nvSpPr>
          <p:cNvPr id="36" name="Text 33"/>
          <p:cNvSpPr txBox="1"/>
          <p:nvPr/>
        </p:nvSpPr>
        <p:spPr>
          <a:xfrm>
            <a:off x="1143000" y="3401568"/>
            <a:ext cx="7406640" cy="740664"/>
          </a:xfrm>
          <a:prstGeom prst="rect">
            <a:avLst/>
          </a:prstGeom>
          <a:noFill/>
          <a:ln/>
        </p:spPr>
        <p:txBody>
          <a:bodyPr wrap="square" lIns="0" tIns="0" rIns="0" bIns="0" rtlCol="0" anchor="ctr"/>
          <a:lstStyle/>
          <a:p>
            <a:pPr marL="0" indent="0">
              <a:buNone/>
            </a:pPr>
            <a:r>
              <a:rPr lang="en-US" sz="1100" b="1" dirty="0">
                <a:solidFill>
                  <a:srgbClr val="F28C28"/>
                </a:solidFill>
                <a:latin typeface="Calibri" pitchFamily="34" charset="0"/>
                <a:ea typeface="Calibri" pitchFamily="34" charset="-122"/>
                <a:cs typeface="Calibri" pitchFamily="34" charset="-120"/>
              </a:rPr>
              <a:t>Training only:  </a:t>
            </a:r>
            <a:r>
              <a:rPr lang="en-US" sz="1100" dirty="0">
                <a:solidFill>
                  <a:srgbClr val="2B3340"/>
                </a:solidFill>
                <a:latin typeface="Calibri" pitchFamily="34" charset="0"/>
                <a:ea typeface="Calibri" pitchFamily="34" charset="-122"/>
                <a:cs typeface="Calibri" pitchFamily="34" charset="-120"/>
              </a:rPr>
              <a:t>a Critic network (the "coach") scores every situation using extra privileged information such as foot contact and foot height. PPO compares what happened with the Critic’s guess and updates the Actor and the Critic after every batch of 24 steps.</a:t>
            </a:r>
            <a:endParaRPr lang="en-US" sz="1100" dirty="0"/>
          </a:p>
        </p:txBody>
      </p:sp>
      <p:sp>
        <p:nvSpPr>
          <p:cNvPr id="37" name="Shape 34"/>
          <p:cNvSpPr/>
          <p:nvPr/>
        </p:nvSpPr>
        <p:spPr>
          <a:xfrm>
            <a:off x="457200" y="4279392"/>
            <a:ext cx="8229600" cy="457200"/>
          </a:xfrm>
          <a:prstGeom prst="roundRect">
            <a:avLst>
              <a:gd name="adj" fmla="val 16000"/>
            </a:avLst>
          </a:prstGeom>
          <a:solidFill>
            <a:srgbClr val="FFF1E0"/>
          </a:solidFill>
          <a:ln w="12700">
            <a:solidFill>
              <a:srgbClr val="FFF1E0"/>
            </a:solidFill>
            <a:prstDash val="solid"/>
          </a:ln>
        </p:spPr>
        <p:txBody>
          <a:bodyPr/>
          <a:lstStyle/>
          <a:p>
            <a:endParaRPr lang="en-US"/>
          </a:p>
        </p:txBody>
      </p:sp>
      <p:pic>
        <p:nvPicPr>
          <p:cNvPr id="38" name="Image 1" descr="preencoded.png"/>
          <p:cNvPicPr>
            <a:picLocks noChangeAspect="1"/>
          </p:cNvPicPr>
          <p:nvPr/>
        </p:nvPicPr>
        <p:blipFill>
          <a:blip r:embed="rId4"/>
          <a:stretch>
            <a:fillRect/>
          </a:stretch>
        </p:blipFill>
        <p:spPr>
          <a:xfrm>
            <a:off x="585216" y="4389120"/>
            <a:ext cx="237744" cy="237744"/>
          </a:xfrm>
          <a:prstGeom prst="rect">
            <a:avLst/>
          </a:prstGeom>
        </p:spPr>
      </p:pic>
      <p:sp>
        <p:nvSpPr>
          <p:cNvPr id="39" name="Text 35"/>
          <p:cNvSpPr txBox="1"/>
          <p:nvPr/>
        </p:nvSpPr>
        <p:spPr>
          <a:xfrm>
            <a:off x="932688" y="4279392"/>
            <a:ext cx="7635240" cy="457200"/>
          </a:xfrm>
          <a:prstGeom prst="rect">
            <a:avLst/>
          </a:prstGeom>
          <a:noFill/>
          <a:ln/>
        </p:spPr>
        <p:txBody>
          <a:bodyPr wrap="square" lIns="0" tIns="0" rIns="0" bIns="0" rtlCol="0" anchor="ctr"/>
          <a:lstStyle/>
          <a:p>
            <a:pPr marL="0" indent="0">
              <a:buNone/>
            </a:pPr>
            <a:r>
              <a:rPr lang="en-US" sz="1150" b="1" dirty="0">
                <a:solidFill>
                  <a:srgbClr val="F28C28"/>
                </a:solidFill>
                <a:latin typeface="Calibri" pitchFamily="34" charset="0"/>
                <a:ea typeface="Calibri" pitchFamily="34" charset="-122"/>
                <a:cs typeface="Calibri" pitchFamily="34" charset="-120"/>
              </a:rPr>
              <a:t>In plain words:  </a:t>
            </a:r>
            <a:r>
              <a:rPr lang="en-US" sz="1150" dirty="0">
                <a:solidFill>
                  <a:srgbClr val="2B3340"/>
                </a:solidFill>
                <a:latin typeface="Calibri" pitchFamily="34" charset="0"/>
                <a:ea typeface="Calibri" pitchFamily="34" charset="-122"/>
                <a:cs typeface="Calibri" pitchFamily="34" charset="-120"/>
              </a:rPr>
              <a:t>Sensors go in, joint commands come out, the simulator says how well it went. This one loop is repeated millions of times.</a:t>
            </a:r>
            <a:endParaRPr lang="en-US" sz="1150" dirty="0"/>
          </a:p>
        </p:txBody>
      </p:sp>
      <p:sp>
        <p:nvSpPr>
          <p:cNvPr id="40"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50">
                <a:solidFill>
                  <a:srgbClr val="667085"/>
                </a:solidFill>
                <a:latin typeface="Calibri"/>
                <a:ea typeface="Calibri"/>
                <a:cs typeface="Calibri"/>
              </a:defRPr>
            </a:lvl1pPr>
          </a:lstStyle>
          <a:p>
            <a:pPr algn="r"/>
            <a:fld id="{F7021451-1387-4CA6-816F-3879F97B5CBC}" type="slidenum">
              <a:rPr lang="en-US" b="0"/>
              <a:t>6</a:t>
            </a:fld>
            <a:endParaRPr lang="en-US"/>
          </a:p>
        </p:txBody>
      </p:sp>
      <p:sp>
        <p:nvSpPr>
          <p:cNvPr id="44" name="Text 3">
            <a:extLst>
              <a:ext uri="{FF2B5EF4-FFF2-40B4-BE49-F238E27FC236}">
                <a16:creationId xmlns:a16="http://schemas.microsoft.com/office/drawing/2014/main" id="{67DD8B24-4986-4A5E-1F7E-93A5FBFA2B7B}"/>
              </a:ext>
            </a:extLst>
          </p:cNvPr>
          <p:cNvSpPr txBox="1"/>
          <p:nvPr/>
        </p:nvSpPr>
        <p:spPr>
          <a:xfrm>
            <a:off x="457200" y="4846320"/>
            <a:ext cx="4572000" cy="201168"/>
          </a:xfrm>
          <a:prstGeom prst="rect">
            <a:avLst/>
          </a:prstGeom>
          <a:noFill/>
          <a:ln/>
        </p:spPr>
        <p:txBody>
          <a:bodyPr wrap="square" lIns="0" tIns="0" rIns="0" bIns="0" rtlCol="0" anchor="ctr"/>
          <a:lstStyle/>
          <a:p>
            <a:pPr marL="0" indent="0">
              <a:buNone/>
            </a:pPr>
            <a:r>
              <a:rPr lang="en-US" sz="850" dirty="0">
                <a:solidFill>
                  <a:srgbClr val="667085"/>
                </a:solidFill>
                <a:latin typeface="Calibri" pitchFamily="34" charset="0"/>
                <a:ea typeface="Calibri" pitchFamily="34" charset="-122"/>
                <a:cs typeface="Calibri" pitchFamily="34" charset="-120"/>
              </a:rPr>
              <a:t>RL Mini-Project  ·  Biped walking</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457200" y="219456"/>
            <a:ext cx="2880360" cy="219456"/>
          </a:xfrm>
          <a:prstGeom prst="roundRect">
            <a:avLst>
              <a:gd name="adj" fmla="val 20833"/>
            </a:avLst>
          </a:prstGeom>
          <a:solidFill>
            <a:srgbClr val="E6F1FA"/>
          </a:solidFill>
          <a:ln w="12700">
            <a:solidFill>
              <a:srgbClr val="E6F1FA"/>
            </a:solidFill>
            <a:prstDash val="solid"/>
          </a:ln>
        </p:spPr>
        <p:txBody>
          <a:bodyPr/>
          <a:lstStyle/>
          <a:p>
            <a:endParaRPr lang="en-US"/>
          </a:p>
        </p:txBody>
      </p:sp>
      <p:sp>
        <p:nvSpPr>
          <p:cNvPr id="3" name="Text 1"/>
          <p:cNvSpPr txBox="1"/>
          <p:nvPr/>
        </p:nvSpPr>
        <p:spPr>
          <a:xfrm>
            <a:off x="457200" y="219456"/>
            <a:ext cx="2880360" cy="219456"/>
          </a:xfrm>
          <a:prstGeom prst="rect">
            <a:avLst/>
          </a:prstGeom>
          <a:noFill/>
          <a:ln/>
        </p:spPr>
        <p:txBody>
          <a:bodyPr wrap="square" lIns="0" tIns="0" rIns="0" bIns="0" rtlCol="0" anchor="ctr"/>
          <a:lstStyle/>
          <a:p>
            <a:pPr marL="0" indent="0" algn="ctr">
              <a:buNone/>
            </a:pPr>
            <a:r>
              <a:rPr lang="en-US" sz="850" b="1" kern="0" spc="100" dirty="0">
                <a:solidFill>
                  <a:srgbClr val="1F7AC0"/>
                </a:solidFill>
                <a:latin typeface="Calibri" pitchFamily="34" charset="0"/>
                <a:ea typeface="Calibri" pitchFamily="34" charset="-122"/>
                <a:cs typeface="Calibri" pitchFamily="34" charset="-120"/>
              </a:rPr>
              <a:t>PART I  ·  CO2  ·  WHAT THE AGENT SEES</a:t>
            </a:r>
            <a:endParaRPr lang="en-US" sz="850" dirty="0"/>
          </a:p>
        </p:txBody>
      </p:sp>
      <p:sp>
        <p:nvSpPr>
          <p:cNvPr id="4" name="Text 2"/>
          <p:cNvSpPr txBox="1"/>
          <p:nvPr/>
        </p:nvSpPr>
        <p:spPr>
          <a:xfrm>
            <a:off x="457200" y="475488"/>
            <a:ext cx="8229600" cy="502920"/>
          </a:xfrm>
          <a:prstGeom prst="rect">
            <a:avLst/>
          </a:prstGeom>
          <a:noFill/>
          <a:ln/>
        </p:spPr>
        <p:txBody>
          <a:bodyPr wrap="square" lIns="0" tIns="0" rIns="0" bIns="0" rtlCol="0" anchor="ctr"/>
          <a:lstStyle/>
          <a:p>
            <a:pPr marL="0" indent="0">
              <a:buNone/>
            </a:pPr>
            <a:r>
              <a:rPr lang="en-US" sz="2600" b="1" dirty="0">
                <a:solidFill>
                  <a:srgbClr val="2B3340"/>
                </a:solidFill>
                <a:latin typeface="Cambria" pitchFamily="34" charset="0"/>
                <a:ea typeface="Cambria" pitchFamily="34" charset="-122"/>
                <a:cs typeface="Cambria" pitchFamily="34" charset="-120"/>
              </a:rPr>
              <a:t>State Space</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5257800" cy="2756916"/>
        </p:xfrm>
        <a:graphic>
          <a:graphicData uri="http://schemas.openxmlformats.org/drawingml/2006/table">
            <a:tbl>
              <a:tblPr/>
              <a:tblGrid>
                <a:gridCol w="178308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0632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Variable</a:t>
                      </a:r>
                      <a:endParaRPr lang="en-US" sz="11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1F7AC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Size</a:t>
                      </a:r>
                      <a:endParaRPr lang="en-US" sz="11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1F7AC0"/>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1F7AC0"/>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Range</a:t>
                      </a:r>
                      <a:endParaRPr lang="en-US" sz="11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1F7AC0"/>
                    </a:solidFill>
                  </a:tcPr>
                </a:tc>
                <a:extLst>
                  <a:ext uri="{0D108BD9-81ED-4DB2-BD59-A6C34878D82A}">
                    <a16:rowId xmlns:a16="http://schemas.microsoft.com/office/drawing/2014/main" val="10000"/>
                  </a:ext>
                </a:extLst>
              </a:tr>
              <a:tr h="306324">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Velocity command (x, y, yaw)</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B3340"/>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requested speed and turn</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Vx up to 2.5 m/s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6324">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Base linear velocity</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ctr">
                        <a:buNone/>
                      </a:pPr>
                      <a:r>
                        <a:rPr lang="en-US" sz="1050" dirty="0">
                          <a:solidFill>
                            <a:srgbClr val="2B3340"/>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how fast the body moves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m/s, continuous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extLst>
                  <a:ext uri="{0D108BD9-81ED-4DB2-BD59-A6C34878D82A}">
                    <a16:rowId xmlns:a16="http://schemas.microsoft.com/office/drawing/2014/main" val="10002"/>
                  </a:ext>
                </a:extLst>
              </a:tr>
              <a:tr h="306324">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Base angular velocity</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B3340"/>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how fast the body rotates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rad/s, continuous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6324">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Projected gravity</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ctr">
                        <a:buNone/>
                      </a:pPr>
                      <a:r>
                        <a:rPr lang="en-US" sz="1050" dirty="0">
                          <a:solidFill>
                            <a:srgbClr val="2B3340"/>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which way is "down" (tilt)</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unit vector, −1 to 1</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extLst>
                  <a:ext uri="{0D108BD9-81ED-4DB2-BD59-A6C34878D82A}">
                    <a16:rowId xmlns:a16="http://schemas.microsoft.com/office/drawing/2014/main" val="10004"/>
                  </a:ext>
                </a:extLst>
              </a:tr>
              <a:tr h="306324">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Joint positions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B3340"/>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angle of each joint</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within joint limits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6324">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Joint velocities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ctr">
                        <a:buNone/>
                      </a:pPr>
                      <a:r>
                        <a:rPr lang="en-US" sz="1050" dirty="0">
                          <a:solidFill>
                            <a:srgbClr val="2B3340"/>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speed of each joint</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rad/s, continuous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extLst>
                  <a:ext uri="{0D108BD9-81ED-4DB2-BD59-A6C34878D82A}">
                    <a16:rowId xmlns:a16="http://schemas.microsoft.com/office/drawing/2014/main" val="10006"/>
                  </a:ext>
                </a:extLst>
              </a:tr>
              <a:tr h="306324">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Previous action</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B3340"/>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what we did last step</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same as action</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6324">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Total</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E6F1FA"/>
                    </a:solidFill>
                  </a:tcPr>
                </a:tc>
                <a:tc>
                  <a:txBody>
                    <a:bodyPr/>
                    <a:lstStyle/>
                    <a:p>
                      <a:pPr marL="0" indent="0" algn="ctr">
                        <a:buNone/>
                      </a:pPr>
                      <a:r>
                        <a:rPr lang="en-US" sz="1050" b="1" dirty="0">
                          <a:solidFill>
                            <a:srgbClr val="2B3340"/>
                          </a:solidFill>
                          <a:latin typeface="Calibri" pitchFamily="34" charset="0"/>
                          <a:ea typeface="Calibri" pitchFamily="34" charset="-122"/>
                          <a:cs typeface="Calibri" pitchFamily="34" charset="-120"/>
                        </a:rPr>
                        <a:t>48</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E6F1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12-joint model</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E6F1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all continuous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E6F1FA"/>
                    </a:solidFill>
                  </a:tcPr>
                </a:tc>
                <a:extLst>
                  <a:ext uri="{0D108BD9-81ED-4DB2-BD59-A6C34878D82A}">
                    <a16:rowId xmlns:a16="http://schemas.microsoft.com/office/drawing/2014/main" val="10008"/>
                  </a:ext>
                </a:extLst>
              </a:tr>
            </a:tbl>
          </a:graphicData>
        </a:graphic>
      </p:graphicFrame>
      <p:sp>
        <p:nvSpPr>
          <p:cNvPr id="7" name="Text 4"/>
          <p:cNvSpPr txBox="1"/>
          <p:nvPr/>
        </p:nvSpPr>
        <p:spPr>
          <a:xfrm>
            <a:off x="457200" y="3931920"/>
            <a:ext cx="5257800" cy="274320"/>
          </a:xfrm>
          <a:prstGeom prst="rect">
            <a:avLst/>
          </a:prstGeom>
          <a:noFill/>
          <a:ln/>
        </p:spPr>
        <p:txBody>
          <a:bodyPr wrap="square" lIns="0" tIns="0" rIns="0" bIns="0" rtlCol="0" anchor="ctr"/>
          <a:lstStyle/>
          <a:p>
            <a:pPr marL="0" indent="0">
              <a:buNone/>
            </a:pPr>
            <a:r>
              <a:rPr lang="en-US" sz="1050" i="1" dirty="0">
                <a:solidFill>
                  <a:srgbClr val="667085"/>
                </a:solidFill>
                <a:latin typeface="Calibri" pitchFamily="34" charset="0"/>
                <a:ea typeface="Calibri" pitchFamily="34" charset="-122"/>
                <a:cs typeface="Calibri" pitchFamily="34" charset="-120"/>
              </a:rPr>
              <a:t>All values are real numbers, so a neural network is used instead of a table.</a:t>
            </a:r>
            <a:endParaRPr lang="en-US" sz="1050" dirty="0"/>
          </a:p>
        </p:txBody>
      </p:sp>
      <p:sp>
        <p:nvSpPr>
          <p:cNvPr id="6" name="Shape 5"/>
          <p:cNvSpPr/>
          <p:nvPr/>
        </p:nvSpPr>
        <p:spPr>
          <a:xfrm>
            <a:off x="5897880" y="1097280"/>
            <a:ext cx="2788920" cy="1737360"/>
          </a:xfrm>
          <a:prstGeom prst="roundRect">
            <a:avLst>
              <a:gd name="adj" fmla="val 4211"/>
            </a:avLst>
          </a:prstGeom>
          <a:solidFill>
            <a:srgbClr val="2E3440"/>
          </a:solidFill>
          <a:ln w="12700">
            <a:solidFill>
              <a:srgbClr val="2E3440"/>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5989320" y="1143000"/>
            <a:ext cx="2651760" cy="228600"/>
          </a:xfrm>
          <a:prstGeom prst="rect">
            <a:avLst/>
          </a:prstGeom>
          <a:noFill/>
          <a:ln/>
        </p:spPr>
        <p:txBody>
          <a:bodyPr wrap="square" lIns="0" tIns="0" rIns="0" bIns="0" rtlCol="0" anchor="ctr"/>
          <a:lstStyle/>
          <a:p>
            <a:pPr marL="0" indent="0">
              <a:buNone/>
            </a:pPr>
            <a:r>
              <a:rPr lang="en-US" sz="900" b="1" kern="0" spc="100" dirty="0">
                <a:solidFill>
                  <a:srgbClr val="F28C28"/>
                </a:solidFill>
                <a:latin typeface="Calibri" pitchFamily="34" charset="0"/>
                <a:ea typeface="Calibri" pitchFamily="34" charset="-122"/>
                <a:cs typeface="Calibri" pitchFamily="34" charset="-120"/>
              </a:rPr>
              <a:t>EXAMPLE STATE  s_t  (illustrative)</a:t>
            </a:r>
            <a:endParaRPr lang="en-US" sz="900" dirty="0"/>
          </a:p>
        </p:txBody>
      </p:sp>
      <p:sp>
        <p:nvSpPr>
          <p:cNvPr id="10" name="Text 7"/>
          <p:cNvSpPr txBox="1"/>
          <p:nvPr/>
        </p:nvSpPr>
        <p:spPr>
          <a:xfrm>
            <a:off x="5989320" y="1389888"/>
            <a:ext cx="2651760" cy="1371600"/>
          </a:xfrm>
          <a:prstGeom prst="rect">
            <a:avLst/>
          </a:prstGeom>
          <a:noFill/>
          <a:ln/>
        </p:spPr>
        <p:txBody>
          <a:bodyPr wrap="square" lIns="0" tIns="0" rIns="0" bIns="0" rtlCol="0" anchor="t"/>
          <a:lstStyle/>
          <a:p>
            <a:pPr marL="0" indent="0">
              <a:spcAft>
                <a:spcPts val="200"/>
              </a:spcAft>
              <a:buNone/>
            </a:pPr>
            <a:r>
              <a:rPr lang="en-US" sz="900" dirty="0">
                <a:solidFill>
                  <a:srgbClr val="FFFFFF"/>
                </a:solidFill>
                <a:latin typeface="Courier New" pitchFamily="34" charset="0"/>
                <a:ea typeface="Courier New" pitchFamily="34" charset="-122"/>
                <a:cs typeface="Courier New" pitchFamily="34" charset="-120"/>
              </a:rPr>
              <a:t>command   = [1.00, 0.00, 0.00]</a:t>
            </a:r>
            <a:endParaRPr lang="en-US" sz="900" dirty="0"/>
          </a:p>
          <a:p>
            <a:pPr marL="0" indent="0">
              <a:spcAft>
                <a:spcPts val="200"/>
              </a:spcAft>
              <a:buNone/>
            </a:pPr>
            <a:r>
              <a:rPr lang="en-US" sz="900" dirty="0">
                <a:solidFill>
                  <a:srgbClr val="FFFFFF"/>
                </a:solidFill>
                <a:latin typeface="Courier New" pitchFamily="34" charset="0"/>
                <a:ea typeface="Courier New" pitchFamily="34" charset="-122"/>
                <a:cs typeface="Courier New" pitchFamily="34" charset="-120"/>
              </a:rPr>
              <a:t>lin vel   = [0.92, 0.01, -0.02]</a:t>
            </a:r>
            <a:endParaRPr lang="en-US" sz="900" dirty="0"/>
          </a:p>
          <a:p>
            <a:pPr marL="0" indent="0">
              <a:spcAft>
                <a:spcPts val="200"/>
              </a:spcAft>
              <a:buNone/>
            </a:pPr>
            <a:r>
              <a:rPr lang="en-US" sz="900" dirty="0">
                <a:solidFill>
                  <a:srgbClr val="FFFFFF"/>
                </a:solidFill>
                <a:latin typeface="Courier New" pitchFamily="34" charset="0"/>
                <a:ea typeface="Courier New" pitchFamily="34" charset="-122"/>
                <a:cs typeface="Courier New" pitchFamily="34" charset="-120"/>
              </a:rPr>
              <a:t>ang vel   = [0.01, -0.03, 0.02]</a:t>
            </a:r>
            <a:endParaRPr lang="en-US" sz="900" dirty="0"/>
          </a:p>
          <a:p>
            <a:pPr marL="0" indent="0">
              <a:spcAft>
                <a:spcPts val="200"/>
              </a:spcAft>
              <a:buNone/>
            </a:pPr>
            <a:r>
              <a:rPr lang="en-US" sz="900" dirty="0">
                <a:solidFill>
                  <a:srgbClr val="FFFFFF"/>
                </a:solidFill>
                <a:latin typeface="Courier New" pitchFamily="34" charset="0"/>
                <a:ea typeface="Courier New" pitchFamily="34" charset="-122"/>
                <a:cs typeface="Courier New" pitchFamily="34" charset="-120"/>
              </a:rPr>
              <a:t>gravity   = [0.03, -0.01, -0.99]</a:t>
            </a:r>
            <a:endParaRPr lang="en-US" sz="900" dirty="0"/>
          </a:p>
          <a:p>
            <a:pPr marL="0" indent="0">
              <a:spcAft>
                <a:spcPts val="200"/>
              </a:spcAft>
              <a:buNone/>
            </a:pPr>
            <a:r>
              <a:rPr lang="en-US" sz="900" dirty="0">
                <a:solidFill>
                  <a:srgbClr val="FFFFFF"/>
                </a:solidFill>
                <a:latin typeface="Courier New" pitchFamily="34" charset="0"/>
                <a:ea typeface="Courier New" pitchFamily="34" charset="-122"/>
                <a:cs typeface="Courier New" pitchFamily="34" charset="-120"/>
              </a:rPr>
              <a:t>joint pos = 12 angles (rad)</a:t>
            </a:r>
            <a:endParaRPr lang="en-US" sz="900" dirty="0"/>
          </a:p>
          <a:p>
            <a:pPr marL="0" indent="0">
              <a:spcAft>
                <a:spcPts val="200"/>
              </a:spcAft>
              <a:buNone/>
            </a:pPr>
            <a:r>
              <a:rPr lang="en-US" sz="900" dirty="0">
                <a:solidFill>
                  <a:srgbClr val="FFFFFF"/>
                </a:solidFill>
                <a:latin typeface="Courier New" pitchFamily="34" charset="0"/>
                <a:ea typeface="Courier New" pitchFamily="34" charset="-122"/>
                <a:cs typeface="Courier New" pitchFamily="34" charset="-120"/>
              </a:rPr>
              <a:t>joint vel = 12 speeds (rad/s)</a:t>
            </a:r>
            <a:endParaRPr lang="en-US" sz="900" dirty="0"/>
          </a:p>
          <a:p>
            <a:pPr marL="0" indent="0">
              <a:spcAft>
                <a:spcPts val="200"/>
              </a:spcAft>
              <a:buNone/>
            </a:pPr>
            <a:r>
              <a:rPr lang="en-US" sz="900" dirty="0">
                <a:solidFill>
                  <a:srgbClr val="FFFFFF"/>
                </a:solidFill>
                <a:latin typeface="Courier New" pitchFamily="34" charset="0"/>
                <a:ea typeface="Courier New" pitchFamily="34" charset="-122"/>
                <a:cs typeface="Courier New" pitchFamily="34" charset="-120"/>
              </a:rPr>
              <a:t>last act. = 12 values</a:t>
            </a:r>
            <a:endParaRPr lang="en-US" sz="900" dirty="0"/>
          </a:p>
        </p:txBody>
      </p:sp>
      <p:sp>
        <p:nvSpPr>
          <p:cNvPr id="11" name="Shape 8"/>
          <p:cNvSpPr/>
          <p:nvPr/>
        </p:nvSpPr>
        <p:spPr>
          <a:xfrm>
            <a:off x="5897880" y="2944368"/>
            <a:ext cx="2788920" cy="1216152"/>
          </a:xfrm>
          <a:prstGeom prst="roundRect">
            <a:avLst>
              <a:gd name="adj" fmla="val 6015"/>
            </a:avLst>
          </a:prstGeom>
          <a:solidFill>
            <a:srgbClr val="E6F1FA"/>
          </a:solidFill>
          <a:ln w="12700">
            <a:solidFill>
              <a:srgbClr val="E6F1FA"/>
            </a:solidFill>
            <a:prstDash val="solid"/>
          </a:ln>
        </p:spPr>
        <p:txBody>
          <a:bodyPr/>
          <a:lstStyle/>
          <a:p>
            <a:endParaRPr lang="en-US"/>
          </a:p>
        </p:txBody>
      </p:sp>
      <p:sp>
        <p:nvSpPr>
          <p:cNvPr id="12" name="Text 9"/>
          <p:cNvSpPr txBox="1"/>
          <p:nvPr/>
        </p:nvSpPr>
        <p:spPr>
          <a:xfrm>
            <a:off x="6007608" y="2971800"/>
            <a:ext cx="2587752" cy="1161288"/>
          </a:xfrm>
          <a:prstGeom prst="rect">
            <a:avLst/>
          </a:prstGeom>
          <a:noFill/>
          <a:ln/>
        </p:spPr>
        <p:txBody>
          <a:bodyPr wrap="square" lIns="0" tIns="0" rIns="0" bIns="0" rtlCol="0" anchor="ctr"/>
          <a:lstStyle/>
          <a:p>
            <a:pPr marL="0" indent="0">
              <a:spcAft>
                <a:spcPts val="300"/>
              </a:spcAft>
              <a:buNone/>
            </a:pPr>
            <a:r>
              <a:rPr lang="en-US" sz="1050" b="1" dirty="0">
                <a:solidFill>
                  <a:srgbClr val="1F7AC0"/>
                </a:solidFill>
                <a:latin typeface="Calibri" pitchFamily="34" charset="0"/>
                <a:ea typeface="Calibri" pitchFamily="34" charset="-122"/>
                <a:cs typeface="Calibri" pitchFamily="34" charset="-120"/>
              </a:rPr>
              <a:t>Observation vs state</a:t>
            </a:r>
            <a:endParaRPr lang="en-US" sz="1050" dirty="0"/>
          </a:p>
          <a:p>
            <a:pPr marL="0" indent="0">
              <a:spcAft>
                <a:spcPts val="300"/>
              </a:spcAft>
              <a:buNone/>
            </a:pPr>
            <a:r>
              <a:rPr lang="en-US" sz="1050" dirty="0">
                <a:solidFill>
                  <a:srgbClr val="2B3340"/>
                </a:solidFill>
                <a:latin typeface="Calibri" pitchFamily="34" charset="0"/>
                <a:ea typeface="Calibri" pitchFamily="34" charset="-122"/>
                <a:cs typeface="Calibri" pitchFamily="34" charset="-120"/>
              </a:rPr>
              <a:t>Actor sees the noisy sensor values above (observation). Critic also sees exact foot height, air-time, contact and forces (full state), used only in training.</a:t>
            </a:r>
            <a:endParaRPr lang="en-US" sz="1050" dirty="0"/>
          </a:p>
        </p:txBody>
      </p:sp>
      <p:sp>
        <p:nvSpPr>
          <p:cNvPr id="13" name="Shape 10"/>
          <p:cNvSpPr/>
          <p:nvPr/>
        </p:nvSpPr>
        <p:spPr>
          <a:xfrm>
            <a:off x="457200" y="4279392"/>
            <a:ext cx="8229600" cy="457200"/>
          </a:xfrm>
          <a:prstGeom prst="roundRect">
            <a:avLst>
              <a:gd name="adj" fmla="val 16000"/>
            </a:avLst>
          </a:prstGeom>
          <a:solidFill>
            <a:srgbClr val="FFF1E0"/>
          </a:solidFill>
          <a:ln w="12700">
            <a:solidFill>
              <a:srgbClr val="FFF1E0"/>
            </a:solidFill>
            <a:prstDash val="solid"/>
          </a:ln>
        </p:spPr>
        <p:txBody>
          <a:bodyPr/>
          <a:lstStyle/>
          <a:p>
            <a:endParaRPr lang="en-US"/>
          </a:p>
        </p:txBody>
      </p:sp>
      <p:pic>
        <p:nvPicPr>
          <p:cNvPr id="14" name="Image 0" descr="preencoded.png"/>
          <p:cNvPicPr>
            <a:picLocks noChangeAspect="1"/>
          </p:cNvPicPr>
          <p:nvPr/>
        </p:nvPicPr>
        <p:blipFill>
          <a:blip r:embed="rId3"/>
          <a:stretch>
            <a:fillRect/>
          </a:stretch>
        </p:blipFill>
        <p:spPr>
          <a:xfrm>
            <a:off x="585216" y="4389120"/>
            <a:ext cx="237744" cy="237744"/>
          </a:xfrm>
          <a:prstGeom prst="rect">
            <a:avLst/>
          </a:prstGeom>
        </p:spPr>
      </p:pic>
      <p:sp>
        <p:nvSpPr>
          <p:cNvPr id="15" name="Text 11"/>
          <p:cNvSpPr txBox="1"/>
          <p:nvPr/>
        </p:nvSpPr>
        <p:spPr>
          <a:xfrm>
            <a:off x="932688" y="4279392"/>
            <a:ext cx="7635240" cy="457200"/>
          </a:xfrm>
          <a:prstGeom prst="rect">
            <a:avLst/>
          </a:prstGeom>
          <a:noFill/>
          <a:ln/>
        </p:spPr>
        <p:txBody>
          <a:bodyPr wrap="square" lIns="0" tIns="0" rIns="0" bIns="0" rtlCol="0" anchor="ctr"/>
          <a:lstStyle/>
          <a:p>
            <a:pPr marL="0" indent="0">
              <a:buNone/>
            </a:pPr>
            <a:r>
              <a:rPr lang="en-US" sz="1150" b="1" dirty="0">
                <a:solidFill>
                  <a:srgbClr val="F28C28"/>
                </a:solidFill>
                <a:latin typeface="Calibri" pitchFamily="34" charset="0"/>
                <a:ea typeface="Calibri" pitchFamily="34" charset="-122"/>
                <a:cs typeface="Calibri" pitchFamily="34" charset="-120"/>
              </a:rPr>
              <a:t>In plain words:  </a:t>
            </a:r>
            <a:r>
              <a:rPr lang="en-US" sz="1150" dirty="0">
                <a:solidFill>
                  <a:srgbClr val="2B3340"/>
                </a:solidFill>
                <a:latin typeface="Calibri" pitchFamily="34" charset="0"/>
                <a:ea typeface="Calibri" pitchFamily="34" charset="-122"/>
                <a:cs typeface="Calibri" pitchFamily="34" charset="-120"/>
              </a:rPr>
              <a:t>The state is the robot’s "dashboard": what speed was asked, how it is moving, how tilted it is, and where every joint is.</a:t>
            </a:r>
            <a:endParaRPr lang="en-US" sz="115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50">
                <a:solidFill>
                  <a:srgbClr val="667085"/>
                </a:solidFill>
                <a:latin typeface="Calibri"/>
                <a:ea typeface="Calibri"/>
                <a:cs typeface="Calibri"/>
              </a:defRPr>
            </a:lvl1pPr>
          </a:lstStyle>
          <a:p>
            <a:pPr algn="r"/>
            <a:fld id="{F7021451-1387-4CA6-816F-3879F97B5CBC}" type="slidenum">
              <a:rPr lang="en-US" b="0"/>
              <a:t>7</a:t>
            </a:fld>
            <a:endParaRPr lang="en-US"/>
          </a:p>
        </p:txBody>
      </p:sp>
      <p:sp>
        <p:nvSpPr>
          <p:cNvPr id="17" name="Text 3">
            <a:extLst>
              <a:ext uri="{FF2B5EF4-FFF2-40B4-BE49-F238E27FC236}">
                <a16:creationId xmlns:a16="http://schemas.microsoft.com/office/drawing/2014/main" id="{71D5D662-B6B4-E77F-D59D-07A85EF9DA4E}"/>
              </a:ext>
            </a:extLst>
          </p:cNvPr>
          <p:cNvSpPr txBox="1"/>
          <p:nvPr/>
        </p:nvSpPr>
        <p:spPr>
          <a:xfrm>
            <a:off x="457200" y="4846320"/>
            <a:ext cx="4572000" cy="201168"/>
          </a:xfrm>
          <a:prstGeom prst="rect">
            <a:avLst/>
          </a:prstGeom>
          <a:noFill/>
          <a:ln/>
        </p:spPr>
        <p:txBody>
          <a:bodyPr wrap="square" lIns="0" tIns="0" rIns="0" bIns="0" rtlCol="0" anchor="ctr"/>
          <a:lstStyle/>
          <a:p>
            <a:pPr marL="0" indent="0">
              <a:buNone/>
            </a:pPr>
            <a:r>
              <a:rPr lang="en-US" sz="850" dirty="0">
                <a:solidFill>
                  <a:srgbClr val="667085"/>
                </a:solidFill>
                <a:latin typeface="Calibri" pitchFamily="34" charset="0"/>
                <a:ea typeface="Calibri" pitchFamily="34" charset="-122"/>
                <a:cs typeface="Calibri" pitchFamily="34" charset="-120"/>
              </a:rPr>
              <a:t>RL Mini-Project  ·  Biped walking</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457200" y="219456"/>
            <a:ext cx="2880360" cy="219456"/>
          </a:xfrm>
          <a:prstGeom prst="roundRect">
            <a:avLst>
              <a:gd name="adj" fmla="val 20833"/>
            </a:avLst>
          </a:prstGeom>
          <a:solidFill>
            <a:srgbClr val="E6F1FA"/>
          </a:solidFill>
          <a:ln w="12700">
            <a:solidFill>
              <a:srgbClr val="E6F1FA"/>
            </a:solidFill>
            <a:prstDash val="solid"/>
          </a:ln>
        </p:spPr>
        <p:txBody>
          <a:bodyPr/>
          <a:lstStyle/>
          <a:p>
            <a:endParaRPr lang="en-US"/>
          </a:p>
        </p:txBody>
      </p:sp>
      <p:sp>
        <p:nvSpPr>
          <p:cNvPr id="3" name="Text 1"/>
          <p:cNvSpPr txBox="1"/>
          <p:nvPr/>
        </p:nvSpPr>
        <p:spPr>
          <a:xfrm>
            <a:off x="457200" y="219456"/>
            <a:ext cx="2880360" cy="219456"/>
          </a:xfrm>
          <a:prstGeom prst="rect">
            <a:avLst/>
          </a:prstGeom>
          <a:noFill/>
          <a:ln/>
        </p:spPr>
        <p:txBody>
          <a:bodyPr wrap="square" lIns="0" tIns="0" rIns="0" bIns="0" rtlCol="0" anchor="ctr"/>
          <a:lstStyle/>
          <a:p>
            <a:pPr marL="0" indent="0" algn="ctr">
              <a:buNone/>
            </a:pPr>
            <a:r>
              <a:rPr lang="en-US" sz="850" b="1" kern="0" spc="100" dirty="0">
                <a:solidFill>
                  <a:srgbClr val="1F7AC0"/>
                </a:solidFill>
                <a:latin typeface="Calibri" pitchFamily="34" charset="0"/>
                <a:ea typeface="Calibri" pitchFamily="34" charset="-122"/>
                <a:cs typeface="Calibri" pitchFamily="34" charset="-120"/>
              </a:rPr>
              <a:t>PART I  ·  CO2  ·  WHAT THE AGENT DOES</a:t>
            </a:r>
            <a:endParaRPr lang="en-US" sz="850" dirty="0"/>
          </a:p>
        </p:txBody>
      </p:sp>
      <p:sp>
        <p:nvSpPr>
          <p:cNvPr id="4" name="Text 2"/>
          <p:cNvSpPr txBox="1"/>
          <p:nvPr/>
        </p:nvSpPr>
        <p:spPr>
          <a:xfrm>
            <a:off x="457200" y="475488"/>
            <a:ext cx="8229600" cy="502920"/>
          </a:xfrm>
          <a:prstGeom prst="rect">
            <a:avLst/>
          </a:prstGeom>
          <a:noFill/>
          <a:ln/>
        </p:spPr>
        <p:txBody>
          <a:bodyPr wrap="square" lIns="0" tIns="0" rIns="0" bIns="0" rtlCol="0" anchor="ctr"/>
          <a:lstStyle/>
          <a:p>
            <a:pPr marL="0" indent="0">
              <a:buNone/>
            </a:pPr>
            <a:r>
              <a:rPr lang="en-US" sz="2600" b="1" dirty="0">
                <a:solidFill>
                  <a:srgbClr val="2B3340"/>
                </a:solidFill>
                <a:latin typeface="Cambria" pitchFamily="34" charset="0"/>
                <a:ea typeface="Cambria" pitchFamily="34" charset="-122"/>
                <a:cs typeface="Cambria" pitchFamily="34" charset="-120"/>
              </a:rPr>
              <a:t>Action Space</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5532120" cy="2272284"/>
        </p:xfrm>
        <a:graphic>
          <a:graphicData uri="http://schemas.openxmlformats.org/drawingml/2006/table">
            <a:tbl>
              <a:tblPr/>
              <a:tblGrid>
                <a:gridCol w="132588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tblGrid>
              <a:tr h="324612">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Joint (left + right)</a:t>
                      </a:r>
                      <a:endParaRPr lang="en-US" sz="11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1F7AC0"/>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1F7AC0"/>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Range</a:t>
                      </a:r>
                      <a:endParaRPr lang="en-US" sz="11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1F7AC0"/>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Motor · torque limit</a:t>
                      </a:r>
                      <a:endParaRPr lang="en-US" sz="11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1F7AC0"/>
                    </a:solidFill>
                  </a:tcPr>
                </a:tc>
                <a:extLst>
                  <a:ext uri="{0D108BD9-81ED-4DB2-BD59-A6C34878D82A}">
                    <a16:rowId xmlns:a16="http://schemas.microsoft.com/office/drawing/2014/main" val="10000"/>
                  </a:ext>
                </a:extLst>
              </a:tr>
              <a:tr h="324612">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Hip pitch × 2</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swings the leg forward / back</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±150°</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QDD O120 · 120 N·m</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4612">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Hip roll × 2</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moves the leg sideways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−120° to 20° *</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QDD O120 · 120 N·m</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extLst>
                  <a:ext uri="{0D108BD9-81ED-4DB2-BD59-A6C34878D82A}">
                    <a16:rowId xmlns:a16="http://schemas.microsoft.com/office/drawing/2014/main" val="10002"/>
                  </a:ext>
                </a:extLst>
              </a:tr>
              <a:tr h="324612">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Hip yaw × 2</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twists the leg left / right</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±60°</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QDD O120 · 120 N·m</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4612">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Knee × 2</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bends the leg</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0° to 130°</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QDD O120 · 120 N·m</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extLst>
                  <a:ext uri="{0D108BD9-81ED-4DB2-BD59-A6C34878D82A}">
                    <a16:rowId xmlns:a16="http://schemas.microsoft.com/office/drawing/2014/main" val="10004"/>
                  </a:ext>
                </a:extLst>
              </a:tr>
              <a:tr h="324612">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Ankle pitch × 2</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tips the foot up / down</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−30° to 27°</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QDD 34 · 34 N·m</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4612">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Ankle roll × 2</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tilts the foot sideways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±17°</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QDD 34 · 34 N·m</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extLst>
                  <a:ext uri="{0D108BD9-81ED-4DB2-BD59-A6C34878D82A}">
                    <a16:rowId xmlns:a16="http://schemas.microsoft.com/office/drawing/2014/main" val="10006"/>
                  </a:ext>
                </a:extLst>
              </a:tr>
            </a:tbl>
          </a:graphicData>
        </a:graphic>
      </p:graphicFrame>
      <p:sp>
        <p:nvSpPr>
          <p:cNvPr id="7" name="Text 4"/>
          <p:cNvSpPr txBox="1"/>
          <p:nvPr/>
        </p:nvSpPr>
        <p:spPr>
          <a:xfrm>
            <a:off x="457200" y="3401568"/>
            <a:ext cx="5532120" cy="182880"/>
          </a:xfrm>
          <a:prstGeom prst="rect">
            <a:avLst/>
          </a:prstGeom>
          <a:noFill/>
          <a:ln/>
        </p:spPr>
        <p:txBody>
          <a:bodyPr wrap="square" lIns="0" tIns="0" rIns="0" bIns="0" rtlCol="0" anchor="ctr"/>
          <a:lstStyle/>
          <a:p>
            <a:pPr marL="0" indent="0">
              <a:buNone/>
            </a:pPr>
            <a:r>
              <a:rPr lang="en-US" sz="900" i="1" dirty="0">
                <a:solidFill>
                  <a:srgbClr val="667085"/>
                </a:solidFill>
                <a:latin typeface="Calibri" pitchFamily="34" charset="0"/>
                <a:ea typeface="Calibri" pitchFamily="34" charset="-122"/>
                <a:cs typeface="Calibri" pitchFamily="34" charset="-120"/>
              </a:rPr>
              <a:t>* left leg is mirrored</a:t>
            </a:r>
            <a:endParaRPr lang="en-US" sz="900" dirty="0"/>
          </a:p>
        </p:txBody>
      </p:sp>
      <p:sp>
        <p:nvSpPr>
          <p:cNvPr id="8" name="Shape 5"/>
          <p:cNvSpPr/>
          <p:nvPr/>
        </p:nvSpPr>
        <p:spPr>
          <a:xfrm>
            <a:off x="457200" y="3657600"/>
            <a:ext cx="5532120" cy="502920"/>
          </a:xfrm>
          <a:prstGeom prst="roundRect">
            <a:avLst>
              <a:gd name="adj" fmla="val 14545"/>
            </a:avLst>
          </a:prstGeom>
          <a:solidFill>
            <a:srgbClr val="E6F1FA"/>
          </a:solidFill>
          <a:ln w="12700">
            <a:solidFill>
              <a:srgbClr val="E6F1FA"/>
            </a:solidFill>
            <a:prstDash val="solid"/>
          </a:ln>
        </p:spPr>
        <p:txBody>
          <a:bodyPr/>
          <a:lstStyle/>
          <a:p>
            <a:endParaRPr lang="en-US"/>
          </a:p>
        </p:txBody>
      </p:sp>
      <p:sp>
        <p:nvSpPr>
          <p:cNvPr id="6" name="Text 6"/>
          <p:cNvSpPr txBox="1"/>
          <p:nvPr/>
        </p:nvSpPr>
        <p:spPr>
          <a:xfrm>
            <a:off x="594360" y="3657600"/>
            <a:ext cx="5303520" cy="502920"/>
          </a:xfrm>
          <a:prstGeom prst="rect">
            <a:avLst/>
          </a:prstGeom>
          <a:noFill/>
          <a:ln/>
        </p:spPr>
        <p:txBody>
          <a:bodyPr wrap="square" lIns="0" tIns="0" rIns="0" bIns="0" rtlCol="0" anchor="ctr"/>
          <a:lstStyle/>
          <a:p>
            <a:pPr marL="0" indent="0">
              <a:buNone/>
            </a:pPr>
            <a:r>
              <a:rPr lang="en-US" sz="1150" b="1" dirty="0">
                <a:solidFill>
                  <a:srgbClr val="1F7AC0"/>
                </a:solidFill>
                <a:latin typeface="Calibri" pitchFamily="34" charset="0"/>
                <a:ea typeface="Calibri" pitchFamily="34" charset="-122"/>
                <a:cs typeface="Calibri" pitchFamily="34" charset="-120"/>
              </a:rPr>
              <a:t>Continuous actions: </a:t>
            </a:r>
            <a:r>
              <a:rPr lang="en-US" sz="1150" dirty="0">
                <a:solidFill>
                  <a:srgbClr val="2B3340"/>
                </a:solidFill>
                <a:latin typeface="Calibri" pitchFamily="34" charset="0"/>
                <a:ea typeface="Calibri" pitchFamily="34" charset="-122"/>
                <a:cs typeface="Calibri" pitchFamily="34" charset="-120"/>
              </a:rPr>
              <a:t>each action is a real number, not a menu of choices like {left, right}.</a:t>
            </a:r>
            <a:endParaRPr lang="en-US" sz="1150" dirty="0"/>
          </a:p>
        </p:txBody>
      </p:sp>
      <p:sp>
        <p:nvSpPr>
          <p:cNvPr id="10" name="Shape 7"/>
          <p:cNvSpPr/>
          <p:nvPr/>
        </p:nvSpPr>
        <p:spPr>
          <a:xfrm>
            <a:off x="6172200" y="1097280"/>
            <a:ext cx="2514600" cy="868680"/>
          </a:xfrm>
          <a:prstGeom prst="roundRect">
            <a:avLst>
              <a:gd name="adj" fmla="val 8421"/>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11" name="Text 8"/>
          <p:cNvSpPr txBox="1"/>
          <p:nvPr/>
        </p:nvSpPr>
        <p:spPr>
          <a:xfrm>
            <a:off x="6263640" y="1115568"/>
            <a:ext cx="914400" cy="822960"/>
          </a:xfrm>
          <a:prstGeom prst="rect">
            <a:avLst/>
          </a:prstGeom>
          <a:noFill/>
          <a:ln/>
        </p:spPr>
        <p:txBody>
          <a:bodyPr wrap="square" lIns="0" tIns="0" rIns="0" bIns="0" rtlCol="0" anchor="ctr"/>
          <a:lstStyle/>
          <a:p>
            <a:pPr marL="0" indent="0">
              <a:buNone/>
            </a:pPr>
            <a:r>
              <a:rPr lang="en-US" sz="4400" b="1" dirty="0">
                <a:solidFill>
                  <a:srgbClr val="1F7AC0"/>
                </a:solidFill>
                <a:latin typeface="Cambria" pitchFamily="34" charset="0"/>
                <a:ea typeface="Cambria" pitchFamily="34" charset="-122"/>
                <a:cs typeface="Cambria" pitchFamily="34" charset="-120"/>
              </a:rPr>
              <a:t>12</a:t>
            </a:r>
            <a:endParaRPr lang="en-US" sz="4400" dirty="0"/>
          </a:p>
        </p:txBody>
      </p:sp>
      <p:sp>
        <p:nvSpPr>
          <p:cNvPr id="12" name="Text 9"/>
          <p:cNvSpPr txBox="1"/>
          <p:nvPr/>
        </p:nvSpPr>
        <p:spPr>
          <a:xfrm>
            <a:off x="7086600" y="1115568"/>
            <a:ext cx="1554480" cy="822960"/>
          </a:xfrm>
          <a:prstGeom prst="rect">
            <a:avLst/>
          </a:prstGeom>
          <a:noFill/>
          <a:ln/>
        </p:spPr>
        <p:txBody>
          <a:bodyPr wrap="square" lIns="0" tIns="0" rIns="0" bIns="0" rtlCol="0" anchor="ctr"/>
          <a:lstStyle/>
          <a:p>
            <a:pPr marL="0" indent="0">
              <a:buNone/>
            </a:pPr>
            <a:r>
              <a:rPr lang="en-US" sz="1100" dirty="0">
                <a:solidFill>
                  <a:srgbClr val="2B3340"/>
                </a:solidFill>
                <a:latin typeface="Calibri" pitchFamily="34" charset="0"/>
                <a:ea typeface="Calibri" pitchFamily="34" charset="-122"/>
                <a:cs typeface="Calibri" pitchFamily="34" charset="-120"/>
              </a:rPr>
              <a:t>continuous actions per step (one per joint)</a:t>
            </a:r>
            <a:endParaRPr lang="en-US" sz="1100" dirty="0"/>
          </a:p>
        </p:txBody>
      </p:sp>
      <p:sp>
        <p:nvSpPr>
          <p:cNvPr id="13" name="Shape 10"/>
          <p:cNvSpPr/>
          <p:nvPr/>
        </p:nvSpPr>
        <p:spPr>
          <a:xfrm>
            <a:off x="6172200" y="2121408"/>
            <a:ext cx="2514600" cy="548640"/>
          </a:xfrm>
          <a:prstGeom prst="roundRect">
            <a:avLst>
              <a:gd name="adj" fmla="val 1333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14" name="Text 11"/>
          <p:cNvSpPr txBox="1"/>
          <p:nvPr/>
        </p:nvSpPr>
        <p:spPr>
          <a:xfrm>
            <a:off x="6263640" y="2139696"/>
            <a:ext cx="2331720" cy="512064"/>
          </a:xfrm>
          <a:prstGeom prst="rect">
            <a:avLst/>
          </a:prstGeom>
          <a:noFill/>
          <a:ln/>
        </p:spPr>
        <p:txBody>
          <a:bodyPr wrap="square" lIns="0" tIns="0" rIns="0" bIns="0" rtlCol="0" anchor="ctr"/>
          <a:lstStyle/>
          <a:p>
            <a:pPr marL="0" indent="0">
              <a:buNone/>
            </a:pPr>
            <a:r>
              <a:rPr lang="en-US" sz="1100" b="1" dirty="0">
                <a:solidFill>
                  <a:srgbClr val="1F7AC0"/>
                </a:solidFill>
                <a:latin typeface="Calibri" pitchFamily="34" charset="0"/>
                <a:ea typeface="Calibri" pitchFamily="34" charset="-122"/>
                <a:cs typeface="Calibri" pitchFamily="34" charset="-120"/>
              </a:rPr>
              <a:t>Actor output</a:t>
            </a:r>
            <a:endParaRPr lang="en-US" sz="1100" dirty="0"/>
          </a:p>
          <a:p>
            <a:pPr marL="0" indent="0">
              <a:buNone/>
            </a:pPr>
            <a:r>
              <a:rPr lang="en-US" sz="1100" dirty="0">
                <a:solidFill>
                  <a:srgbClr val="2B3340"/>
                </a:solidFill>
                <a:latin typeface="Calibri" pitchFamily="34" charset="0"/>
                <a:ea typeface="Calibri" pitchFamily="34" charset="-122"/>
                <a:cs typeface="Calibri" pitchFamily="34" charset="-120"/>
              </a:rPr>
              <a:t>a</a:t>
            </a:r>
            <a:r>
              <a:rPr lang="en-US" sz="1100" baseline="-40000" dirty="0">
                <a:solidFill>
                  <a:srgbClr val="2B3340"/>
                </a:solidFill>
                <a:latin typeface="Calibri" pitchFamily="34" charset="0"/>
                <a:ea typeface="Calibri" pitchFamily="34" charset="-122"/>
                <a:cs typeface="Calibri" pitchFamily="34" charset="-120"/>
              </a:rPr>
              <a:t>t</a:t>
            </a:r>
            <a:r>
              <a:rPr lang="en-US" sz="1100" dirty="0">
                <a:solidFill>
                  <a:srgbClr val="2B3340"/>
                </a:solidFill>
                <a:latin typeface="Calibri" pitchFamily="34" charset="0"/>
                <a:ea typeface="Calibri" pitchFamily="34" charset="-122"/>
                <a:cs typeface="Calibri" pitchFamily="34" charset="-120"/>
              </a:rPr>
              <a:t>: 12 numbers</a:t>
            </a:r>
            <a:endParaRPr lang="en-US" sz="1100" dirty="0"/>
          </a:p>
        </p:txBody>
      </p:sp>
      <p:sp>
        <p:nvSpPr>
          <p:cNvPr id="15" name="Shape 12"/>
          <p:cNvSpPr/>
          <p:nvPr/>
        </p:nvSpPr>
        <p:spPr>
          <a:xfrm>
            <a:off x="7429500" y="2670048"/>
            <a:ext cx="0" cy="164592"/>
          </a:xfrm>
          <a:prstGeom prst="line">
            <a:avLst/>
          </a:prstGeom>
          <a:noFill/>
          <a:ln w="19050">
            <a:solidFill>
              <a:srgbClr val="667085"/>
            </a:solidFill>
            <a:prstDash val="solid"/>
            <a:tailEnd type="triangle"/>
          </a:ln>
        </p:spPr>
        <p:txBody>
          <a:bodyPr/>
          <a:lstStyle/>
          <a:p>
            <a:endParaRPr lang="en-US"/>
          </a:p>
        </p:txBody>
      </p:sp>
      <p:sp>
        <p:nvSpPr>
          <p:cNvPr id="16" name="Shape 13"/>
          <p:cNvSpPr/>
          <p:nvPr/>
        </p:nvSpPr>
        <p:spPr>
          <a:xfrm>
            <a:off x="6172200" y="2834640"/>
            <a:ext cx="2514600" cy="548640"/>
          </a:xfrm>
          <a:prstGeom prst="roundRect">
            <a:avLst>
              <a:gd name="adj" fmla="val 13333"/>
            </a:avLst>
          </a:prstGeom>
          <a:solidFill>
            <a:srgbClr val="FFF1E0"/>
          </a:solidFill>
          <a:ln w="12700">
            <a:solidFill>
              <a:srgbClr val="FFF1E0"/>
            </a:solidFill>
            <a:prstDash val="solid"/>
          </a:ln>
        </p:spPr>
        <p:txBody>
          <a:bodyPr/>
          <a:lstStyle/>
          <a:p>
            <a:endParaRPr lang="en-US"/>
          </a:p>
        </p:txBody>
      </p:sp>
      <p:sp>
        <p:nvSpPr>
          <p:cNvPr id="17" name="Text 14"/>
          <p:cNvSpPr txBox="1"/>
          <p:nvPr/>
        </p:nvSpPr>
        <p:spPr>
          <a:xfrm>
            <a:off x="6263640" y="2852928"/>
            <a:ext cx="2331720" cy="512064"/>
          </a:xfrm>
          <a:prstGeom prst="rect">
            <a:avLst/>
          </a:prstGeom>
          <a:noFill/>
          <a:ln/>
        </p:spPr>
        <p:txBody>
          <a:bodyPr wrap="square" lIns="0" tIns="0" rIns="0" bIns="0" rtlCol="0" anchor="ctr"/>
          <a:lstStyle/>
          <a:p>
            <a:pPr marL="0" indent="0">
              <a:buNone/>
            </a:pPr>
            <a:r>
              <a:rPr lang="en-US" sz="1100" b="1" dirty="0">
                <a:solidFill>
                  <a:srgbClr val="F28C28"/>
                </a:solidFill>
                <a:latin typeface="Calibri" pitchFamily="34" charset="0"/>
                <a:ea typeface="Calibri" pitchFamily="34" charset="-122"/>
                <a:cs typeface="Calibri" pitchFamily="34" charset="-120"/>
              </a:rPr>
              <a:t>Target angle</a:t>
            </a:r>
            <a:endParaRPr lang="en-US" sz="1100" dirty="0"/>
          </a:p>
          <a:p>
            <a:pPr marL="0" indent="0">
              <a:buNone/>
            </a:pPr>
            <a:r>
              <a:rPr lang="en-US" sz="1100" dirty="0">
                <a:solidFill>
                  <a:srgbClr val="2B3340"/>
                </a:solidFill>
                <a:latin typeface="Calibri" pitchFamily="34" charset="0"/>
                <a:ea typeface="Calibri" pitchFamily="34" charset="-122"/>
                <a:cs typeface="Calibri" pitchFamily="34" charset="-120"/>
              </a:rPr>
              <a:t>default pose + a</a:t>
            </a:r>
            <a:r>
              <a:rPr lang="en-US" sz="1100" baseline="-40000" dirty="0">
                <a:solidFill>
                  <a:srgbClr val="2B3340"/>
                </a:solidFill>
                <a:latin typeface="Calibri" pitchFamily="34" charset="0"/>
                <a:ea typeface="Calibri" pitchFamily="34" charset="-122"/>
                <a:cs typeface="Calibri" pitchFamily="34" charset="-120"/>
              </a:rPr>
              <a:t>t</a:t>
            </a:r>
            <a:r>
              <a:rPr lang="en-US" sz="1100" dirty="0">
                <a:solidFill>
                  <a:srgbClr val="2B3340"/>
                </a:solidFill>
                <a:latin typeface="Calibri" pitchFamily="34" charset="0"/>
                <a:ea typeface="Calibri" pitchFamily="34" charset="-122"/>
                <a:cs typeface="Calibri" pitchFamily="34" charset="-120"/>
              </a:rPr>
              <a:t> × scale</a:t>
            </a:r>
            <a:endParaRPr lang="en-US" sz="1100" dirty="0"/>
          </a:p>
        </p:txBody>
      </p:sp>
      <p:sp>
        <p:nvSpPr>
          <p:cNvPr id="18" name="Shape 15"/>
          <p:cNvSpPr/>
          <p:nvPr/>
        </p:nvSpPr>
        <p:spPr>
          <a:xfrm>
            <a:off x="7429500" y="3383280"/>
            <a:ext cx="0" cy="164592"/>
          </a:xfrm>
          <a:prstGeom prst="line">
            <a:avLst/>
          </a:prstGeom>
          <a:noFill/>
          <a:ln w="19050">
            <a:solidFill>
              <a:srgbClr val="667085"/>
            </a:solidFill>
            <a:prstDash val="solid"/>
            <a:tailEnd type="triangle"/>
          </a:ln>
        </p:spPr>
        <p:txBody>
          <a:bodyPr/>
          <a:lstStyle/>
          <a:p>
            <a:endParaRPr lang="en-US"/>
          </a:p>
        </p:txBody>
      </p:sp>
      <p:sp>
        <p:nvSpPr>
          <p:cNvPr id="19" name="Shape 16"/>
          <p:cNvSpPr/>
          <p:nvPr/>
        </p:nvSpPr>
        <p:spPr>
          <a:xfrm>
            <a:off x="6172200" y="3547872"/>
            <a:ext cx="2514600" cy="548640"/>
          </a:xfrm>
          <a:prstGeom prst="roundRect">
            <a:avLst>
              <a:gd name="adj" fmla="val 1333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20" name="Text 17"/>
          <p:cNvSpPr txBox="1"/>
          <p:nvPr/>
        </p:nvSpPr>
        <p:spPr>
          <a:xfrm>
            <a:off x="6263640" y="3566160"/>
            <a:ext cx="2331720" cy="512064"/>
          </a:xfrm>
          <a:prstGeom prst="rect">
            <a:avLst/>
          </a:prstGeom>
          <a:noFill/>
          <a:ln/>
        </p:spPr>
        <p:txBody>
          <a:bodyPr wrap="square" lIns="0" tIns="0" rIns="0" bIns="0" rtlCol="0" anchor="ctr"/>
          <a:lstStyle/>
          <a:p>
            <a:pPr marL="0" indent="0">
              <a:buNone/>
            </a:pPr>
            <a:r>
              <a:rPr lang="en-US" sz="1100" b="1" dirty="0">
                <a:solidFill>
                  <a:srgbClr val="1F7AC0"/>
                </a:solidFill>
                <a:latin typeface="Calibri" pitchFamily="34" charset="0"/>
                <a:ea typeface="Calibri" pitchFamily="34" charset="-122"/>
                <a:cs typeface="Calibri" pitchFamily="34" charset="-120"/>
              </a:rPr>
              <a:t>PD controller</a:t>
            </a:r>
            <a:endParaRPr lang="en-US" sz="1100" dirty="0"/>
          </a:p>
          <a:p>
            <a:pPr marL="0" indent="0">
              <a:buNone/>
            </a:pPr>
            <a:r>
              <a:rPr lang="en-US" sz="1100" dirty="0">
                <a:solidFill>
                  <a:srgbClr val="2B3340"/>
                </a:solidFill>
                <a:latin typeface="Calibri" pitchFamily="34" charset="0"/>
                <a:ea typeface="Calibri" pitchFamily="34" charset="-122"/>
                <a:cs typeface="Calibri" pitchFamily="34" charset="-120"/>
              </a:rPr>
              <a:t>gains KP, KD → motor torque</a:t>
            </a:r>
            <a:endParaRPr lang="en-US" sz="1100" dirty="0"/>
          </a:p>
        </p:txBody>
      </p:sp>
      <p:sp>
        <p:nvSpPr>
          <p:cNvPr id="21" name="Shape 18"/>
          <p:cNvSpPr/>
          <p:nvPr/>
        </p:nvSpPr>
        <p:spPr>
          <a:xfrm>
            <a:off x="457200" y="4279392"/>
            <a:ext cx="8229600" cy="457200"/>
          </a:xfrm>
          <a:prstGeom prst="roundRect">
            <a:avLst>
              <a:gd name="adj" fmla="val 16000"/>
            </a:avLst>
          </a:prstGeom>
          <a:solidFill>
            <a:srgbClr val="FFF1E0"/>
          </a:solidFill>
          <a:ln w="12700">
            <a:solidFill>
              <a:srgbClr val="FFF1E0"/>
            </a:solidFill>
            <a:prstDash val="solid"/>
          </a:ln>
        </p:spPr>
        <p:txBody>
          <a:bodyPr/>
          <a:lstStyle/>
          <a:p>
            <a:endParaRPr lang="en-US"/>
          </a:p>
        </p:txBody>
      </p:sp>
      <p:pic>
        <p:nvPicPr>
          <p:cNvPr id="22" name="Image 0" descr="preencoded.png"/>
          <p:cNvPicPr>
            <a:picLocks noChangeAspect="1"/>
          </p:cNvPicPr>
          <p:nvPr/>
        </p:nvPicPr>
        <p:blipFill>
          <a:blip r:embed="rId3"/>
          <a:stretch>
            <a:fillRect/>
          </a:stretch>
        </p:blipFill>
        <p:spPr>
          <a:xfrm>
            <a:off x="585216" y="4389120"/>
            <a:ext cx="237744" cy="237744"/>
          </a:xfrm>
          <a:prstGeom prst="rect">
            <a:avLst/>
          </a:prstGeom>
        </p:spPr>
      </p:pic>
      <p:sp>
        <p:nvSpPr>
          <p:cNvPr id="23" name="Text 19"/>
          <p:cNvSpPr txBox="1"/>
          <p:nvPr/>
        </p:nvSpPr>
        <p:spPr>
          <a:xfrm>
            <a:off x="932688" y="4279392"/>
            <a:ext cx="7635240" cy="457200"/>
          </a:xfrm>
          <a:prstGeom prst="rect">
            <a:avLst/>
          </a:prstGeom>
          <a:noFill/>
          <a:ln/>
        </p:spPr>
        <p:txBody>
          <a:bodyPr wrap="square" lIns="0" tIns="0" rIns="0" bIns="0" rtlCol="0" anchor="ctr"/>
          <a:lstStyle/>
          <a:p>
            <a:pPr marL="0" indent="0">
              <a:buNone/>
            </a:pPr>
            <a:r>
              <a:rPr lang="en-US" sz="1150" b="1" dirty="0">
                <a:solidFill>
                  <a:srgbClr val="F28C28"/>
                </a:solidFill>
                <a:latin typeface="Calibri" pitchFamily="34" charset="0"/>
                <a:ea typeface="Calibri" pitchFamily="34" charset="-122"/>
                <a:cs typeface="Calibri" pitchFamily="34" charset="-120"/>
              </a:rPr>
              <a:t>In plain words:  </a:t>
            </a:r>
            <a:r>
              <a:rPr lang="en-US" sz="1150" dirty="0">
                <a:solidFill>
                  <a:srgbClr val="2B3340"/>
                </a:solidFill>
                <a:latin typeface="Calibri" pitchFamily="34" charset="0"/>
                <a:ea typeface="Calibri" pitchFamily="34" charset="-122"/>
                <a:cs typeface="Calibri" pitchFamily="34" charset="-120"/>
              </a:rPr>
              <a:t>The robot has 12 "dials". At every step the agent decides where to turn each dial; the motors then try to reach those positions.</a:t>
            </a:r>
            <a:endParaRPr lang="en-US" sz="115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50">
                <a:solidFill>
                  <a:srgbClr val="667085"/>
                </a:solidFill>
                <a:latin typeface="Calibri"/>
                <a:ea typeface="Calibri"/>
                <a:cs typeface="Calibri"/>
              </a:defRPr>
            </a:lvl1pPr>
          </a:lstStyle>
          <a:p>
            <a:pPr algn="r"/>
            <a:fld id="{F7021451-1387-4CA6-816F-3879F97B5CBC}" type="slidenum">
              <a:rPr lang="en-US" b="0"/>
              <a:t>8</a:t>
            </a:fld>
            <a:endParaRPr lang="en-US"/>
          </a:p>
        </p:txBody>
      </p:sp>
      <p:sp>
        <p:nvSpPr>
          <p:cNvPr id="26" name="Text 3">
            <a:extLst>
              <a:ext uri="{FF2B5EF4-FFF2-40B4-BE49-F238E27FC236}">
                <a16:creationId xmlns:a16="http://schemas.microsoft.com/office/drawing/2014/main" id="{7F7B7EB5-95E6-CF95-25DD-87BE502CD569}"/>
              </a:ext>
            </a:extLst>
          </p:cNvPr>
          <p:cNvSpPr txBox="1"/>
          <p:nvPr/>
        </p:nvSpPr>
        <p:spPr>
          <a:xfrm>
            <a:off x="457200" y="4846320"/>
            <a:ext cx="4572000" cy="201168"/>
          </a:xfrm>
          <a:prstGeom prst="rect">
            <a:avLst/>
          </a:prstGeom>
          <a:noFill/>
          <a:ln/>
        </p:spPr>
        <p:txBody>
          <a:bodyPr wrap="square" lIns="0" tIns="0" rIns="0" bIns="0" rtlCol="0" anchor="ctr"/>
          <a:lstStyle/>
          <a:p>
            <a:pPr marL="0" indent="0">
              <a:buNone/>
            </a:pPr>
            <a:r>
              <a:rPr lang="en-US" sz="850" dirty="0">
                <a:solidFill>
                  <a:srgbClr val="667085"/>
                </a:solidFill>
                <a:latin typeface="Calibri" pitchFamily="34" charset="0"/>
                <a:ea typeface="Calibri" pitchFamily="34" charset="-122"/>
                <a:cs typeface="Calibri" pitchFamily="34" charset="-120"/>
              </a:rPr>
              <a:t>RL Mini-Project  ·  Biped walking</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457200" y="219456"/>
            <a:ext cx="2880360" cy="219456"/>
          </a:xfrm>
          <a:prstGeom prst="roundRect">
            <a:avLst>
              <a:gd name="adj" fmla="val 20833"/>
            </a:avLst>
          </a:prstGeom>
          <a:solidFill>
            <a:srgbClr val="E6F1FA"/>
          </a:solidFill>
          <a:ln w="12700">
            <a:solidFill>
              <a:srgbClr val="E6F1FA"/>
            </a:solidFill>
            <a:prstDash val="solid"/>
          </a:ln>
        </p:spPr>
        <p:txBody>
          <a:bodyPr/>
          <a:lstStyle/>
          <a:p>
            <a:endParaRPr lang="en-US"/>
          </a:p>
        </p:txBody>
      </p:sp>
      <p:sp>
        <p:nvSpPr>
          <p:cNvPr id="3" name="Text 1"/>
          <p:cNvSpPr txBox="1"/>
          <p:nvPr/>
        </p:nvSpPr>
        <p:spPr>
          <a:xfrm>
            <a:off x="457200" y="219456"/>
            <a:ext cx="2880360" cy="219456"/>
          </a:xfrm>
          <a:prstGeom prst="rect">
            <a:avLst/>
          </a:prstGeom>
          <a:noFill/>
          <a:ln/>
        </p:spPr>
        <p:txBody>
          <a:bodyPr wrap="square" lIns="0" tIns="0" rIns="0" bIns="0" rtlCol="0" anchor="ctr"/>
          <a:lstStyle/>
          <a:p>
            <a:pPr marL="0" indent="0" algn="ctr">
              <a:buNone/>
            </a:pPr>
            <a:r>
              <a:rPr lang="en-US" sz="850" b="1" kern="0" spc="100" dirty="0">
                <a:solidFill>
                  <a:srgbClr val="1F7AC0"/>
                </a:solidFill>
                <a:latin typeface="Calibri" pitchFamily="34" charset="0"/>
                <a:ea typeface="Calibri" pitchFamily="34" charset="-122"/>
                <a:cs typeface="Calibri" pitchFamily="34" charset="-120"/>
              </a:rPr>
              <a:t>PART I  ·  CO2  ·  WHAT COUNTS AS GOOD</a:t>
            </a:r>
            <a:endParaRPr lang="en-US" sz="850" dirty="0"/>
          </a:p>
        </p:txBody>
      </p:sp>
      <p:sp>
        <p:nvSpPr>
          <p:cNvPr id="4" name="Text 2"/>
          <p:cNvSpPr txBox="1"/>
          <p:nvPr/>
        </p:nvSpPr>
        <p:spPr>
          <a:xfrm>
            <a:off x="457200" y="475488"/>
            <a:ext cx="8229600" cy="502920"/>
          </a:xfrm>
          <a:prstGeom prst="rect">
            <a:avLst/>
          </a:prstGeom>
          <a:noFill/>
          <a:ln/>
        </p:spPr>
        <p:txBody>
          <a:bodyPr wrap="square" lIns="0" tIns="0" rIns="0" bIns="0" rtlCol="0" anchor="ctr"/>
          <a:lstStyle/>
          <a:p>
            <a:pPr marL="0" indent="0">
              <a:buNone/>
            </a:pPr>
            <a:r>
              <a:rPr lang="en-US" sz="2600" b="1" dirty="0">
                <a:solidFill>
                  <a:srgbClr val="2B3340"/>
                </a:solidFill>
                <a:latin typeface="Cambria" pitchFamily="34" charset="0"/>
                <a:ea typeface="Cambria" pitchFamily="34" charset="-122"/>
                <a:cs typeface="Cambria" pitchFamily="34" charset="-120"/>
              </a:rPr>
              <a:t>Reward Function</a:t>
            </a:r>
            <a:endParaRPr lang="en-US" sz="2600" dirty="0"/>
          </a:p>
        </p:txBody>
      </p:sp>
      <p:sp>
        <p:nvSpPr>
          <p:cNvPr id="6" name="Shape 4"/>
          <p:cNvSpPr/>
          <p:nvPr/>
        </p:nvSpPr>
        <p:spPr>
          <a:xfrm>
            <a:off x="457200" y="1051560"/>
            <a:ext cx="8229600" cy="457200"/>
          </a:xfrm>
          <a:prstGeom prst="roundRect">
            <a:avLst>
              <a:gd name="adj" fmla="val 16000"/>
            </a:avLst>
          </a:prstGeom>
          <a:solidFill>
            <a:srgbClr val="2E3440"/>
          </a:solidFill>
          <a:ln w="12700">
            <a:solidFill>
              <a:srgbClr val="2E3440"/>
            </a:solidFill>
            <a:prstDash val="solid"/>
          </a:ln>
        </p:spPr>
        <p:txBody>
          <a:bodyPr/>
          <a:lstStyle/>
          <a:p>
            <a:endParaRPr lang="en-US"/>
          </a:p>
        </p:txBody>
      </p:sp>
      <p:sp>
        <p:nvSpPr>
          <p:cNvPr id="7" name="Text 5"/>
          <p:cNvSpPr txBox="1"/>
          <p:nvPr/>
        </p:nvSpPr>
        <p:spPr>
          <a:xfrm>
            <a:off x="594360" y="1051560"/>
            <a:ext cx="8046720" cy="457200"/>
          </a:xfrm>
          <a:prstGeom prst="rect">
            <a:avLst/>
          </a:prstGeom>
          <a:noFill/>
          <a:ln/>
        </p:spPr>
        <p:txBody>
          <a:bodyPr wrap="square" lIns="0" tIns="0" rIns="0" bIns="0" rtlCol="0" anchor="ctr"/>
          <a:lstStyle/>
          <a:p>
            <a:pPr marL="0" indent="0">
              <a:buNone/>
            </a:pPr>
            <a:r>
              <a:rPr lang="en-US" sz="1500" b="1" i="1" dirty="0">
                <a:solidFill>
                  <a:srgbClr val="FFFFFF"/>
                </a:solidFill>
                <a:latin typeface="Cambria" pitchFamily="34" charset="0"/>
                <a:ea typeface="Cambria" pitchFamily="34" charset="-122"/>
                <a:cs typeface="Cambria" pitchFamily="34" charset="-120"/>
              </a:rPr>
              <a:t>r</a:t>
            </a:r>
            <a:r>
              <a:rPr lang="en-US" sz="1500" b="1" i="1" baseline="-40000" dirty="0">
                <a:solidFill>
                  <a:srgbClr val="FFFFFF"/>
                </a:solidFill>
                <a:latin typeface="Cambria" pitchFamily="34" charset="0"/>
                <a:ea typeface="Cambria" pitchFamily="34" charset="-122"/>
                <a:cs typeface="Cambria" pitchFamily="34" charset="-120"/>
              </a:rPr>
              <a:t>t</a:t>
            </a:r>
            <a:r>
              <a:rPr lang="en-US" sz="1500" b="1" i="1" dirty="0">
                <a:solidFill>
                  <a:srgbClr val="FFFFFF"/>
                </a:solidFill>
                <a:latin typeface="Cambria" pitchFamily="34" charset="0"/>
                <a:ea typeface="Cambria" pitchFamily="34" charset="-122"/>
                <a:cs typeface="Cambria" pitchFamily="34" charset="-120"/>
              </a:rPr>
              <a:t> = Σ w</a:t>
            </a:r>
            <a:r>
              <a:rPr lang="en-US" sz="1500" b="1" i="1" baseline="-40000" dirty="0">
                <a:solidFill>
                  <a:srgbClr val="FFFFFF"/>
                </a:solidFill>
                <a:latin typeface="Cambria" pitchFamily="34" charset="0"/>
                <a:ea typeface="Cambria" pitchFamily="34" charset="-122"/>
                <a:cs typeface="Cambria" pitchFamily="34" charset="-120"/>
              </a:rPr>
              <a:t>i</a:t>
            </a:r>
            <a:r>
              <a:rPr lang="en-US" sz="1500" b="1" i="1" dirty="0">
                <a:solidFill>
                  <a:srgbClr val="FFFFFF"/>
                </a:solidFill>
                <a:latin typeface="Cambria" pitchFamily="34" charset="0"/>
                <a:ea typeface="Cambria" pitchFamily="34" charset="-122"/>
                <a:cs typeface="Cambria" pitchFamily="34" charset="-120"/>
              </a:rPr>
              <a:t> · r</a:t>
            </a:r>
            <a:r>
              <a:rPr lang="en-US" sz="1500" b="1" i="1" baseline="-40000" dirty="0">
                <a:solidFill>
                  <a:srgbClr val="FFFFFF"/>
                </a:solidFill>
                <a:latin typeface="Cambria" pitchFamily="34" charset="0"/>
                <a:ea typeface="Cambria" pitchFamily="34" charset="-122"/>
                <a:cs typeface="Cambria" pitchFamily="34" charset="-120"/>
              </a:rPr>
              <a:t>i,t</a:t>
            </a:r>
            <a:r>
              <a:rPr lang="en-US" sz="1050" dirty="0">
                <a:solidFill>
                  <a:srgbClr val="C9D3E0"/>
                </a:solidFill>
                <a:latin typeface="Calibri" pitchFamily="34" charset="0"/>
                <a:ea typeface="Calibri" pitchFamily="34" charset="-122"/>
                <a:cs typeface="Calibri" pitchFamily="34" charset="-120"/>
              </a:rPr>
              <a:t>     weighted sum of the terms below.   Episode ends if the robot tilts &gt; 70° or a knee touches the ground.</a:t>
            </a:r>
            <a:endParaRPr lang="en-US" sz="1500" dirty="0"/>
          </a:p>
        </p:txBody>
      </p:sp>
      <p:sp>
        <p:nvSpPr>
          <p:cNvPr id="8" name="Shape 6"/>
          <p:cNvSpPr/>
          <p:nvPr/>
        </p:nvSpPr>
        <p:spPr>
          <a:xfrm>
            <a:off x="457200" y="1645920"/>
            <a:ext cx="4023360" cy="2542032"/>
          </a:xfrm>
          <a:prstGeom prst="roundRect">
            <a:avLst>
              <a:gd name="adj" fmla="val 2878"/>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9" name="Shape 7"/>
          <p:cNvSpPr/>
          <p:nvPr/>
        </p:nvSpPr>
        <p:spPr>
          <a:xfrm>
            <a:off x="457200" y="1645920"/>
            <a:ext cx="4023360" cy="310896"/>
          </a:xfrm>
          <a:prstGeom prst="roundRect">
            <a:avLst>
              <a:gd name="adj" fmla="val 23529"/>
            </a:avLst>
          </a:prstGeom>
          <a:solidFill>
            <a:srgbClr val="2E9E6B"/>
          </a:solidFill>
          <a:ln w="12700">
            <a:solidFill>
              <a:srgbClr val="2E9E6B"/>
            </a:solidFill>
            <a:prstDash val="solid"/>
          </a:ln>
        </p:spPr>
        <p:txBody>
          <a:bodyPr/>
          <a:lstStyle/>
          <a:p>
            <a:endParaRPr lang="en-US"/>
          </a:p>
        </p:txBody>
      </p:sp>
      <p:sp>
        <p:nvSpPr>
          <p:cNvPr id="10" name="Text 8"/>
          <p:cNvSpPr txBox="1"/>
          <p:nvPr/>
        </p:nvSpPr>
        <p:spPr>
          <a:xfrm>
            <a:off x="594360" y="1645920"/>
            <a:ext cx="3749040" cy="31089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REWARDS  (score goes up)</a:t>
            </a:r>
            <a:endParaRPr lang="en-US" sz="1100" dirty="0"/>
          </a:p>
        </p:txBody>
      </p:sp>
      <p:sp>
        <p:nvSpPr>
          <p:cNvPr id="11" name="Text 9"/>
          <p:cNvSpPr txBox="1"/>
          <p:nvPr/>
        </p:nvSpPr>
        <p:spPr>
          <a:xfrm>
            <a:off x="594360" y="2029968"/>
            <a:ext cx="3794760" cy="1536192"/>
          </a:xfrm>
          <a:prstGeom prst="rect">
            <a:avLst/>
          </a:prstGeom>
          <a:noFill/>
          <a:ln/>
        </p:spPr>
        <p:txBody>
          <a:bodyPr wrap="square" lIns="0" tIns="0" rIns="0" bIns="0" rtlCol="0" anchor="t"/>
          <a:lstStyle/>
          <a:p>
            <a:pPr marL="152400" indent="-152400">
              <a:spcAft>
                <a:spcPts val="600"/>
              </a:spcAft>
              <a:buSzPct val="100000"/>
              <a:buChar char="•"/>
            </a:pPr>
            <a:r>
              <a:rPr lang="en-US" sz="1200" b="1" dirty="0">
                <a:solidFill>
                  <a:srgbClr val="2E9E6B"/>
                </a:solidFill>
                <a:latin typeface="Calibri" pitchFamily="34" charset="0"/>
                <a:ea typeface="Calibri" pitchFamily="34" charset="-122"/>
                <a:cs typeface="Calibri" pitchFamily="34" charset="-120"/>
              </a:rPr>
              <a:t>Follow the speed command</a:t>
            </a:r>
            <a:r>
              <a:rPr lang="en-US" sz="1200" dirty="0">
                <a:solidFill>
                  <a:srgbClr val="2B3340"/>
                </a:solidFill>
                <a:latin typeface="Calibri" pitchFamily="34" charset="0"/>
                <a:ea typeface="Calibri" pitchFamily="34" charset="-122"/>
                <a:cs typeface="Calibri" pitchFamily="34" charset="-120"/>
              </a:rPr>
              <a:t> — exp(−error² / σ²) for forward, sideways and turning speed</a:t>
            </a:r>
            <a:endParaRPr lang="en-US" sz="1200" dirty="0"/>
          </a:p>
          <a:p>
            <a:pPr marL="152400" indent="-152400">
              <a:spcAft>
                <a:spcPts val="600"/>
              </a:spcAft>
              <a:buSzPct val="100000"/>
              <a:buChar char="•"/>
            </a:pPr>
            <a:r>
              <a:rPr lang="en-US" sz="1200" b="1" dirty="0">
                <a:solidFill>
                  <a:srgbClr val="2E9E6B"/>
                </a:solidFill>
                <a:latin typeface="Calibri" pitchFamily="34" charset="0"/>
                <a:ea typeface="Calibri" pitchFamily="34" charset="-122"/>
                <a:cs typeface="Calibri" pitchFamily="34" charset="-120"/>
              </a:rPr>
              <a:t>Keep the torso upright</a:t>
            </a:r>
            <a:r>
              <a:rPr lang="en-US" sz="1200" dirty="0">
                <a:solidFill>
                  <a:srgbClr val="2B3340"/>
                </a:solidFill>
                <a:latin typeface="Calibri" pitchFamily="34" charset="0"/>
                <a:ea typeface="Calibri" pitchFamily="34" charset="-122"/>
                <a:cs typeface="Calibri" pitchFamily="34" charset="-120"/>
              </a:rPr>
              <a:t> — exp(−(gx² + gy²) / σ²)</a:t>
            </a:r>
            <a:endParaRPr lang="en-US" sz="1200" dirty="0"/>
          </a:p>
          <a:p>
            <a:pPr marL="152400" indent="-152400">
              <a:spcAft>
                <a:spcPts val="600"/>
              </a:spcAft>
              <a:buSzPct val="100000"/>
              <a:buChar char="•"/>
            </a:pPr>
            <a:r>
              <a:rPr lang="en-US" sz="1200" b="1" dirty="0">
                <a:solidFill>
                  <a:srgbClr val="2E9E6B"/>
                </a:solidFill>
                <a:latin typeface="Calibri" pitchFamily="34" charset="0"/>
                <a:ea typeface="Calibri" pitchFamily="34" charset="-122"/>
                <a:cs typeface="Calibri" pitchFamily="34" charset="-120"/>
              </a:rPr>
              <a:t>Step in a walking rhythm</a:t>
            </a:r>
            <a:r>
              <a:rPr lang="en-US" sz="1200" dirty="0">
                <a:solidFill>
                  <a:srgbClr val="2B3340"/>
                </a:solidFill>
                <a:latin typeface="Calibri" pitchFamily="34" charset="0"/>
                <a:ea typeface="Calibri" pitchFamily="34" charset="-122"/>
                <a:cs typeface="Calibri" pitchFamily="34" charset="-120"/>
              </a:rPr>
              <a:t> — foot air-time and alternating feet</a:t>
            </a:r>
            <a:endParaRPr lang="en-US" sz="1200" dirty="0"/>
          </a:p>
          <a:p>
            <a:pPr marL="152400" indent="-152400">
              <a:spcAft>
                <a:spcPts val="600"/>
              </a:spcAft>
              <a:buSzPct val="100000"/>
              <a:buChar char="•"/>
            </a:pPr>
            <a:r>
              <a:rPr lang="en-US" sz="1200" b="1" dirty="0">
                <a:solidFill>
                  <a:srgbClr val="2E9E6B"/>
                </a:solidFill>
                <a:latin typeface="Calibri" pitchFamily="34" charset="0"/>
                <a:ea typeface="Calibri" pitchFamily="34" charset="-122"/>
                <a:cs typeface="Calibri" pitchFamily="34" charset="-120"/>
              </a:rPr>
              <a:t>Stay near the reference gait</a:t>
            </a:r>
            <a:r>
              <a:rPr lang="en-US" sz="1200" dirty="0">
                <a:solidFill>
                  <a:srgbClr val="2B3340"/>
                </a:solidFill>
                <a:latin typeface="Calibri" pitchFamily="34" charset="0"/>
                <a:ea typeface="Calibri" pitchFamily="34" charset="-122"/>
                <a:cs typeface="Calibri" pitchFamily="34" charset="-120"/>
              </a:rPr>
              <a:t> — exp(−‖q − q_ref‖² / σ²)</a:t>
            </a:r>
            <a:endParaRPr lang="en-US" sz="1200" dirty="0"/>
          </a:p>
        </p:txBody>
      </p:sp>
      <p:sp>
        <p:nvSpPr>
          <p:cNvPr id="12" name="Text 10"/>
          <p:cNvSpPr txBox="1"/>
          <p:nvPr/>
        </p:nvSpPr>
        <p:spPr>
          <a:xfrm>
            <a:off x="594360" y="3584448"/>
            <a:ext cx="3794760" cy="548640"/>
          </a:xfrm>
          <a:prstGeom prst="rect">
            <a:avLst/>
          </a:prstGeom>
          <a:noFill/>
          <a:ln/>
        </p:spPr>
        <p:txBody>
          <a:bodyPr wrap="square" lIns="0" tIns="0" rIns="0" bIns="0" rtlCol="0" anchor="ctr"/>
          <a:lstStyle/>
          <a:p>
            <a:pPr marL="0" indent="0">
              <a:buNone/>
            </a:pPr>
            <a:r>
              <a:rPr lang="en-US" sz="1050" i="1" dirty="0">
                <a:solidFill>
                  <a:srgbClr val="667085"/>
                </a:solidFill>
                <a:latin typeface="Calibri" pitchFamily="34" charset="0"/>
                <a:ea typeface="Calibri" pitchFamily="34" charset="-122"/>
                <a:cs typeface="Calibri" pitchFamily="34" charset="-120"/>
              </a:rPr>
              <a:t>Values between 0 and 1: highest when the error is zero, and smooth for the network to learn from.</a:t>
            </a:r>
            <a:endParaRPr lang="en-US" sz="1050" dirty="0"/>
          </a:p>
        </p:txBody>
      </p:sp>
      <p:sp>
        <p:nvSpPr>
          <p:cNvPr id="13" name="Shape 11"/>
          <p:cNvSpPr/>
          <p:nvPr/>
        </p:nvSpPr>
        <p:spPr>
          <a:xfrm>
            <a:off x="4663440" y="1645920"/>
            <a:ext cx="4023360" cy="2542032"/>
          </a:xfrm>
          <a:prstGeom prst="roundRect">
            <a:avLst>
              <a:gd name="adj" fmla="val 2878"/>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14" name="Shape 12"/>
          <p:cNvSpPr/>
          <p:nvPr/>
        </p:nvSpPr>
        <p:spPr>
          <a:xfrm>
            <a:off x="4663440" y="1645920"/>
            <a:ext cx="4023360" cy="310896"/>
          </a:xfrm>
          <a:prstGeom prst="roundRect">
            <a:avLst>
              <a:gd name="adj" fmla="val 23529"/>
            </a:avLst>
          </a:prstGeom>
          <a:solidFill>
            <a:srgbClr val="D6455D"/>
          </a:solidFill>
          <a:ln w="12700">
            <a:solidFill>
              <a:srgbClr val="D6455D"/>
            </a:solidFill>
            <a:prstDash val="solid"/>
          </a:ln>
        </p:spPr>
        <p:txBody>
          <a:bodyPr/>
          <a:lstStyle/>
          <a:p>
            <a:endParaRPr lang="en-US"/>
          </a:p>
        </p:txBody>
      </p:sp>
      <p:sp>
        <p:nvSpPr>
          <p:cNvPr id="15" name="Text 13"/>
          <p:cNvSpPr txBox="1"/>
          <p:nvPr/>
        </p:nvSpPr>
        <p:spPr>
          <a:xfrm>
            <a:off x="4800600" y="1645920"/>
            <a:ext cx="3749040" cy="31089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PENALTIES  (score goes down)</a:t>
            </a:r>
            <a:endParaRPr lang="en-US" sz="1100" dirty="0"/>
          </a:p>
        </p:txBody>
      </p:sp>
      <p:sp>
        <p:nvSpPr>
          <p:cNvPr id="16" name="Text 14"/>
          <p:cNvSpPr txBox="1"/>
          <p:nvPr/>
        </p:nvSpPr>
        <p:spPr>
          <a:xfrm>
            <a:off x="4800600" y="2029968"/>
            <a:ext cx="3794760" cy="1536192"/>
          </a:xfrm>
          <a:prstGeom prst="rect">
            <a:avLst/>
          </a:prstGeom>
          <a:noFill/>
          <a:ln/>
        </p:spPr>
        <p:txBody>
          <a:bodyPr wrap="square" lIns="0" tIns="0" rIns="0" bIns="0" rtlCol="0" anchor="t"/>
          <a:lstStyle/>
          <a:p>
            <a:pPr marL="152400" indent="-152400">
              <a:spcAft>
                <a:spcPts val="600"/>
              </a:spcAft>
              <a:buSzPct val="100000"/>
              <a:buChar char="•"/>
            </a:pPr>
            <a:r>
              <a:rPr lang="en-US" sz="1200" b="1" dirty="0">
                <a:solidFill>
                  <a:srgbClr val="D6455D"/>
                </a:solidFill>
                <a:latin typeface="Calibri" pitchFamily="34" charset="0"/>
                <a:ea typeface="Calibri" pitchFamily="34" charset="-122"/>
                <a:cs typeface="Calibri" pitchFamily="34" charset="-120"/>
              </a:rPr>
              <a:t>Jerky motor commands</a:t>
            </a:r>
            <a:r>
              <a:rPr lang="en-US" sz="1200" dirty="0">
                <a:solidFill>
                  <a:srgbClr val="2B3340"/>
                </a:solidFill>
                <a:latin typeface="Calibri" pitchFamily="34" charset="0"/>
                <a:ea typeface="Calibri" pitchFamily="34" charset="-122"/>
                <a:cs typeface="Calibri" pitchFamily="34" charset="-120"/>
              </a:rPr>
              <a:t> — change in action between steps</a:t>
            </a:r>
            <a:endParaRPr lang="en-US" sz="1200" dirty="0"/>
          </a:p>
          <a:p>
            <a:pPr marL="152400" indent="-152400">
              <a:spcAft>
                <a:spcPts val="600"/>
              </a:spcAft>
              <a:buSzPct val="100000"/>
              <a:buChar char="•"/>
            </a:pPr>
            <a:r>
              <a:rPr lang="en-US" sz="1200" b="1" dirty="0">
                <a:solidFill>
                  <a:srgbClr val="D6455D"/>
                </a:solidFill>
                <a:latin typeface="Calibri" pitchFamily="34" charset="0"/>
                <a:ea typeface="Calibri" pitchFamily="34" charset="-122"/>
                <a:cs typeface="Calibri" pitchFamily="34" charset="-120"/>
              </a:rPr>
              <a:t>Joint limits and self-collision</a:t>
            </a:r>
            <a:r>
              <a:rPr lang="en-US" sz="1200" dirty="0">
                <a:solidFill>
                  <a:srgbClr val="2B3340"/>
                </a:solidFill>
                <a:latin typeface="Calibri" pitchFamily="34" charset="0"/>
                <a:ea typeface="Calibri" pitchFamily="34" charset="-122"/>
                <a:cs typeface="Calibri" pitchFamily="34" charset="-120"/>
              </a:rPr>
              <a:t> — hitting mechanical limits, legs touching</a:t>
            </a:r>
            <a:endParaRPr lang="en-US" sz="1200" dirty="0"/>
          </a:p>
          <a:p>
            <a:pPr marL="152400" indent="-152400">
              <a:spcAft>
                <a:spcPts val="600"/>
              </a:spcAft>
              <a:buSzPct val="100000"/>
              <a:buChar char="•"/>
            </a:pPr>
            <a:r>
              <a:rPr lang="en-US" sz="1200" b="1" dirty="0">
                <a:solidFill>
                  <a:srgbClr val="D6455D"/>
                </a:solidFill>
                <a:latin typeface="Calibri" pitchFamily="34" charset="0"/>
                <a:ea typeface="Calibri" pitchFamily="34" charset="-122"/>
                <a:cs typeface="Calibri" pitchFamily="34" charset="-120"/>
              </a:rPr>
              <a:t>Foot slipping</a:t>
            </a:r>
            <a:r>
              <a:rPr lang="en-US" sz="1200" dirty="0">
                <a:solidFill>
                  <a:srgbClr val="2B3340"/>
                </a:solidFill>
                <a:latin typeface="Calibri" pitchFamily="34" charset="0"/>
                <a:ea typeface="Calibri" pitchFamily="34" charset="-122"/>
                <a:cs typeface="Calibri" pitchFamily="34" charset="-120"/>
              </a:rPr>
              <a:t> — Σ‖v_xy‖² while the foot is on the ground</a:t>
            </a:r>
            <a:endParaRPr lang="en-US" sz="1200" dirty="0"/>
          </a:p>
          <a:p>
            <a:pPr marL="152400" indent="-152400">
              <a:spcAft>
                <a:spcPts val="600"/>
              </a:spcAft>
              <a:buSzPct val="100000"/>
              <a:buChar char="•"/>
            </a:pPr>
            <a:r>
              <a:rPr lang="en-US" sz="1200" b="1" dirty="0">
                <a:solidFill>
                  <a:srgbClr val="D6455D"/>
                </a:solidFill>
                <a:latin typeface="Calibri" pitchFamily="34" charset="0"/>
                <a:ea typeface="Calibri" pitchFamily="34" charset="-122"/>
                <a:cs typeface="Calibri" pitchFamily="34" charset="-120"/>
              </a:rPr>
              <a:t>Hard landings</a:t>
            </a:r>
            <a:r>
              <a:rPr lang="en-US" sz="1200" dirty="0">
                <a:solidFill>
                  <a:srgbClr val="2B3340"/>
                </a:solidFill>
                <a:latin typeface="Calibri" pitchFamily="34" charset="0"/>
                <a:ea typeface="Calibri" pitchFamily="34" charset="-122"/>
                <a:cs typeface="Calibri" pitchFamily="34" charset="-120"/>
              </a:rPr>
              <a:t> — Σ‖F‖ at the moment of touchdown</a:t>
            </a:r>
            <a:endParaRPr lang="en-US" sz="1200" dirty="0"/>
          </a:p>
          <a:p>
            <a:pPr marL="152400" indent="-152400">
              <a:spcAft>
                <a:spcPts val="600"/>
              </a:spcAft>
              <a:buSzPct val="100000"/>
              <a:buChar char="•"/>
            </a:pPr>
            <a:r>
              <a:rPr lang="en-US" sz="1200" b="1" dirty="0">
                <a:solidFill>
                  <a:srgbClr val="D6455D"/>
                </a:solidFill>
                <a:latin typeface="Calibri" pitchFamily="34" charset="0"/>
                <a:ea typeface="Calibri" pitchFamily="34" charset="-122"/>
                <a:cs typeface="Calibri" pitchFamily="34" charset="-120"/>
              </a:rPr>
              <a:t>Dragging feet</a:t>
            </a:r>
            <a:r>
              <a:rPr lang="en-US" sz="1200" dirty="0">
                <a:solidFill>
                  <a:srgbClr val="2B3340"/>
                </a:solidFill>
                <a:latin typeface="Calibri" pitchFamily="34" charset="0"/>
                <a:ea typeface="Calibri" pitchFamily="34" charset="-122"/>
                <a:cs typeface="Calibri" pitchFamily="34" charset="-120"/>
              </a:rPr>
              <a:t> — foot clearance and swing height</a:t>
            </a:r>
            <a:endParaRPr lang="en-US" sz="1200" dirty="0"/>
          </a:p>
        </p:txBody>
      </p:sp>
      <p:sp>
        <p:nvSpPr>
          <p:cNvPr id="17" name="Text 15"/>
          <p:cNvSpPr txBox="1"/>
          <p:nvPr/>
        </p:nvSpPr>
        <p:spPr>
          <a:xfrm>
            <a:off x="4800600" y="3584448"/>
            <a:ext cx="3794760" cy="548640"/>
          </a:xfrm>
          <a:prstGeom prst="rect">
            <a:avLst/>
          </a:prstGeom>
          <a:noFill/>
          <a:ln/>
        </p:spPr>
        <p:txBody>
          <a:bodyPr wrap="square" lIns="0" tIns="0" rIns="0" bIns="0" rtlCol="0" anchor="ctr"/>
          <a:lstStyle/>
          <a:p>
            <a:pPr marL="0" indent="0">
              <a:buNone/>
            </a:pPr>
            <a:r>
              <a:rPr lang="en-US" sz="1050" i="1" dirty="0">
                <a:solidFill>
                  <a:srgbClr val="667085"/>
                </a:solidFill>
                <a:latin typeface="Calibri" pitchFamily="34" charset="0"/>
                <a:ea typeface="Calibri" pitchFamily="34" charset="-122"/>
                <a:cs typeface="Calibri" pitchFamily="34" charset="-120"/>
              </a:rPr>
              <a:t>Keeps the motion smooth, safe for the motors and natural looking. Falling ends the episode, so it also costs all future reward.</a:t>
            </a:r>
            <a:endParaRPr lang="en-US" sz="105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50">
                <a:solidFill>
                  <a:srgbClr val="667085"/>
                </a:solidFill>
                <a:latin typeface="Calibri"/>
                <a:ea typeface="Calibri"/>
                <a:cs typeface="Calibri"/>
              </a:defRPr>
            </a:lvl1pPr>
          </a:lstStyle>
          <a:p>
            <a:pPr algn="r"/>
            <a:fld id="{F7021451-1387-4CA6-816F-3879F97B5CBC}" type="slidenum">
              <a:rPr lang="en-US" b="0"/>
              <a:t>9</a:t>
            </a:fld>
            <a:endParaRPr lang="en-US"/>
          </a:p>
        </p:txBody>
      </p:sp>
      <p:sp>
        <p:nvSpPr>
          <p:cNvPr id="19" name="Text 3">
            <a:extLst>
              <a:ext uri="{FF2B5EF4-FFF2-40B4-BE49-F238E27FC236}">
                <a16:creationId xmlns:a16="http://schemas.microsoft.com/office/drawing/2014/main" id="{8D988FF4-B417-CCEC-C30B-47AA0E354B1F}"/>
              </a:ext>
            </a:extLst>
          </p:cNvPr>
          <p:cNvSpPr txBox="1"/>
          <p:nvPr/>
        </p:nvSpPr>
        <p:spPr>
          <a:xfrm>
            <a:off x="457200" y="4846320"/>
            <a:ext cx="4572000" cy="201168"/>
          </a:xfrm>
          <a:prstGeom prst="rect">
            <a:avLst/>
          </a:prstGeom>
          <a:noFill/>
          <a:ln/>
        </p:spPr>
        <p:txBody>
          <a:bodyPr wrap="square" lIns="0" tIns="0" rIns="0" bIns="0" rtlCol="0" anchor="ctr"/>
          <a:lstStyle/>
          <a:p>
            <a:pPr marL="0" indent="0">
              <a:buNone/>
            </a:pPr>
            <a:r>
              <a:rPr lang="en-US" sz="850" dirty="0">
                <a:solidFill>
                  <a:srgbClr val="667085"/>
                </a:solidFill>
                <a:latin typeface="Calibri" pitchFamily="34" charset="0"/>
                <a:ea typeface="Calibri" pitchFamily="34" charset="-122"/>
                <a:cs typeface="Calibri" pitchFamily="34" charset="-120"/>
              </a:rPr>
              <a:t>RL Mini-Project  ·  Biped walking</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457200" y="219456"/>
            <a:ext cx="2811780" cy="219456"/>
          </a:xfrm>
          <a:prstGeom prst="roundRect">
            <a:avLst>
              <a:gd name="adj" fmla="val 20833"/>
            </a:avLst>
          </a:prstGeom>
          <a:solidFill>
            <a:srgbClr val="E6F1FA"/>
          </a:solidFill>
          <a:ln w="12700">
            <a:solidFill>
              <a:srgbClr val="E6F1FA"/>
            </a:solidFill>
            <a:prstDash val="solid"/>
          </a:ln>
        </p:spPr>
        <p:txBody>
          <a:bodyPr/>
          <a:lstStyle/>
          <a:p>
            <a:endParaRPr lang="en-US"/>
          </a:p>
        </p:txBody>
      </p:sp>
      <p:sp>
        <p:nvSpPr>
          <p:cNvPr id="3" name="Text 1"/>
          <p:cNvSpPr txBox="1"/>
          <p:nvPr/>
        </p:nvSpPr>
        <p:spPr>
          <a:xfrm>
            <a:off x="457200" y="219456"/>
            <a:ext cx="2811780" cy="219456"/>
          </a:xfrm>
          <a:prstGeom prst="rect">
            <a:avLst/>
          </a:prstGeom>
          <a:noFill/>
          <a:ln/>
        </p:spPr>
        <p:txBody>
          <a:bodyPr wrap="square" lIns="0" tIns="0" rIns="0" bIns="0" rtlCol="0" anchor="ctr"/>
          <a:lstStyle/>
          <a:p>
            <a:pPr marL="0" indent="0" algn="ctr">
              <a:buNone/>
            </a:pPr>
            <a:r>
              <a:rPr lang="en-US" sz="850" b="1" kern="0" spc="100" dirty="0">
                <a:solidFill>
                  <a:srgbClr val="1F7AC0"/>
                </a:solidFill>
                <a:latin typeface="Calibri" pitchFamily="34" charset="0"/>
                <a:ea typeface="Calibri" pitchFamily="34" charset="-122"/>
                <a:cs typeface="Calibri" pitchFamily="34" charset="-120"/>
              </a:rPr>
              <a:t>PART I  ·  CO2  ·  WHY THIS ALGORITHM</a:t>
            </a:r>
            <a:endParaRPr lang="en-US" sz="850" dirty="0"/>
          </a:p>
        </p:txBody>
      </p:sp>
      <p:sp>
        <p:nvSpPr>
          <p:cNvPr id="4" name="Text 2"/>
          <p:cNvSpPr txBox="1"/>
          <p:nvPr/>
        </p:nvSpPr>
        <p:spPr>
          <a:xfrm>
            <a:off x="457200" y="475488"/>
            <a:ext cx="8229600" cy="502920"/>
          </a:xfrm>
          <a:prstGeom prst="rect">
            <a:avLst/>
          </a:prstGeom>
          <a:noFill/>
          <a:ln/>
        </p:spPr>
        <p:txBody>
          <a:bodyPr wrap="square" lIns="0" tIns="0" rIns="0" bIns="0" rtlCol="0" anchor="ctr"/>
          <a:lstStyle/>
          <a:p>
            <a:pPr marL="0" indent="0">
              <a:buNone/>
            </a:pPr>
            <a:r>
              <a:rPr lang="en-US" sz="2600" b="1" dirty="0">
                <a:solidFill>
                  <a:srgbClr val="2B3340"/>
                </a:solidFill>
                <a:latin typeface="Cambria" pitchFamily="34" charset="0"/>
                <a:ea typeface="Cambria" pitchFamily="34" charset="-122"/>
                <a:cs typeface="Cambria" pitchFamily="34" charset="-120"/>
              </a:rPr>
              <a:t>Algorithm Selection: PPO</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4343400" cy="2734056"/>
        </p:xfrm>
        <a:graphic>
          <a:graphicData uri="http://schemas.openxmlformats.org/drawingml/2006/table">
            <a:tbl>
              <a:tblPr/>
              <a:tblGrid>
                <a:gridCol w="114300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310896">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Algorithm</a:t>
                      </a:r>
                      <a:endParaRPr lang="en-US" sz="11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1F7AC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Fit?</a:t>
                      </a:r>
                      <a:endParaRPr lang="en-US" sz="11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1F7AC0"/>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Reason</a:t>
                      </a:r>
                      <a:endParaRPr lang="en-US" sz="11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1F7AC0"/>
                    </a:solidFill>
                  </a:tcPr>
                </a:tc>
                <a:extLst>
                  <a:ext uri="{0D108BD9-81ED-4DB2-BD59-A6C34878D82A}">
                    <a16:rowId xmlns:a16="http://schemas.microsoft.com/office/drawing/2014/main" val="10000"/>
                  </a:ext>
                </a:extLst>
              </a:tr>
              <a:tr h="777240">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Q-learning / DQN</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D6455D"/>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Needs a finite list of actions. Angad has 12 continuous joint targets.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DDPG / SAC</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ctr">
                        <a:buNone/>
                      </a:pPr>
                      <a:r>
                        <a:rPr lang="en-US" sz="1050" b="1" dirty="0">
                          <a:solidFill>
                            <a:srgbClr val="F28C28"/>
                          </a:solidFill>
                          <a:latin typeface="Calibri" pitchFamily="34" charset="0"/>
                          <a:ea typeface="Calibri" pitchFamily="34" charset="-122"/>
                          <a:cs typeface="Calibri" pitchFamily="34" charset="-120"/>
                        </a:rPr>
                        <a:t>Partly</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Handles continuous actions, but replay-buffer methods are less common with thousands of parallel GPU simulators.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extLst>
                  <a:ext uri="{0D108BD9-81ED-4DB2-BD59-A6C34878D82A}">
                    <a16:rowId xmlns:a16="http://schemas.microsoft.com/office/drawing/2014/main" val="10002"/>
                  </a:ext>
                </a:extLst>
              </a:tr>
              <a:tr h="777240">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PPO</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E4F5EC"/>
                    </a:solidFill>
                  </a:tcPr>
                </a:tc>
                <a:tc>
                  <a:txBody>
                    <a:bodyPr/>
                    <a:lstStyle/>
                    <a:p>
                      <a:pPr marL="0" indent="0" algn="ctr">
                        <a:buNone/>
                      </a:pPr>
                      <a:r>
                        <a:rPr lang="en-US" sz="1050" b="1" dirty="0">
                          <a:solidFill>
                            <a:srgbClr val="2E9E6B"/>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E4F5EC"/>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Continuous actions, works with parallel simulators, and clipped updates keep learning stable.</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E4F5EC"/>
                    </a:solidFill>
                  </a:tcPr>
                </a:tc>
                <a:extLst>
                  <a:ext uri="{0D108BD9-81ED-4DB2-BD59-A6C34878D82A}">
                    <a16:rowId xmlns:a16="http://schemas.microsoft.com/office/drawing/2014/main" val="10003"/>
                  </a:ext>
                </a:extLst>
              </a:tr>
            </a:tbl>
          </a:graphicData>
        </a:graphic>
      </p:graphicFrame>
      <p:sp>
        <p:nvSpPr>
          <p:cNvPr id="7" name="Text 4"/>
          <p:cNvSpPr txBox="1"/>
          <p:nvPr/>
        </p:nvSpPr>
        <p:spPr>
          <a:xfrm>
            <a:off x="457200" y="3886200"/>
            <a:ext cx="4343400" cy="292608"/>
          </a:xfrm>
          <a:prstGeom prst="rect">
            <a:avLst/>
          </a:prstGeom>
          <a:noFill/>
          <a:ln/>
        </p:spPr>
        <p:txBody>
          <a:bodyPr wrap="square" lIns="0" tIns="0" rIns="0" bIns="0" rtlCol="0" anchor="ctr"/>
          <a:lstStyle/>
          <a:p>
            <a:pPr marL="0" indent="0">
              <a:buNone/>
            </a:pPr>
            <a:r>
              <a:rPr lang="en-US" sz="1050" i="1" dirty="0">
                <a:solidFill>
                  <a:srgbClr val="667085"/>
                </a:solidFill>
                <a:latin typeface="Calibri" pitchFamily="34" charset="0"/>
                <a:ea typeface="Calibri" pitchFamily="34" charset="-122"/>
                <a:cs typeface="Calibri" pitchFamily="34" charset="-120"/>
              </a:rPr>
              <a:t>Why not simpler?  A Q-table cannot store a 48-number continuous state.</a:t>
            </a:r>
            <a:endParaRPr lang="en-US" sz="1050" dirty="0"/>
          </a:p>
        </p:txBody>
      </p:sp>
      <p:sp>
        <p:nvSpPr>
          <p:cNvPr id="8" name="Shape 5"/>
          <p:cNvSpPr/>
          <p:nvPr/>
        </p:nvSpPr>
        <p:spPr>
          <a:xfrm>
            <a:off x="4983480" y="1097280"/>
            <a:ext cx="3703320" cy="1783080"/>
          </a:xfrm>
          <a:prstGeom prst="roundRect">
            <a:avLst>
              <a:gd name="adj" fmla="val 410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5120640" y="1152144"/>
            <a:ext cx="3474720" cy="256032"/>
          </a:xfrm>
          <a:prstGeom prst="rect">
            <a:avLst/>
          </a:prstGeom>
          <a:noFill/>
          <a:ln/>
        </p:spPr>
        <p:txBody>
          <a:bodyPr wrap="square" lIns="0" tIns="0" rIns="0" bIns="0" rtlCol="0" anchor="ctr"/>
          <a:lstStyle/>
          <a:p>
            <a:pPr marL="0" indent="0">
              <a:buNone/>
            </a:pPr>
            <a:r>
              <a:rPr lang="en-US" sz="1250" b="1" dirty="0">
                <a:solidFill>
                  <a:srgbClr val="1F7AC0"/>
                </a:solidFill>
                <a:latin typeface="Calibri" pitchFamily="34" charset="0"/>
                <a:ea typeface="Calibri" pitchFamily="34" charset="-122"/>
                <a:cs typeface="Calibri" pitchFamily="34" charset="-120"/>
              </a:rPr>
              <a:t>Why PPO fits Angad</a:t>
            </a:r>
            <a:endParaRPr lang="en-US" sz="1250" dirty="0"/>
          </a:p>
        </p:txBody>
      </p:sp>
      <p:sp>
        <p:nvSpPr>
          <p:cNvPr id="10" name="Text 7"/>
          <p:cNvSpPr txBox="1"/>
          <p:nvPr/>
        </p:nvSpPr>
        <p:spPr>
          <a:xfrm>
            <a:off x="5120640" y="1444752"/>
            <a:ext cx="3474720" cy="141732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2B3340"/>
                </a:solidFill>
                <a:latin typeface="Calibri" pitchFamily="34" charset="0"/>
                <a:ea typeface="Calibri" pitchFamily="34" charset="-122"/>
                <a:cs typeface="Calibri" pitchFamily="34" charset="-120"/>
              </a:rPr>
              <a:t>12 continuous actions and a continuous state, handled by a neural-network policy</a:t>
            </a:r>
            <a:endParaRPr lang="en-US" sz="1050" dirty="0"/>
          </a:p>
          <a:p>
            <a:pPr marL="152400" indent="-152400">
              <a:spcAft>
                <a:spcPts val="400"/>
              </a:spcAft>
              <a:buSzPct val="100000"/>
              <a:buChar char="•"/>
            </a:pPr>
            <a:r>
              <a:rPr lang="en-US" sz="1050" dirty="0">
                <a:solidFill>
                  <a:srgbClr val="2B3340"/>
                </a:solidFill>
                <a:latin typeface="Calibri" pitchFamily="34" charset="0"/>
                <a:ea typeface="Calibri" pitchFamily="34" charset="-122"/>
                <a:cs typeface="Calibri" pitchFamily="34" charset="-120"/>
              </a:rPr>
              <a:t>Thousands of simulated robots train in parallel on the GPU</a:t>
            </a:r>
            <a:endParaRPr lang="en-US" sz="1050" dirty="0"/>
          </a:p>
          <a:p>
            <a:pPr marL="152400" indent="-152400">
              <a:spcAft>
                <a:spcPts val="400"/>
              </a:spcAft>
              <a:buSzPct val="100000"/>
              <a:buChar char="•"/>
            </a:pPr>
            <a:r>
              <a:rPr lang="en-US" sz="1050" dirty="0">
                <a:solidFill>
                  <a:srgbClr val="2B3340"/>
                </a:solidFill>
                <a:latin typeface="Calibri" pitchFamily="34" charset="0"/>
                <a:ea typeface="Calibri" pitchFamily="34" charset="-122"/>
                <a:cs typeface="Calibri" pitchFamily="34" charset="-120"/>
              </a:rPr>
              <a:t>Clipping stops one bad update from ruining the walking policy</a:t>
            </a:r>
            <a:endParaRPr lang="en-US" sz="1050" dirty="0"/>
          </a:p>
          <a:p>
            <a:pPr marL="152400" indent="-152400">
              <a:spcAft>
                <a:spcPts val="400"/>
              </a:spcAft>
              <a:buSzPct val="100000"/>
              <a:buChar char="•"/>
            </a:pPr>
            <a:r>
              <a:rPr lang="en-US" sz="1050" dirty="0">
                <a:solidFill>
                  <a:srgbClr val="2B3340"/>
                </a:solidFill>
                <a:latin typeface="Calibri" pitchFamily="34" charset="0"/>
                <a:ea typeface="Calibri" pitchFamily="34" charset="-122"/>
                <a:cs typeface="Calibri" pitchFamily="34" charset="-120"/>
              </a:rPr>
              <a:t>Used in RSL-RL for legged robots such as ANYmal parkour and Spot at 5.2 m/s</a:t>
            </a:r>
            <a:endParaRPr lang="en-US" sz="1050" dirty="0"/>
          </a:p>
        </p:txBody>
      </p:sp>
      <p:sp>
        <p:nvSpPr>
          <p:cNvPr id="6" name="Shape 8"/>
          <p:cNvSpPr/>
          <p:nvPr/>
        </p:nvSpPr>
        <p:spPr>
          <a:xfrm>
            <a:off x="4983480" y="3017520"/>
            <a:ext cx="1828800" cy="1143000"/>
          </a:xfrm>
          <a:prstGeom prst="roundRect">
            <a:avLst>
              <a:gd name="adj" fmla="val 6400"/>
            </a:avLst>
          </a:prstGeom>
          <a:solidFill>
            <a:srgbClr val="1F7AC0"/>
          </a:solidFill>
          <a:ln w="12700">
            <a:solidFill>
              <a:srgbClr val="1F7AC0"/>
            </a:solidFill>
            <a:prstDash val="solid"/>
          </a:ln>
          <a:effectLst>
            <a:outerShdw blurRad="76200" dist="25400" dir="5400000" algn="bl" rotWithShape="0">
              <a:srgbClr val="000000">
                <a:alpha val="12000"/>
              </a:srgbClr>
            </a:outerShdw>
          </a:effectLst>
        </p:spPr>
        <p:txBody>
          <a:bodyPr/>
          <a:lstStyle/>
          <a:p>
            <a:endParaRPr lang="en-US"/>
          </a:p>
        </p:txBody>
      </p:sp>
      <p:pic>
        <p:nvPicPr>
          <p:cNvPr id="12" name="Image 0" descr="preencoded.png"/>
          <p:cNvPicPr>
            <a:picLocks noChangeAspect="1"/>
          </p:cNvPicPr>
          <p:nvPr/>
        </p:nvPicPr>
        <p:blipFill>
          <a:blip r:embed="rId3"/>
          <a:stretch>
            <a:fillRect/>
          </a:stretch>
        </p:blipFill>
        <p:spPr>
          <a:xfrm>
            <a:off x="5093208" y="3127248"/>
            <a:ext cx="310896" cy="310896"/>
          </a:xfrm>
          <a:prstGeom prst="rect">
            <a:avLst/>
          </a:prstGeom>
        </p:spPr>
      </p:pic>
      <p:sp>
        <p:nvSpPr>
          <p:cNvPr id="13" name="Text 9"/>
          <p:cNvSpPr txBox="1"/>
          <p:nvPr/>
        </p:nvSpPr>
        <p:spPr>
          <a:xfrm>
            <a:off x="5093208" y="3474720"/>
            <a:ext cx="1627632" cy="64008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Actor  =  the player</a:t>
            </a:r>
            <a:endParaRPr lang="en-US" sz="1200" dirty="0"/>
          </a:p>
          <a:p>
            <a:pPr marL="0" indent="0">
              <a:buNone/>
            </a:pPr>
            <a:r>
              <a:rPr lang="en-US" sz="1050" dirty="0">
                <a:solidFill>
                  <a:srgbClr val="FFFFFF"/>
                </a:solidFill>
                <a:latin typeface="Calibri" pitchFamily="34" charset="0"/>
                <a:ea typeface="Calibri" pitchFamily="34" charset="-122"/>
                <a:cs typeface="Calibri" pitchFamily="34" charset="-120"/>
              </a:rPr>
              <a:t>Chooses the joint angles</a:t>
            </a:r>
            <a:endParaRPr lang="en-US" sz="1200" dirty="0"/>
          </a:p>
        </p:txBody>
      </p:sp>
      <p:sp>
        <p:nvSpPr>
          <p:cNvPr id="14" name="Shape 10"/>
          <p:cNvSpPr/>
          <p:nvPr/>
        </p:nvSpPr>
        <p:spPr>
          <a:xfrm>
            <a:off x="6858000" y="3017520"/>
            <a:ext cx="1828800" cy="1143000"/>
          </a:xfrm>
          <a:prstGeom prst="roundRect">
            <a:avLst>
              <a:gd name="adj" fmla="val 6400"/>
            </a:avLst>
          </a:prstGeom>
          <a:solidFill>
            <a:srgbClr val="F28C28"/>
          </a:solidFill>
          <a:ln w="12700">
            <a:solidFill>
              <a:srgbClr val="F28C28"/>
            </a:solidFill>
            <a:prstDash val="solid"/>
          </a:ln>
          <a:effectLst>
            <a:outerShdw blurRad="76200" dist="25400" dir="5400000" algn="bl" rotWithShape="0">
              <a:srgbClr val="000000">
                <a:alpha val="12000"/>
              </a:srgbClr>
            </a:outerShdw>
          </a:effectLst>
        </p:spPr>
        <p:txBody>
          <a:bodyPr/>
          <a:lstStyle/>
          <a:p>
            <a:endParaRPr lang="en-US"/>
          </a:p>
        </p:txBody>
      </p:sp>
      <p:pic>
        <p:nvPicPr>
          <p:cNvPr id="15" name="Image 1" descr="preencoded.png"/>
          <p:cNvPicPr>
            <a:picLocks noChangeAspect="1"/>
          </p:cNvPicPr>
          <p:nvPr/>
        </p:nvPicPr>
        <p:blipFill>
          <a:blip r:embed="rId4"/>
          <a:stretch>
            <a:fillRect/>
          </a:stretch>
        </p:blipFill>
        <p:spPr>
          <a:xfrm>
            <a:off x="6967728" y="3127248"/>
            <a:ext cx="310896" cy="310896"/>
          </a:xfrm>
          <a:prstGeom prst="rect">
            <a:avLst/>
          </a:prstGeom>
        </p:spPr>
      </p:pic>
      <p:sp>
        <p:nvSpPr>
          <p:cNvPr id="16" name="Text 11"/>
          <p:cNvSpPr txBox="1"/>
          <p:nvPr/>
        </p:nvSpPr>
        <p:spPr>
          <a:xfrm>
            <a:off x="6967728" y="3474720"/>
            <a:ext cx="1627632" cy="64008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Critic  =  the coach</a:t>
            </a:r>
            <a:endParaRPr lang="en-US" sz="1200" dirty="0"/>
          </a:p>
          <a:p>
            <a:pPr marL="0" indent="0">
              <a:buNone/>
            </a:pPr>
            <a:r>
              <a:rPr lang="en-US" sz="1050" dirty="0">
                <a:solidFill>
                  <a:srgbClr val="FFFFFF"/>
                </a:solidFill>
                <a:latin typeface="Calibri" pitchFamily="34" charset="0"/>
                <a:ea typeface="Calibri" pitchFamily="34" charset="-122"/>
                <a:cs typeface="Calibri" pitchFamily="34" charset="-120"/>
              </a:rPr>
              <a:t>Scores the situation</a:t>
            </a:r>
            <a:endParaRPr lang="en-US" sz="1200" dirty="0"/>
          </a:p>
        </p:txBody>
      </p:sp>
      <p:sp>
        <p:nvSpPr>
          <p:cNvPr id="17" name="Shape 12"/>
          <p:cNvSpPr/>
          <p:nvPr/>
        </p:nvSpPr>
        <p:spPr>
          <a:xfrm>
            <a:off x="457200" y="4279392"/>
            <a:ext cx="8229600" cy="457200"/>
          </a:xfrm>
          <a:prstGeom prst="roundRect">
            <a:avLst>
              <a:gd name="adj" fmla="val 16000"/>
            </a:avLst>
          </a:prstGeom>
          <a:solidFill>
            <a:srgbClr val="FFF1E0"/>
          </a:solidFill>
          <a:ln w="12700">
            <a:solidFill>
              <a:srgbClr val="FFF1E0"/>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585216" y="4389120"/>
            <a:ext cx="237744" cy="237744"/>
          </a:xfrm>
          <a:prstGeom prst="rect">
            <a:avLst/>
          </a:prstGeom>
        </p:spPr>
      </p:pic>
      <p:sp>
        <p:nvSpPr>
          <p:cNvPr id="19" name="Text 13"/>
          <p:cNvSpPr txBox="1"/>
          <p:nvPr/>
        </p:nvSpPr>
        <p:spPr>
          <a:xfrm>
            <a:off x="932688" y="4279392"/>
            <a:ext cx="7635240" cy="457200"/>
          </a:xfrm>
          <a:prstGeom prst="rect">
            <a:avLst/>
          </a:prstGeom>
          <a:noFill/>
          <a:ln/>
        </p:spPr>
        <p:txBody>
          <a:bodyPr wrap="square" lIns="0" tIns="0" rIns="0" bIns="0" rtlCol="0" anchor="ctr"/>
          <a:lstStyle/>
          <a:p>
            <a:pPr marL="0" indent="0">
              <a:buNone/>
            </a:pPr>
            <a:r>
              <a:rPr lang="en-US" sz="1150" b="1" dirty="0">
                <a:solidFill>
                  <a:srgbClr val="F28C28"/>
                </a:solidFill>
                <a:latin typeface="Calibri" pitchFamily="34" charset="0"/>
                <a:ea typeface="Calibri" pitchFamily="34" charset="-122"/>
                <a:cs typeface="Calibri" pitchFamily="34" charset="-120"/>
              </a:rPr>
              <a:t>In plain words:  </a:t>
            </a:r>
            <a:r>
              <a:rPr lang="en-US" sz="1150" dirty="0">
                <a:solidFill>
                  <a:srgbClr val="2B3340"/>
                </a:solidFill>
                <a:latin typeface="Calibri" pitchFamily="34" charset="0"/>
                <a:ea typeface="Calibri" pitchFamily="34" charset="-122"/>
                <a:cs typeface="Calibri" pitchFamily="34" charset="-120"/>
              </a:rPr>
              <a:t>PPO is a two-part team. The Actor tries moves, the Critic acts like a coach that says "that was better (or worse) than I expected".</a:t>
            </a:r>
            <a:endParaRPr lang="en-US" sz="115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50">
                <a:solidFill>
                  <a:srgbClr val="667085"/>
                </a:solidFill>
                <a:latin typeface="Calibri"/>
                <a:ea typeface="Calibri"/>
                <a:cs typeface="Calibri"/>
              </a:defRPr>
            </a:lvl1pPr>
          </a:lstStyle>
          <a:p>
            <a:pPr algn="r"/>
            <a:fld id="{F7021451-1387-4CA6-816F-3879F97B5CBC}" type="slidenum">
              <a:rPr lang="en-US" b="0"/>
              <a:t>10</a:t>
            </a:fld>
            <a:endParaRPr lang="en-US"/>
          </a:p>
        </p:txBody>
      </p:sp>
      <p:sp>
        <p:nvSpPr>
          <p:cNvPr id="21" name="Text 3">
            <a:extLst>
              <a:ext uri="{FF2B5EF4-FFF2-40B4-BE49-F238E27FC236}">
                <a16:creationId xmlns:a16="http://schemas.microsoft.com/office/drawing/2014/main" id="{476E8CA9-CA43-4963-20D6-C08D4D5946A7}"/>
              </a:ext>
            </a:extLst>
          </p:cNvPr>
          <p:cNvSpPr txBox="1"/>
          <p:nvPr/>
        </p:nvSpPr>
        <p:spPr>
          <a:xfrm>
            <a:off x="457200" y="4846320"/>
            <a:ext cx="4572000" cy="201168"/>
          </a:xfrm>
          <a:prstGeom prst="rect">
            <a:avLst/>
          </a:prstGeom>
          <a:noFill/>
          <a:ln/>
        </p:spPr>
        <p:txBody>
          <a:bodyPr wrap="square" lIns="0" tIns="0" rIns="0" bIns="0" rtlCol="0" anchor="ctr"/>
          <a:lstStyle/>
          <a:p>
            <a:pPr marL="0" indent="0">
              <a:buNone/>
            </a:pPr>
            <a:r>
              <a:rPr lang="en-US" sz="850" dirty="0">
                <a:solidFill>
                  <a:srgbClr val="667085"/>
                </a:solidFill>
                <a:latin typeface="Calibri" pitchFamily="34" charset="0"/>
                <a:ea typeface="Calibri" pitchFamily="34" charset="-122"/>
                <a:cs typeface="Calibri" pitchFamily="34" charset="-120"/>
              </a:rPr>
              <a:t>RL Mini-Project  ·  Biped walking</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457200" y="219456"/>
            <a:ext cx="2194560" cy="219456"/>
          </a:xfrm>
          <a:prstGeom prst="roundRect">
            <a:avLst>
              <a:gd name="adj" fmla="val 20833"/>
            </a:avLst>
          </a:prstGeom>
          <a:solidFill>
            <a:srgbClr val="E6F1FA"/>
          </a:solidFill>
          <a:ln w="12700">
            <a:solidFill>
              <a:srgbClr val="E6F1FA"/>
            </a:solidFill>
            <a:prstDash val="solid"/>
          </a:ln>
        </p:spPr>
        <p:txBody>
          <a:bodyPr/>
          <a:lstStyle/>
          <a:p>
            <a:endParaRPr lang="en-US"/>
          </a:p>
        </p:txBody>
      </p:sp>
      <p:sp>
        <p:nvSpPr>
          <p:cNvPr id="3" name="Text 1"/>
          <p:cNvSpPr txBox="1"/>
          <p:nvPr/>
        </p:nvSpPr>
        <p:spPr>
          <a:xfrm>
            <a:off x="457200" y="219456"/>
            <a:ext cx="2194560" cy="219456"/>
          </a:xfrm>
          <a:prstGeom prst="rect">
            <a:avLst/>
          </a:prstGeom>
          <a:noFill/>
          <a:ln/>
        </p:spPr>
        <p:txBody>
          <a:bodyPr wrap="square" lIns="0" tIns="0" rIns="0" bIns="0" rtlCol="0" anchor="ctr"/>
          <a:lstStyle/>
          <a:p>
            <a:pPr marL="0" indent="0" algn="ctr">
              <a:buNone/>
            </a:pPr>
            <a:r>
              <a:rPr lang="en-US" sz="850" b="1" kern="0" spc="100" dirty="0">
                <a:solidFill>
                  <a:srgbClr val="1F7AC0"/>
                </a:solidFill>
                <a:latin typeface="Calibri" pitchFamily="34" charset="0"/>
                <a:ea typeface="Calibri" pitchFamily="34" charset="-122"/>
                <a:cs typeface="Calibri" pitchFamily="34" charset="-120"/>
              </a:rPr>
              <a:t>PART I  ·  CO2  ·  THE MATHS</a:t>
            </a:r>
            <a:endParaRPr lang="en-US" sz="850" dirty="0"/>
          </a:p>
        </p:txBody>
      </p:sp>
      <p:sp>
        <p:nvSpPr>
          <p:cNvPr id="4" name="Text 2"/>
          <p:cNvSpPr txBox="1"/>
          <p:nvPr/>
        </p:nvSpPr>
        <p:spPr>
          <a:xfrm>
            <a:off x="457200" y="475488"/>
            <a:ext cx="8229600" cy="502920"/>
          </a:xfrm>
          <a:prstGeom prst="rect">
            <a:avLst/>
          </a:prstGeom>
          <a:noFill/>
          <a:ln/>
        </p:spPr>
        <p:txBody>
          <a:bodyPr wrap="square" lIns="0" tIns="0" rIns="0" bIns="0" rtlCol="0" anchor="ctr"/>
          <a:lstStyle/>
          <a:p>
            <a:pPr marL="0" indent="0">
              <a:buNone/>
            </a:pPr>
            <a:r>
              <a:rPr lang="en-US" sz="2600" b="1" dirty="0">
                <a:solidFill>
                  <a:srgbClr val="2B3340"/>
                </a:solidFill>
                <a:latin typeface="Cambria" pitchFamily="34" charset="0"/>
                <a:ea typeface="Cambria" pitchFamily="34" charset="-122"/>
                <a:cs typeface="Cambria" pitchFamily="34" charset="-120"/>
              </a:rPr>
              <a:t>Core Equations Used in Training</a:t>
            </a:r>
            <a:endParaRPr lang="en-US" sz="2600" dirty="0"/>
          </a:p>
        </p:txBody>
      </p:sp>
      <p:sp>
        <p:nvSpPr>
          <p:cNvPr id="5" name="Text 3"/>
          <p:cNvSpPr txBox="1"/>
          <p:nvPr/>
        </p:nvSpPr>
        <p:spPr>
          <a:xfrm>
            <a:off x="457200" y="4846320"/>
            <a:ext cx="4572000" cy="201168"/>
          </a:xfrm>
          <a:prstGeom prst="rect">
            <a:avLst/>
          </a:prstGeom>
          <a:noFill/>
          <a:ln/>
        </p:spPr>
        <p:txBody>
          <a:bodyPr wrap="square" lIns="0" tIns="0" rIns="0" bIns="0" rtlCol="0" anchor="ctr"/>
          <a:lstStyle/>
          <a:p>
            <a:pPr marL="0" indent="0">
              <a:buNone/>
            </a:pPr>
            <a:r>
              <a:rPr lang="en-US" sz="850" dirty="0">
                <a:solidFill>
                  <a:srgbClr val="667085"/>
                </a:solidFill>
                <a:latin typeface="Calibri" pitchFamily="34" charset="0"/>
                <a:ea typeface="Calibri" pitchFamily="34" charset="-122"/>
                <a:cs typeface="Calibri" pitchFamily="34" charset="-120"/>
              </a:rPr>
              <a:t>RL Mini-Project  ·  Angad biped walking</a:t>
            </a:r>
            <a:endParaRPr lang="en-US" sz="850" dirty="0"/>
          </a:p>
        </p:txBody>
      </p:sp>
      <p:sp>
        <p:nvSpPr>
          <p:cNvPr id="6" name="Shape 4"/>
          <p:cNvSpPr/>
          <p:nvPr/>
        </p:nvSpPr>
        <p:spPr>
          <a:xfrm>
            <a:off x="457200" y="1051560"/>
            <a:ext cx="4023360" cy="1353312"/>
          </a:xfrm>
          <a:prstGeom prst="roundRect">
            <a:avLst>
              <a:gd name="adj" fmla="val 5405"/>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5"/>
          <p:cNvSpPr txBox="1"/>
          <p:nvPr/>
        </p:nvSpPr>
        <p:spPr>
          <a:xfrm>
            <a:off x="594360" y="1124712"/>
            <a:ext cx="3749040" cy="228600"/>
          </a:xfrm>
          <a:prstGeom prst="rect">
            <a:avLst/>
          </a:prstGeom>
          <a:noFill/>
          <a:ln/>
        </p:spPr>
        <p:txBody>
          <a:bodyPr wrap="square" lIns="0" tIns="0" rIns="0" bIns="0" rtlCol="0" anchor="ctr"/>
          <a:lstStyle/>
          <a:p>
            <a:pPr marL="0" indent="0">
              <a:buNone/>
            </a:pPr>
            <a:r>
              <a:rPr lang="en-US" sz="1150" b="1" dirty="0">
                <a:solidFill>
                  <a:srgbClr val="1F7AC0"/>
                </a:solidFill>
                <a:latin typeface="Calibri" pitchFamily="34" charset="0"/>
                <a:ea typeface="Calibri" pitchFamily="34" charset="-122"/>
                <a:cs typeface="Calibri" pitchFamily="34" charset="-120"/>
              </a:rPr>
              <a:t>1  TD error</a:t>
            </a:r>
            <a:endParaRPr lang="en-US" sz="1150" dirty="0"/>
          </a:p>
        </p:txBody>
      </p:sp>
      <p:sp>
        <p:nvSpPr>
          <p:cNvPr id="8" name="Text 6"/>
          <p:cNvSpPr txBox="1"/>
          <p:nvPr/>
        </p:nvSpPr>
        <p:spPr>
          <a:xfrm>
            <a:off x="594360" y="1380744"/>
            <a:ext cx="3749040" cy="502920"/>
          </a:xfrm>
          <a:prstGeom prst="rect">
            <a:avLst/>
          </a:prstGeom>
          <a:noFill/>
          <a:ln/>
        </p:spPr>
        <p:txBody>
          <a:bodyPr wrap="square" lIns="0" tIns="0" rIns="0" bIns="0" rtlCol="0" anchor="ctr"/>
          <a:lstStyle/>
          <a:p>
            <a:pPr marL="0" indent="0">
              <a:buNone/>
            </a:pPr>
            <a:r>
              <a:rPr lang="en-US" sz="1400" i="1" dirty="0">
                <a:solidFill>
                  <a:srgbClr val="2B3340"/>
                </a:solidFill>
                <a:latin typeface="Cambria" pitchFamily="34" charset="0"/>
                <a:ea typeface="Cambria" pitchFamily="34" charset="-122"/>
                <a:cs typeface="Cambria" pitchFamily="34" charset="-120"/>
              </a:rPr>
              <a:t>δ</a:t>
            </a:r>
            <a:r>
              <a:rPr lang="en-US" sz="1400" i="1" baseline="-40000" dirty="0">
                <a:solidFill>
                  <a:srgbClr val="2B3340"/>
                </a:solidFill>
                <a:latin typeface="Cambria" pitchFamily="34" charset="0"/>
                <a:ea typeface="Cambria" pitchFamily="34" charset="-122"/>
                <a:cs typeface="Cambria" pitchFamily="34" charset="-120"/>
              </a:rPr>
              <a:t>t</a:t>
            </a:r>
            <a:r>
              <a:rPr lang="en-US" sz="1400" i="1" dirty="0">
                <a:solidFill>
                  <a:srgbClr val="2B3340"/>
                </a:solidFill>
                <a:latin typeface="Cambria" pitchFamily="34" charset="0"/>
                <a:ea typeface="Cambria" pitchFamily="34" charset="-122"/>
                <a:cs typeface="Cambria" pitchFamily="34" charset="-120"/>
              </a:rPr>
              <a:t> = r</a:t>
            </a:r>
            <a:r>
              <a:rPr lang="en-US" sz="1400" i="1" baseline="-40000" dirty="0">
                <a:solidFill>
                  <a:srgbClr val="2B3340"/>
                </a:solidFill>
                <a:latin typeface="Cambria" pitchFamily="34" charset="0"/>
                <a:ea typeface="Cambria" pitchFamily="34" charset="-122"/>
                <a:cs typeface="Cambria" pitchFamily="34" charset="-120"/>
              </a:rPr>
              <a:t>t</a:t>
            </a:r>
            <a:r>
              <a:rPr lang="en-US" sz="1400" i="1" dirty="0">
                <a:solidFill>
                  <a:srgbClr val="2B3340"/>
                </a:solidFill>
                <a:latin typeface="Cambria" pitchFamily="34" charset="0"/>
                <a:ea typeface="Cambria" pitchFamily="34" charset="-122"/>
                <a:cs typeface="Cambria" pitchFamily="34" charset="-120"/>
              </a:rPr>
              <a:t> + γ · V(s</a:t>
            </a:r>
            <a:r>
              <a:rPr lang="en-US" sz="1400" i="1" baseline="-40000" dirty="0">
                <a:solidFill>
                  <a:srgbClr val="2B3340"/>
                </a:solidFill>
                <a:latin typeface="Cambria" pitchFamily="34" charset="0"/>
                <a:ea typeface="Cambria" pitchFamily="34" charset="-122"/>
                <a:cs typeface="Cambria" pitchFamily="34" charset="-120"/>
              </a:rPr>
              <a:t>t+1</a:t>
            </a:r>
            <a:r>
              <a:rPr lang="en-US" sz="1400" i="1" dirty="0">
                <a:solidFill>
                  <a:srgbClr val="2B3340"/>
                </a:solidFill>
                <a:latin typeface="Cambria" pitchFamily="34" charset="0"/>
                <a:ea typeface="Cambria" pitchFamily="34" charset="-122"/>
                <a:cs typeface="Cambria" pitchFamily="34" charset="-120"/>
              </a:rPr>
              <a:t>) − V(s</a:t>
            </a:r>
            <a:r>
              <a:rPr lang="en-US" sz="1400" i="1" baseline="-40000" dirty="0">
                <a:solidFill>
                  <a:srgbClr val="2B3340"/>
                </a:solidFill>
                <a:latin typeface="Cambria" pitchFamily="34" charset="0"/>
                <a:ea typeface="Cambria" pitchFamily="34" charset="-122"/>
                <a:cs typeface="Cambria" pitchFamily="34" charset="-120"/>
              </a:rPr>
              <a:t>t</a:t>
            </a:r>
            <a:r>
              <a:rPr lang="en-US" sz="1400" i="1" dirty="0">
                <a:solidFill>
                  <a:srgbClr val="2B3340"/>
                </a:solidFill>
                <a:latin typeface="Cambria" pitchFamily="34" charset="0"/>
                <a:ea typeface="Cambria" pitchFamily="34" charset="-122"/>
                <a:cs typeface="Cambria" pitchFamily="34" charset="-120"/>
              </a:rPr>
              <a:t>)</a:t>
            </a:r>
            <a:endParaRPr lang="en-US" sz="1400" dirty="0"/>
          </a:p>
        </p:txBody>
      </p:sp>
      <p:sp>
        <p:nvSpPr>
          <p:cNvPr id="9" name="Text 7"/>
          <p:cNvSpPr txBox="1"/>
          <p:nvPr/>
        </p:nvSpPr>
        <p:spPr>
          <a:xfrm>
            <a:off x="594360" y="1911096"/>
            <a:ext cx="3749040" cy="438912"/>
          </a:xfrm>
          <a:prstGeom prst="rect">
            <a:avLst/>
          </a:prstGeom>
          <a:noFill/>
          <a:ln/>
        </p:spPr>
        <p:txBody>
          <a:bodyPr wrap="square" lIns="0" tIns="0" rIns="0" bIns="0" rtlCol="0" anchor="t"/>
          <a:lstStyle/>
          <a:p>
            <a:pPr marL="0" indent="0">
              <a:buNone/>
            </a:pPr>
            <a:r>
              <a:rPr lang="en-US" sz="1050" dirty="0">
                <a:solidFill>
                  <a:srgbClr val="667085"/>
                </a:solidFill>
                <a:latin typeface="Calibri" pitchFamily="34" charset="0"/>
                <a:ea typeface="Calibri" pitchFamily="34" charset="-122"/>
                <a:cs typeface="Calibri" pitchFamily="34" charset="-120"/>
              </a:rPr>
              <a:t>Was the outcome better or worse than the Critic expected?  (γ = 0.99)</a:t>
            </a:r>
            <a:endParaRPr lang="en-US" sz="1050" dirty="0"/>
          </a:p>
        </p:txBody>
      </p:sp>
      <p:sp>
        <p:nvSpPr>
          <p:cNvPr id="10" name="Shape 8"/>
          <p:cNvSpPr/>
          <p:nvPr/>
        </p:nvSpPr>
        <p:spPr>
          <a:xfrm>
            <a:off x="4663440" y="1051560"/>
            <a:ext cx="4023360" cy="1353312"/>
          </a:xfrm>
          <a:prstGeom prst="roundRect">
            <a:avLst>
              <a:gd name="adj" fmla="val 5405"/>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11" name="Text 9"/>
          <p:cNvSpPr txBox="1"/>
          <p:nvPr/>
        </p:nvSpPr>
        <p:spPr>
          <a:xfrm>
            <a:off x="4800600" y="1124712"/>
            <a:ext cx="3749040" cy="228600"/>
          </a:xfrm>
          <a:prstGeom prst="rect">
            <a:avLst/>
          </a:prstGeom>
          <a:noFill/>
          <a:ln/>
        </p:spPr>
        <p:txBody>
          <a:bodyPr wrap="square" lIns="0" tIns="0" rIns="0" bIns="0" rtlCol="0" anchor="ctr"/>
          <a:lstStyle/>
          <a:p>
            <a:pPr marL="0" indent="0">
              <a:buNone/>
            </a:pPr>
            <a:r>
              <a:rPr lang="en-US" sz="1150" b="1" dirty="0">
                <a:solidFill>
                  <a:srgbClr val="1F7AC0"/>
                </a:solidFill>
                <a:latin typeface="Calibri" pitchFamily="34" charset="0"/>
                <a:ea typeface="Calibri" pitchFamily="34" charset="-122"/>
                <a:cs typeface="Calibri" pitchFamily="34" charset="-120"/>
              </a:rPr>
              <a:t>2  Advantage (GAE)</a:t>
            </a:r>
            <a:endParaRPr lang="en-US" sz="1150" dirty="0"/>
          </a:p>
        </p:txBody>
      </p:sp>
      <p:sp>
        <p:nvSpPr>
          <p:cNvPr id="12" name="Text 10"/>
          <p:cNvSpPr txBox="1"/>
          <p:nvPr/>
        </p:nvSpPr>
        <p:spPr>
          <a:xfrm>
            <a:off x="4800600" y="1380744"/>
            <a:ext cx="3749040" cy="502920"/>
          </a:xfrm>
          <a:prstGeom prst="rect">
            <a:avLst/>
          </a:prstGeom>
          <a:noFill/>
          <a:ln/>
        </p:spPr>
        <p:txBody>
          <a:bodyPr wrap="square" lIns="0" tIns="0" rIns="0" bIns="0" rtlCol="0" anchor="ctr"/>
          <a:lstStyle/>
          <a:p>
            <a:pPr marL="0" indent="0">
              <a:buNone/>
            </a:pPr>
            <a:r>
              <a:rPr lang="en-US" sz="1400" i="1" dirty="0">
                <a:solidFill>
                  <a:srgbClr val="2B3340"/>
                </a:solidFill>
                <a:latin typeface="Cambria" pitchFamily="34" charset="0"/>
                <a:ea typeface="Cambria" pitchFamily="34" charset="-122"/>
                <a:cs typeface="Cambria" pitchFamily="34" charset="-120"/>
              </a:rPr>
              <a:t>A</a:t>
            </a:r>
            <a:r>
              <a:rPr lang="en-US" sz="1400" i="1" baseline="-40000" dirty="0">
                <a:solidFill>
                  <a:srgbClr val="2B3340"/>
                </a:solidFill>
                <a:latin typeface="Cambria" pitchFamily="34" charset="0"/>
                <a:ea typeface="Cambria" pitchFamily="34" charset="-122"/>
                <a:cs typeface="Cambria" pitchFamily="34" charset="-120"/>
              </a:rPr>
              <a:t>t</a:t>
            </a:r>
            <a:r>
              <a:rPr lang="en-US" sz="1400" i="1" dirty="0">
                <a:solidFill>
                  <a:srgbClr val="2B3340"/>
                </a:solidFill>
                <a:latin typeface="Cambria" pitchFamily="34" charset="0"/>
                <a:ea typeface="Cambria" pitchFamily="34" charset="-122"/>
                <a:cs typeface="Cambria" pitchFamily="34" charset="-120"/>
              </a:rPr>
              <a:t> = Σ</a:t>
            </a:r>
            <a:r>
              <a:rPr lang="en-US" sz="1400" i="1" baseline="-40000" dirty="0">
                <a:solidFill>
                  <a:srgbClr val="2B3340"/>
                </a:solidFill>
                <a:latin typeface="Cambria" pitchFamily="34" charset="0"/>
                <a:ea typeface="Cambria" pitchFamily="34" charset="-122"/>
                <a:cs typeface="Cambria" pitchFamily="34" charset="-120"/>
              </a:rPr>
              <a:t>l≥0</a:t>
            </a:r>
            <a:r>
              <a:rPr lang="en-US" sz="1400" i="1" dirty="0">
                <a:solidFill>
                  <a:srgbClr val="2B3340"/>
                </a:solidFill>
                <a:latin typeface="Cambria" pitchFamily="34" charset="0"/>
                <a:ea typeface="Cambria" pitchFamily="34" charset="-122"/>
                <a:cs typeface="Cambria" pitchFamily="34" charset="-120"/>
              </a:rPr>
              <a:t> (γλ)</a:t>
            </a:r>
            <a:r>
              <a:rPr lang="en-US" sz="1400" i="1" baseline="30000" dirty="0">
                <a:solidFill>
                  <a:srgbClr val="2B3340"/>
                </a:solidFill>
                <a:latin typeface="Cambria" pitchFamily="34" charset="0"/>
                <a:ea typeface="Cambria" pitchFamily="34" charset="-122"/>
                <a:cs typeface="Cambria" pitchFamily="34" charset="-120"/>
              </a:rPr>
              <a:t>l</a:t>
            </a:r>
            <a:r>
              <a:rPr lang="en-US" sz="1400" i="1" dirty="0">
                <a:solidFill>
                  <a:srgbClr val="2B3340"/>
                </a:solidFill>
                <a:latin typeface="Cambria" pitchFamily="34" charset="0"/>
                <a:ea typeface="Cambria" pitchFamily="34" charset="-122"/>
                <a:cs typeface="Cambria" pitchFamily="34" charset="-120"/>
              </a:rPr>
              <a:t> · δ</a:t>
            </a:r>
            <a:r>
              <a:rPr lang="en-US" sz="1400" i="1" baseline="-40000" dirty="0">
                <a:solidFill>
                  <a:srgbClr val="2B3340"/>
                </a:solidFill>
                <a:latin typeface="Cambria" pitchFamily="34" charset="0"/>
                <a:ea typeface="Cambria" pitchFamily="34" charset="-122"/>
                <a:cs typeface="Cambria" pitchFamily="34" charset="-120"/>
              </a:rPr>
              <a:t>t+l</a:t>
            </a:r>
            <a:endParaRPr lang="en-US" sz="1400" dirty="0"/>
          </a:p>
        </p:txBody>
      </p:sp>
      <p:sp>
        <p:nvSpPr>
          <p:cNvPr id="13" name="Text 11"/>
          <p:cNvSpPr txBox="1"/>
          <p:nvPr/>
        </p:nvSpPr>
        <p:spPr>
          <a:xfrm>
            <a:off x="4800600" y="1911096"/>
            <a:ext cx="3749040" cy="438912"/>
          </a:xfrm>
          <a:prstGeom prst="rect">
            <a:avLst/>
          </a:prstGeom>
          <a:noFill/>
          <a:ln/>
        </p:spPr>
        <p:txBody>
          <a:bodyPr wrap="square" lIns="0" tIns="0" rIns="0" bIns="0" rtlCol="0" anchor="t"/>
          <a:lstStyle/>
          <a:p>
            <a:pPr marL="0" indent="0">
              <a:buNone/>
            </a:pPr>
            <a:r>
              <a:rPr lang="en-US" sz="1050" dirty="0">
                <a:solidFill>
                  <a:srgbClr val="667085"/>
                </a:solidFill>
                <a:latin typeface="Calibri" pitchFamily="34" charset="0"/>
                <a:ea typeface="Calibri" pitchFamily="34" charset="-122"/>
                <a:cs typeface="Calibri" pitchFamily="34" charset="-120"/>
              </a:rPr>
              <a:t>How much better was this action than average?  (λ = 0.95)</a:t>
            </a:r>
            <a:endParaRPr lang="en-US" sz="1050" dirty="0"/>
          </a:p>
        </p:txBody>
      </p:sp>
      <p:sp>
        <p:nvSpPr>
          <p:cNvPr id="14" name="Shape 12"/>
          <p:cNvSpPr/>
          <p:nvPr/>
        </p:nvSpPr>
        <p:spPr>
          <a:xfrm>
            <a:off x="457200" y="2496312"/>
            <a:ext cx="4023360" cy="1353312"/>
          </a:xfrm>
          <a:prstGeom prst="roundRect">
            <a:avLst>
              <a:gd name="adj" fmla="val 5405"/>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15" name="Text 13"/>
          <p:cNvSpPr txBox="1"/>
          <p:nvPr/>
        </p:nvSpPr>
        <p:spPr>
          <a:xfrm>
            <a:off x="594360" y="2569464"/>
            <a:ext cx="3749040" cy="228600"/>
          </a:xfrm>
          <a:prstGeom prst="rect">
            <a:avLst/>
          </a:prstGeom>
          <a:noFill/>
          <a:ln/>
        </p:spPr>
        <p:txBody>
          <a:bodyPr wrap="square" lIns="0" tIns="0" rIns="0" bIns="0" rtlCol="0" anchor="ctr"/>
          <a:lstStyle/>
          <a:p>
            <a:pPr marL="0" indent="0">
              <a:buNone/>
            </a:pPr>
            <a:r>
              <a:rPr lang="en-US" sz="1150" b="1" dirty="0">
                <a:solidFill>
                  <a:srgbClr val="1F7AC0"/>
                </a:solidFill>
                <a:latin typeface="Calibri" pitchFamily="34" charset="0"/>
                <a:ea typeface="Calibri" pitchFamily="34" charset="-122"/>
                <a:cs typeface="Calibri" pitchFamily="34" charset="-120"/>
              </a:rPr>
              <a:t>3  Actor loss (PPO clip)</a:t>
            </a:r>
            <a:endParaRPr lang="en-US" sz="1150" dirty="0"/>
          </a:p>
        </p:txBody>
      </p:sp>
      <p:sp>
        <p:nvSpPr>
          <p:cNvPr id="16" name="Text 14"/>
          <p:cNvSpPr txBox="1"/>
          <p:nvPr/>
        </p:nvSpPr>
        <p:spPr>
          <a:xfrm>
            <a:off x="594360" y="2825496"/>
            <a:ext cx="3749040" cy="502920"/>
          </a:xfrm>
          <a:prstGeom prst="rect">
            <a:avLst/>
          </a:prstGeom>
          <a:noFill/>
          <a:ln/>
        </p:spPr>
        <p:txBody>
          <a:bodyPr wrap="square" lIns="0" tIns="0" rIns="0" bIns="0" rtlCol="0" anchor="ctr"/>
          <a:lstStyle/>
          <a:p>
            <a:pPr marL="0" indent="0">
              <a:buNone/>
            </a:pPr>
            <a:r>
              <a:rPr lang="en-US" sz="1400" i="1" dirty="0">
                <a:solidFill>
                  <a:srgbClr val="2B3340"/>
                </a:solidFill>
                <a:latin typeface="Cambria" pitchFamily="34" charset="0"/>
                <a:ea typeface="Cambria" pitchFamily="34" charset="-122"/>
                <a:cs typeface="Cambria" pitchFamily="34" charset="-120"/>
              </a:rPr>
              <a:t>L</a:t>
            </a:r>
            <a:r>
              <a:rPr lang="en-US" sz="1400" i="1" baseline="30000" dirty="0">
                <a:solidFill>
                  <a:srgbClr val="2B3340"/>
                </a:solidFill>
                <a:latin typeface="Cambria" pitchFamily="34" charset="0"/>
                <a:ea typeface="Cambria" pitchFamily="34" charset="-122"/>
                <a:cs typeface="Cambria" pitchFamily="34" charset="-120"/>
              </a:rPr>
              <a:t>CLIP</a:t>
            </a:r>
            <a:r>
              <a:rPr lang="en-US" sz="1400" i="1" dirty="0">
                <a:solidFill>
                  <a:srgbClr val="2B3340"/>
                </a:solidFill>
                <a:latin typeface="Cambria" pitchFamily="34" charset="0"/>
                <a:ea typeface="Cambria" pitchFamily="34" charset="-122"/>
                <a:cs typeface="Cambria" pitchFamily="34" charset="-120"/>
              </a:rPr>
              <a:t> = E[ min( ρ</a:t>
            </a:r>
            <a:r>
              <a:rPr lang="en-US" sz="1400" i="1" baseline="-40000" dirty="0">
                <a:solidFill>
                  <a:srgbClr val="2B3340"/>
                </a:solidFill>
                <a:latin typeface="Cambria" pitchFamily="34" charset="0"/>
                <a:ea typeface="Cambria" pitchFamily="34" charset="-122"/>
                <a:cs typeface="Cambria" pitchFamily="34" charset="-120"/>
              </a:rPr>
              <a:t>t</a:t>
            </a:r>
            <a:r>
              <a:rPr lang="en-US" sz="1400" i="1" dirty="0">
                <a:solidFill>
                  <a:srgbClr val="2B3340"/>
                </a:solidFill>
                <a:latin typeface="Cambria" pitchFamily="34" charset="0"/>
                <a:ea typeface="Cambria" pitchFamily="34" charset="-122"/>
                <a:cs typeface="Cambria" pitchFamily="34" charset="-120"/>
              </a:rPr>
              <a:t>·A</a:t>
            </a:r>
            <a:r>
              <a:rPr lang="en-US" sz="1400" i="1" baseline="-40000" dirty="0">
                <a:solidFill>
                  <a:srgbClr val="2B3340"/>
                </a:solidFill>
                <a:latin typeface="Cambria" pitchFamily="34" charset="0"/>
                <a:ea typeface="Cambria" pitchFamily="34" charset="-122"/>
                <a:cs typeface="Cambria" pitchFamily="34" charset="-120"/>
              </a:rPr>
              <a:t>t</a:t>
            </a:r>
            <a:r>
              <a:rPr lang="en-US" sz="1400" i="1" dirty="0">
                <a:solidFill>
                  <a:srgbClr val="2B3340"/>
                </a:solidFill>
                <a:latin typeface="Cambria" pitchFamily="34" charset="0"/>
                <a:ea typeface="Cambria" pitchFamily="34" charset="-122"/>
                <a:cs typeface="Cambria" pitchFamily="34" charset="-120"/>
              </a:rPr>
              <a:t> ,  clip(ρ</a:t>
            </a:r>
            <a:r>
              <a:rPr lang="en-US" sz="1400" i="1" baseline="-40000" dirty="0">
                <a:solidFill>
                  <a:srgbClr val="2B3340"/>
                </a:solidFill>
                <a:latin typeface="Cambria" pitchFamily="34" charset="0"/>
                <a:ea typeface="Cambria" pitchFamily="34" charset="-122"/>
                <a:cs typeface="Cambria" pitchFamily="34" charset="-120"/>
              </a:rPr>
              <a:t>t</a:t>
            </a:r>
            <a:r>
              <a:rPr lang="en-US" sz="1400" i="1" dirty="0">
                <a:solidFill>
                  <a:srgbClr val="2B3340"/>
                </a:solidFill>
                <a:latin typeface="Cambria" pitchFamily="34" charset="0"/>
                <a:ea typeface="Cambria" pitchFamily="34" charset="-122"/>
                <a:cs typeface="Cambria" pitchFamily="34" charset="-120"/>
              </a:rPr>
              <a:t>, 0.8, 1.2)·A</a:t>
            </a:r>
            <a:r>
              <a:rPr lang="en-US" sz="1400" i="1" baseline="-40000" dirty="0">
                <a:solidFill>
                  <a:srgbClr val="2B3340"/>
                </a:solidFill>
                <a:latin typeface="Cambria" pitchFamily="34" charset="0"/>
                <a:ea typeface="Cambria" pitchFamily="34" charset="-122"/>
                <a:cs typeface="Cambria" pitchFamily="34" charset="-120"/>
              </a:rPr>
              <a:t>t</a:t>
            </a:r>
            <a:r>
              <a:rPr lang="en-US" sz="1400" i="1" dirty="0">
                <a:solidFill>
                  <a:srgbClr val="2B3340"/>
                </a:solidFill>
                <a:latin typeface="Cambria" pitchFamily="34" charset="0"/>
                <a:ea typeface="Cambria" pitchFamily="34" charset="-122"/>
                <a:cs typeface="Cambria" pitchFamily="34" charset="-120"/>
              </a:rPr>
              <a:t> ) ]</a:t>
            </a:r>
            <a:endParaRPr lang="en-US" sz="1400" dirty="0"/>
          </a:p>
        </p:txBody>
      </p:sp>
      <p:sp>
        <p:nvSpPr>
          <p:cNvPr id="17" name="Text 15"/>
          <p:cNvSpPr txBox="1"/>
          <p:nvPr/>
        </p:nvSpPr>
        <p:spPr>
          <a:xfrm>
            <a:off x="594360" y="3355848"/>
            <a:ext cx="3749040" cy="438912"/>
          </a:xfrm>
          <a:prstGeom prst="rect">
            <a:avLst/>
          </a:prstGeom>
          <a:noFill/>
          <a:ln/>
        </p:spPr>
        <p:txBody>
          <a:bodyPr wrap="square" lIns="0" tIns="0" rIns="0" bIns="0" rtlCol="0" anchor="t"/>
          <a:lstStyle/>
          <a:p>
            <a:pPr marL="0" indent="0">
              <a:buNone/>
            </a:pPr>
            <a:r>
              <a:rPr lang="en-US" sz="1050" dirty="0">
                <a:solidFill>
                  <a:srgbClr val="667085"/>
                </a:solidFill>
                <a:latin typeface="Calibri" pitchFamily="34" charset="0"/>
                <a:ea typeface="Calibri" pitchFamily="34" charset="-122"/>
                <a:cs typeface="Calibri" pitchFamily="34" charset="-120"/>
              </a:rPr>
              <a:t>ρ = new policy ÷ old policy probability of the action. Clip ε = 0.2 stops big jumps.</a:t>
            </a:r>
            <a:endParaRPr lang="en-US" sz="1050" dirty="0"/>
          </a:p>
        </p:txBody>
      </p:sp>
      <p:sp>
        <p:nvSpPr>
          <p:cNvPr id="18" name="Shape 16"/>
          <p:cNvSpPr/>
          <p:nvPr/>
        </p:nvSpPr>
        <p:spPr>
          <a:xfrm>
            <a:off x="4663440" y="2496312"/>
            <a:ext cx="4023360" cy="1353312"/>
          </a:xfrm>
          <a:prstGeom prst="roundRect">
            <a:avLst>
              <a:gd name="adj" fmla="val 5405"/>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19" name="Text 17"/>
          <p:cNvSpPr txBox="1"/>
          <p:nvPr/>
        </p:nvSpPr>
        <p:spPr>
          <a:xfrm>
            <a:off x="4800600" y="2569464"/>
            <a:ext cx="3749040" cy="228600"/>
          </a:xfrm>
          <a:prstGeom prst="rect">
            <a:avLst/>
          </a:prstGeom>
          <a:noFill/>
          <a:ln/>
        </p:spPr>
        <p:txBody>
          <a:bodyPr wrap="square" lIns="0" tIns="0" rIns="0" bIns="0" rtlCol="0" anchor="ctr"/>
          <a:lstStyle/>
          <a:p>
            <a:pPr marL="0" indent="0">
              <a:buNone/>
            </a:pPr>
            <a:r>
              <a:rPr lang="en-US" sz="1150" b="1" dirty="0">
                <a:solidFill>
                  <a:srgbClr val="1F7AC0"/>
                </a:solidFill>
                <a:latin typeface="Calibri" pitchFamily="34" charset="0"/>
                <a:ea typeface="Calibri" pitchFamily="34" charset="-122"/>
                <a:cs typeface="Calibri" pitchFamily="34" charset="-120"/>
              </a:rPr>
              <a:t>4  Critic loss</a:t>
            </a:r>
            <a:endParaRPr lang="en-US" sz="1150" dirty="0"/>
          </a:p>
        </p:txBody>
      </p:sp>
      <p:sp>
        <p:nvSpPr>
          <p:cNvPr id="20" name="Text 18"/>
          <p:cNvSpPr txBox="1"/>
          <p:nvPr/>
        </p:nvSpPr>
        <p:spPr>
          <a:xfrm>
            <a:off x="4800600" y="2825496"/>
            <a:ext cx="3749040" cy="502920"/>
          </a:xfrm>
          <a:prstGeom prst="rect">
            <a:avLst/>
          </a:prstGeom>
          <a:noFill/>
          <a:ln/>
        </p:spPr>
        <p:txBody>
          <a:bodyPr wrap="square" lIns="0" tIns="0" rIns="0" bIns="0" rtlCol="0" anchor="ctr"/>
          <a:lstStyle/>
          <a:p>
            <a:pPr marL="0" indent="0">
              <a:buNone/>
            </a:pPr>
            <a:r>
              <a:rPr lang="en-US" sz="1400" i="1" dirty="0">
                <a:solidFill>
                  <a:srgbClr val="2B3340"/>
                </a:solidFill>
                <a:latin typeface="Cambria" pitchFamily="34" charset="0"/>
                <a:ea typeface="Cambria" pitchFamily="34" charset="-122"/>
                <a:cs typeface="Cambria" pitchFamily="34" charset="-120"/>
              </a:rPr>
              <a:t>L</a:t>
            </a:r>
            <a:r>
              <a:rPr lang="en-US" sz="1400" i="1" baseline="30000" dirty="0">
                <a:solidFill>
                  <a:srgbClr val="2B3340"/>
                </a:solidFill>
                <a:latin typeface="Cambria" pitchFamily="34" charset="0"/>
                <a:ea typeface="Cambria" pitchFamily="34" charset="-122"/>
                <a:cs typeface="Cambria" pitchFamily="34" charset="-120"/>
              </a:rPr>
              <a:t>V</a:t>
            </a:r>
            <a:r>
              <a:rPr lang="en-US" sz="1400" i="1" dirty="0">
                <a:solidFill>
                  <a:srgbClr val="2B3340"/>
                </a:solidFill>
                <a:latin typeface="Cambria" pitchFamily="34" charset="0"/>
                <a:ea typeface="Cambria" pitchFamily="34" charset="-122"/>
                <a:cs typeface="Cambria" pitchFamily="34" charset="-120"/>
              </a:rPr>
              <a:t> = (1/n) Σ ( V(s</a:t>
            </a:r>
            <a:r>
              <a:rPr lang="en-US" sz="1400" i="1" baseline="-40000" dirty="0">
                <a:solidFill>
                  <a:srgbClr val="2B3340"/>
                </a:solidFill>
                <a:latin typeface="Cambria" pitchFamily="34" charset="0"/>
                <a:ea typeface="Cambria" pitchFamily="34" charset="-122"/>
                <a:cs typeface="Cambria" pitchFamily="34" charset="-120"/>
              </a:rPr>
              <a:t>t</a:t>
            </a:r>
            <a:r>
              <a:rPr lang="en-US" sz="1400" i="1" dirty="0">
                <a:solidFill>
                  <a:srgbClr val="2B3340"/>
                </a:solidFill>
                <a:latin typeface="Cambria" pitchFamily="34" charset="0"/>
                <a:ea typeface="Cambria" pitchFamily="34" charset="-122"/>
                <a:cs typeface="Cambria" pitchFamily="34" charset="-120"/>
              </a:rPr>
              <a:t>) − V</a:t>
            </a:r>
            <a:r>
              <a:rPr lang="en-US" sz="1400" i="1" baseline="-40000" dirty="0">
                <a:solidFill>
                  <a:srgbClr val="2B3340"/>
                </a:solidFill>
                <a:latin typeface="Cambria" pitchFamily="34" charset="0"/>
                <a:ea typeface="Cambria" pitchFamily="34" charset="-122"/>
                <a:cs typeface="Cambria" pitchFamily="34" charset="-120"/>
              </a:rPr>
              <a:t>target</a:t>
            </a:r>
            <a:r>
              <a:rPr lang="en-US" sz="1400" i="1" dirty="0">
                <a:solidFill>
                  <a:srgbClr val="2B3340"/>
                </a:solidFill>
                <a:latin typeface="Cambria" pitchFamily="34" charset="0"/>
                <a:ea typeface="Cambria" pitchFamily="34" charset="-122"/>
                <a:cs typeface="Cambria" pitchFamily="34" charset="-120"/>
              </a:rPr>
              <a:t> )</a:t>
            </a:r>
            <a:r>
              <a:rPr lang="en-US" sz="1400" i="1" baseline="30000" dirty="0">
                <a:solidFill>
                  <a:srgbClr val="2B3340"/>
                </a:solidFill>
                <a:latin typeface="Cambria" pitchFamily="34" charset="0"/>
                <a:ea typeface="Cambria" pitchFamily="34" charset="-122"/>
                <a:cs typeface="Cambria" pitchFamily="34" charset="-120"/>
              </a:rPr>
              <a:t>2</a:t>
            </a:r>
            <a:endParaRPr lang="en-US" sz="1400" dirty="0"/>
          </a:p>
        </p:txBody>
      </p:sp>
      <p:sp>
        <p:nvSpPr>
          <p:cNvPr id="21" name="Text 19"/>
          <p:cNvSpPr txBox="1"/>
          <p:nvPr/>
        </p:nvSpPr>
        <p:spPr>
          <a:xfrm>
            <a:off x="4800600" y="3355848"/>
            <a:ext cx="3749040" cy="438912"/>
          </a:xfrm>
          <a:prstGeom prst="rect">
            <a:avLst/>
          </a:prstGeom>
          <a:noFill/>
          <a:ln/>
        </p:spPr>
        <p:txBody>
          <a:bodyPr wrap="square" lIns="0" tIns="0" rIns="0" bIns="0" rtlCol="0" anchor="t"/>
          <a:lstStyle/>
          <a:p>
            <a:pPr marL="0" indent="0">
              <a:buNone/>
            </a:pPr>
            <a:r>
              <a:rPr lang="en-US" sz="1050" dirty="0">
                <a:solidFill>
                  <a:srgbClr val="667085"/>
                </a:solidFill>
                <a:latin typeface="Calibri" pitchFamily="34" charset="0"/>
                <a:ea typeface="Calibri" pitchFamily="34" charset="-122"/>
                <a:cs typeface="Calibri" pitchFamily="34" charset="-120"/>
              </a:rPr>
              <a:t>Make the Critic’s prediction match the reward actually collected.</a:t>
            </a:r>
            <a:endParaRPr lang="en-US" sz="1050" dirty="0"/>
          </a:p>
        </p:txBody>
      </p:sp>
      <p:sp>
        <p:nvSpPr>
          <p:cNvPr id="22" name="Shape 20"/>
          <p:cNvSpPr/>
          <p:nvPr/>
        </p:nvSpPr>
        <p:spPr>
          <a:xfrm>
            <a:off x="457200" y="3986784"/>
            <a:ext cx="8229600" cy="246888"/>
          </a:xfrm>
          <a:prstGeom prst="roundRect">
            <a:avLst>
              <a:gd name="adj" fmla="val 29630"/>
            </a:avLst>
          </a:prstGeom>
          <a:solidFill>
            <a:srgbClr val="E6F1FA"/>
          </a:solidFill>
          <a:ln w="12700">
            <a:solidFill>
              <a:srgbClr val="E6F1FA"/>
            </a:solidFill>
            <a:prstDash val="solid"/>
          </a:ln>
        </p:spPr>
        <p:txBody>
          <a:bodyPr/>
          <a:lstStyle/>
          <a:p>
            <a:endParaRPr lang="en-US"/>
          </a:p>
        </p:txBody>
      </p:sp>
      <p:sp>
        <p:nvSpPr>
          <p:cNvPr id="23" name="Text 21"/>
          <p:cNvSpPr txBox="1"/>
          <p:nvPr/>
        </p:nvSpPr>
        <p:spPr>
          <a:xfrm>
            <a:off x="548640" y="3986784"/>
            <a:ext cx="8046720" cy="246888"/>
          </a:xfrm>
          <a:prstGeom prst="rect">
            <a:avLst/>
          </a:prstGeom>
          <a:noFill/>
          <a:ln/>
        </p:spPr>
        <p:txBody>
          <a:bodyPr wrap="square" lIns="0" tIns="0" rIns="0" bIns="0" rtlCol="0" anchor="ctr"/>
          <a:lstStyle/>
          <a:p>
            <a:pPr marL="0" indent="0">
              <a:buNone/>
            </a:pPr>
            <a:r>
              <a:rPr lang="en-US" sz="1050" b="1" dirty="0">
                <a:solidFill>
                  <a:srgbClr val="1F7AC0"/>
                </a:solidFill>
                <a:latin typeface="Calibri" pitchFamily="34" charset="0"/>
                <a:ea typeface="Calibri" pitchFamily="34" charset="-122"/>
                <a:cs typeface="Calibri" pitchFamily="34" charset="-120"/>
              </a:rPr>
              <a:t>Full loss minimised each update:   −L^CLIP  +  1.0 × L^V  −  0.01 × entropy bonus</a:t>
            </a:r>
            <a:endParaRPr lang="en-US" sz="1050" dirty="0"/>
          </a:p>
        </p:txBody>
      </p:sp>
      <p:sp>
        <p:nvSpPr>
          <p:cNvPr id="24" name="Shape 22"/>
          <p:cNvSpPr/>
          <p:nvPr/>
        </p:nvSpPr>
        <p:spPr>
          <a:xfrm>
            <a:off x="457200" y="4279392"/>
            <a:ext cx="8229600" cy="457200"/>
          </a:xfrm>
          <a:prstGeom prst="roundRect">
            <a:avLst>
              <a:gd name="adj" fmla="val 16000"/>
            </a:avLst>
          </a:prstGeom>
          <a:solidFill>
            <a:srgbClr val="FFF1E0"/>
          </a:solidFill>
          <a:ln w="12700">
            <a:solidFill>
              <a:srgbClr val="FFF1E0"/>
            </a:solidFill>
            <a:prstDash val="solid"/>
          </a:ln>
        </p:spPr>
        <p:txBody>
          <a:bodyPr/>
          <a:lstStyle/>
          <a:p>
            <a:endParaRPr lang="en-US"/>
          </a:p>
        </p:txBody>
      </p:sp>
      <p:pic>
        <p:nvPicPr>
          <p:cNvPr id="25" name="Image 0" descr="preencoded.png"/>
          <p:cNvPicPr>
            <a:picLocks noChangeAspect="1"/>
          </p:cNvPicPr>
          <p:nvPr/>
        </p:nvPicPr>
        <p:blipFill>
          <a:blip r:embed="rId3"/>
          <a:stretch>
            <a:fillRect/>
          </a:stretch>
        </p:blipFill>
        <p:spPr>
          <a:xfrm>
            <a:off x="585216" y="4389120"/>
            <a:ext cx="237744" cy="237744"/>
          </a:xfrm>
          <a:prstGeom prst="rect">
            <a:avLst/>
          </a:prstGeom>
        </p:spPr>
      </p:pic>
      <p:sp>
        <p:nvSpPr>
          <p:cNvPr id="26" name="Text 23"/>
          <p:cNvSpPr txBox="1"/>
          <p:nvPr/>
        </p:nvSpPr>
        <p:spPr>
          <a:xfrm>
            <a:off x="932688" y="4279392"/>
            <a:ext cx="7635240" cy="457200"/>
          </a:xfrm>
          <a:prstGeom prst="rect">
            <a:avLst/>
          </a:prstGeom>
          <a:noFill/>
          <a:ln/>
        </p:spPr>
        <p:txBody>
          <a:bodyPr wrap="square" lIns="0" tIns="0" rIns="0" bIns="0" rtlCol="0" anchor="ctr"/>
          <a:lstStyle/>
          <a:p>
            <a:pPr marL="0" indent="0">
              <a:buNone/>
            </a:pPr>
            <a:r>
              <a:rPr lang="en-US" sz="1150" b="1" dirty="0">
                <a:solidFill>
                  <a:srgbClr val="F28C28"/>
                </a:solidFill>
                <a:latin typeface="Calibri" pitchFamily="34" charset="0"/>
                <a:ea typeface="Calibri" pitchFamily="34" charset="-122"/>
                <a:cs typeface="Calibri" pitchFamily="34" charset="-120"/>
              </a:rPr>
              <a:t>In plain words:  </a:t>
            </a:r>
            <a:r>
              <a:rPr lang="en-US" sz="1150" dirty="0">
                <a:solidFill>
                  <a:srgbClr val="2B3340"/>
                </a:solidFill>
                <a:latin typeface="Calibri" pitchFamily="34" charset="0"/>
                <a:ea typeface="Calibri" pitchFamily="34" charset="-122"/>
                <a:cs typeface="Calibri" pitchFamily="34" charset="-120"/>
              </a:rPr>
              <a:t>The Actor asks "was that move better than usual?". If yes, do it more often, but only by a small step so the walking does not collapse.</a:t>
            </a:r>
            <a:endParaRPr lang="en-US" sz="1150" dirty="0"/>
          </a:p>
        </p:txBody>
      </p:sp>
      <p:sp>
        <p:nvSpPr>
          <p:cNvPr id="27"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50">
                <a:solidFill>
                  <a:srgbClr val="667085"/>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457200" y="219456"/>
            <a:ext cx="2606040" cy="219456"/>
          </a:xfrm>
          <a:prstGeom prst="roundRect">
            <a:avLst>
              <a:gd name="adj" fmla="val 20833"/>
            </a:avLst>
          </a:prstGeom>
          <a:solidFill>
            <a:srgbClr val="E6F1FA"/>
          </a:solidFill>
          <a:ln w="12700">
            <a:solidFill>
              <a:srgbClr val="E6F1FA"/>
            </a:solidFill>
            <a:prstDash val="solid"/>
          </a:ln>
        </p:spPr>
        <p:txBody>
          <a:bodyPr/>
          <a:lstStyle/>
          <a:p>
            <a:endParaRPr lang="en-US"/>
          </a:p>
        </p:txBody>
      </p:sp>
      <p:sp>
        <p:nvSpPr>
          <p:cNvPr id="3" name="Text 1"/>
          <p:cNvSpPr txBox="1"/>
          <p:nvPr/>
        </p:nvSpPr>
        <p:spPr>
          <a:xfrm>
            <a:off x="457200" y="219456"/>
            <a:ext cx="2606040" cy="219456"/>
          </a:xfrm>
          <a:prstGeom prst="rect">
            <a:avLst/>
          </a:prstGeom>
          <a:noFill/>
          <a:ln/>
        </p:spPr>
        <p:txBody>
          <a:bodyPr wrap="square" lIns="0" tIns="0" rIns="0" bIns="0" rtlCol="0" anchor="ctr"/>
          <a:lstStyle/>
          <a:p>
            <a:pPr marL="0" indent="0" algn="ctr">
              <a:buNone/>
            </a:pPr>
            <a:r>
              <a:rPr lang="en-US" sz="850" b="1" kern="0" spc="100" dirty="0">
                <a:solidFill>
                  <a:srgbClr val="1F7AC0"/>
                </a:solidFill>
                <a:latin typeface="Calibri" pitchFamily="34" charset="0"/>
                <a:ea typeface="Calibri" pitchFamily="34" charset="-122"/>
                <a:cs typeface="Calibri" pitchFamily="34" charset="-120"/>
              </a:rPr>
              <a:t>PART I  ·  CO3  ·  CODE &amp; SETTINGS</a:t>
            </a:r>
            <a:endParaRPr lang="en-US" sz="850" dirty="0"/>
          </a:p>
        </p:txBody>
      </p:sp>
      <p:sp>
        <p:nvSpPr>
          <p:cNvPr id="4" name="Text 2"/>
          <p:cNvSpPr txBox="1"/>
          <p:nvPr/>
        </p:nvSpPr>
        <p:spPr>
          <a:xfrm>
            <a:off x="457200" y="475488"/>
            <a:ext cx="8229600" cy="502920"/>
          </a:xfrm>
          <a:prstGeom prst="rect">
            <a:avLst/>
          </a:prstGeom>
          <a:noFill/>
          <a:ln/>
        </p:spPr>
        <p:txBody>
          <a:bodyPr wrap="square" lIns="0" tIns="0" rIns="0" bIns="0" rtlCol="0" anchor="ctr"/>
          <a:lstStyle/>
          <a:p>
            <a:pPr marL="0" indent="0">
              <a:buNone/>
            </a:pPr>
            <a:r>
              <a:rPr lang="en-US" sz="2600" b="1" dirty="0">
                <a:solidFill>
                  <a:srgbClr val="2B3340"/>
                </a:solidFill>
                <a:latin typeface="Cambria" pitchFamily="34" charset="0"/>
                <a:ea typeface="Cambria" pitchFamily="34" charset="-122"/>
                <a:cs typeface="Cambria" pitchFamily="34" charset="-120"/>
              </a:rPr>
              <a:t>Implementation</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5120640" cy="2560320"/>
        </p:xfrm>
        <a:graphic>
          <a:graphicData uri="http://schemas.openxmlformats.org/drawingml/2006/table">
            <a:tbl>
              <a:tblPr/>
              <a:tblGrid>
                <a:gridCol w="137160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tblGrid>
              <a:tr h="27432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Rubric evidence</a:t>
                      </a:r>
                      <a:endParaRPr lang="en-US" sz="11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1F7AC0"/>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Where it happens in the code</a:t>
                      </a:r>
                      <a:endParaRPr lang="en-US" sz="11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1F7AC0"/>
                    </a:solidFill>
                  </a:tcPr>
                </a:tc>
                <a:extLst>
                  <a:ext uri="{0D108BD9-81ED-4DB2-BD59-A6C34878D82A}">
                    <a16:rowId xmlns:a16="http://schemas.microsoft.com/office/drawing/2014/main" val="10000"/>
                  </a:ext>
                </a:extLst>
              </a:tr>
              <a:tr h="457200">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State handling</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observations.py + velocity_env_cfg.py build s_t (Actor: with noise, Critic: clean)</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Action selection</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Actor MLP (RSL-RL ActorCritic) outputs 12 joint targets: mean + Gaussian noise</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extLst>
                  <a:ext uri="{0D108BD9-81ED-4DB2-BD59-A6C34878D82A}">
                    <a16:rowId xmlns:a16="http://schemas.microsoft.com/office/drawing/2014/main" val="10002"/>
                  </a:ext>
                </a:extLst>
              </a:tr>
              <a:tr h="457200">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Environment interaction</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ManagerBasedRLEnv step: PD control + MuJoCo Warp physics → next state and reward</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Learning / update</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RSL-RL PPO update(): clipped actor loss + critic loss, 5 epochs × 4 minibatches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extLst>
                  <a:ext uri="{0D108BD9-81ED-4DB2-BD59-A6C34878D82A}">
                    <a16:rowId xmlns:a16="http://schemas.microsoft.com/office/drawing/2014/main" val="10004"/>
                  </a:ext>
                </a:extLst>
              </a:tr>
              <a:tr h="457200">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Training evidence</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W&amp;B logs, model_*.pt saved every 50 iterations, policy exported to ONNX</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5760720" y="1051560"/>
          <a:ext cx="2926080" cy="2665476"/>
        </p:xfrm>
        <a:graphic>
          <a:graphicData uri="http://schemas.openxmlformats.org/drawingml/2006/table">
            <a:tbl>
              <a:tblPr/>
              <a:tblGrid>
                <a:gridCol w="141732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tblGrid>
              <a:tr h="242316">
                <a:tc gridSpan="2">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Key hyperparameters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1F7AC0"/>
                    </a:solidFill>
                  </a:tcPr>
                </a:tc>
                <a:tc hMerge="1">
                  <a:txBody>
                    <a:bodyPr/>
                    <a:lstStyle/>
                    <a:p>
                      <a:endParaRPr lang="en-US"/>
                    </a:p>
                  </a:txBody>
                  <a:tcPr/>
                </a:tc>
                <a:extLst>
                  <a:ext uri="{0D108BD9-81ED-4DB2-BD59-A6C34878D82A}">
                    <a16:rowId xmlns:a16="http://schemas.microsoft.com/office/drawing/2014/main" val="10000"/>
                  </a:ext>
                </a:extLst>
              </a:tr>
              <a:tr h="242316">
                <a:tc>
                  <a:txBody>
                    <a:bodyPr/>
                    <a:lstStyle/>
                    <a:p>
                      <a:pPr marL="0" indent="0" algn="l">
                        <a:buNone/>
                      </a:pPr>
                      <a:r>
                        <a:rPr lang="en-US" sz="1000" b="1" dirty="0">
                          <a:solidFill>
                            <a:srgbClr val="2B3340"/>
                          </a:solidFill>
                          <a:latin typeface="Calibri" pitchFamily="34" charset="0"/>
                          <a:ea typeface="Calibri" pitchFamily="34" charset="-122"/>
                          <a:cs typeface="Calibri" pitchFamily="34" charset="-120"/>
                        </a:rPr>
                        <a:t>Actor / Critic MLP</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3340"/>
                          </a:solidFill>
                          <a:latin typeface="Calibri" pitchFamily="34" charset="0"/>
                          <a:ea typeface="Calibri" pitchFamily="34" charset="-122"/>
                          <a:cs typeface="Calibri" pitchFamily="34" charset="-120"/>
                        </a:rPr>
                        <a:t>256-256-128, ELU</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2316">
                <a:tc>
                  <a:txBody>
                    <a:bodyPr/>
                    <a:lstStyle/>
                    <a:p>
                      <a:pPr marL="0" indent="0" algn="l">
                        <a:buNone/>
                      </a:pPr>
                      <a:r>
                        <a:rPr lang="en-US" sz="1000" b="1" dirty="0">
                          <a:solidFill>
                            <a:srgbClr val="2B3340"/>
                          </a:solidFill>
                          <a:latin typeface="Calibri" pitchFamily="34" charset="0"/>
                          <a:ea typeface="Calibri" pitchFamily="34" charset="-122"/>
                          <a:cs typeface="Calibri" pitchFamily="34" charset="-120"/>
                        </a:rPr>
                        <a:t>Discount γ</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00" dirty="0">
                          <a:solidFill>
                            <a:srgbClr val="2B3340"/>
                          </a:solidFill>
                          <a:latin typeface="Calibri" pitchFamily="34" charset="0"/>
                          <a:ea typeface="Calibri" pitchFamily="34" charset="-122"/>
                          <a:cs typeface="Calibri" pitchFamily="34" charset="-120"/>
                        </a:rPr>
                        <a:t>0.99</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extLst>
                  <a:ext uri="{0D108BD9-81ED-4DB2-BD59-A6C34878D82A}">
                    <a16:rowId xmlns:a16="http://schemas.microsoft.com/office/drawing/2014/main" val="10002"/>
                  </a:ext>
                </a:extLst>
              </a:tr>
              <a:tr h="242316">
                <a:tc>
                  <a:txBody>
                    <a:bodyPr/>
                    <a:lstStyle/>
                    <a:p>
                      <a:pPr marL="0" indent="0" algn="l">
                        <a:buNone/>
                      </a:pPr>
                      <a:r>
                        <a:rPr lang="en-US" sz="1000" b="1" dirty="0">
                          <a:solidFill>
                            <a:srgbClr val="2B3340"/>
                          </a:solidFill>
                          <a:latin typeface="Calibri" pitchFamily="34" charset="0"/>
                          <a:ea typeface="Calibri" pitchFamily="34" charset="-122"/>
                          <a:cs typeface="Calibri" pitchFamily="34" charset="-120"/>
                        </a:rPr>
                        <a:t>GAE λ</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3340"/>
                          </a:solidFill>
                          <a:latin typeface="Calibri" pitchFamily="34" charset="0"/>
                          <a:ea typeface="Calibri" pitchFamily="34" charset="-122"/>
                          <a:cs typeface="Calibri" pitchFamily="34" charset="-120"/>
                        </a:rPr>
                        <a:t>0.95</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2316">
                <a:tc>
                  <a:txBody>
                    <a:bodyPr/>
                    <a:lstStyle/>
                    <a:p>
                      <a:pPr marL="0" indent="0" algn="l">
                        <a:buNone/>
                      </a:pPr>
                      <a:r>
                        <a:rPr lang="en-US" sz="1000" b="1" dirty="0">
                          <a:solidFill>
                            <a:srgbClr val="2B3340"/>
                          </a:solidFill>
                          <a:latin typeface="Calibri" pitchFamily="34" charset="0"/>
                          <a:ea typeface="Calibri" pitchFamily="34" charset="-122"/>
                          <a:cs typeface="Calibri" pitchFamily="34" charset="-120"/>
                        </a:rPr>
                        <a:t>Clip ε</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00" dirty="0">
                          <a:solidFill>
                            <a:srgbClr val="2B3340"/>
                          </a:solidFill>
                          <a:latin typeface="Calibri" pitchFamily="34" charset="0"/>
                          <a:ea typeface="Calibri" pitchFamily="34" charset="-122"/>
                          <a:cs typeface="Calibri" pitchFamily="34" charset="-120"/>
                        </a:rPr>
                        <a:t>0.2</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extLst>
                  <a:ext uri="{0D108BD9-81ED-4DB2-BD59-A6C34878D82A}">
                    <a16:rowId xmlns:a16="http://schemas.microsoft.com/office/drawing/2014/main" val="10004"/>
                  </a:ext>
                </a:extLst>
              </a:tr>
              <a:tr h="242316">
                <a:tc>
                  <a:txBody>
                    <a:bodyPr/>
                    <a:lstStyle/>
                    <a:p>
                      <a:pPr marL="0" indent="0" algn="l">
                        <a:buNone/>
                      </a:pPr>
                      <a:r>
                        <a:rPr lang="en-US" sz="1000" b="1" dirty="0">
                          <a:solidFill>
                            <a:srgbClr val="2B3340"/>
                          </a:solidFill>
                          <a:latin typeface="Calibri" pitchFamily="34" charset="0"/>
                          <a:ea typeface="Calibri" pitchFamily="34" charset="-122"/>
                          <a:cs typeface="Calibri" pitchFamily="34" charset="-120"/>
                        </a:rPr>
                        <a:t>Learning rate</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3340"/>
                          </a:solidFill>
                          <a:latin typeface="Calibri" pitchFamily="34" charset="0"/>
                          <a:ea typeface="Calibri" pitchFamily="34" charset="-122"/>
                          <a:cs typeface="Calibri" pitchFamily="34" charset="-120"/>
                        </a:rPr>
                        <a:t>1e-3, adaptive (KL 0.01)</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42316">
                <a:tc>
                  <a:txBody>
                    <a:bodyPr/>
                    <a:lstStyle/>
                    <a:p>
                      <a:pPr marL="0" indent="0" algn="l">
                        <a:buNone/>
                      </a:pPr>
                      <a:r>
                        <a:rPr lang="en-US" sz="1000" b="1" dirty="0">
                          <a:solidFill>
                            <a:srgbClr val="2B3340"/>
                          </a:solidFill>
                          <a:latin typeface="Calibri" pitchFamily="34" charset="0"/>
                          <a:ea typeface="Calibri" pitchFamily="34" charset="-122"/>
                          <a:cs typeface="Calibri" pitchFamily="34" charset="-120"/>
                        </a:rPr>
                        <a:t>Epochs × minibatches</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00" dirty="0">
                          <a:solidFill>
                            <a:srgbClr val="2B3340"/>
                          </a:solidFill>
                          <a:latin typeface="Calibri" pitchFamily="34" charset="0"/>
                          <a:ea typeface="Calibri" pitchFamily="34" charset="-122"/>
                          <a:cs typeface="Calibri" pitchFamily="34" charset="-120"/>
                        </a:rPr>
                        <a:t>5 × 4</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extLst>
                  <a:ext uri="{0D108BD9-81ED-4DB2-BD59-A6C34878D82A}">
                    <a16:rowId xmlns:a16="http://schemas.microsoft.com/office/drawing/2014/main" val="10006"/>
                  </a:ext>
                </a:extLst>
              </a:tr>
              <a:tr h="242316">
                <a:tc>
                  <a:txBody>
                    <a:bodyPr/>
                    <a:lstStyle/>
                    <a:p>
                      <a:pPr marL="0" indent="0" algn="l">
                        <a:buNone/>
                      </a:pPr>
                      <a:r>
                        <a:rPr lang="en-US" sz="1000" b="1" dirty="0">
                          <a:solidFill>
                            <a:srgbClr val="2B3340"/>
                          </a:solidFill>
                          <a:latin typeface="Calibri" pitchFamily="34" charset="0"/>
                          <a:ea typeface="Calibri" pitchFamily="34" charset="-122"/>
                          <a:cs typeface="Calibri" pitchFamily="34" charset="-120"/>
                        </a:rPr>
                        <a:t>Steps per env / update</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3340"/>
                          </a:solidFill>
                          <a:latin typeface="Calibri" pitchFamily="34" charset="0"/>
                          <a:ea typeface="Calibri" pitchFamily="34" charset="-122"/>
                          <a:cs typeface="Calibri" pitchFamily="34" charset="-120"/>
                        </a:rPr>
                        <a:t>24</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42316">
                <a:tc>
                  <a:txBody>
                    <a:bodyPr/>
                    <a:lstStyle/>
                    <a:p>
                      <a:pPr marL="0" indent="0" algn="l">
                        <a:buNone/>
                      </a:pPr>
                      <a:r>
                        <a:rPr lang="en-US" sz="1000" b="1" dirty="0">
                          <a:solidFill>
                            <a:srgbClr val="2B3340"/>
                          </a:solidFill>
                          <a:latin typeface="Calibri" pitchFamily="34" charset="0"/>
                          <a:ea typeface="Calibri" pitchFamily="34" charset="-122"/>
                          <a:cs typeface="Calibri" pitchFamily="34" charset="-120"/>
                        </a:rPr>
                        <a:t>Entropy / value coef.</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00" dirty="0">
                          <a:solidFill>
                            <a:srgbClr val="2B3340"/>
                          </a:solidFill>
                          <a:latin typeface="Calibri" pitchFamily="34" charset="0"/>
                          <a:ea typeface="Calibri" pitchFamily="34" charset="-122"/>
                          <a:cs typeface="Calibri" pitchFamily="34" charset="-120"/>
                        </a:rPr>
                        <a:t>0.01 / 1.0</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extLst>
                  <a:ext uri="{0D108BD9-81ED-4DB2-BD59-A6C34878D82A}">
                    <a16:rowId xmlns:a16="http://schemas.microsoft.com/office/drawing/2014/main" val="10008"/>
                  </a:ext>
                </a:extLst>
              </a:tr>
              <a:tr h="242316">
                <a:tc>
                  <a:txBody>
                    <a:bodyPr/>
                    <a:lstStyle/>
                    <a:p>
                      <a:pPr marL="0" indent="0" algn="l">
                        <a:buNone/>
                      </a:pPr>
                      <a:r>
                        <a:rPr lang="en-US" sz="1000" b="1" dirty="0">
                          <a:solidFill>
                            <a:srgbClr val="2B3340"/>
                          </a:solidFill>
                          <a:latin typeface="Calibri" pitchFamily="34" charset="0"/>
                          <a:ea typeface="Calibri" pitchFamily="34" charset="-122"/>
                          <a:cs typeface="Calibri" pitchFamily="34" charset="-120"/>
                        </a:rPr>
                        <a:t>Initial noise std</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3340"/>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42316">
                <a:tc>
                  <a:txBody>
                    <a:bodyPr/>
                    <a:lstStyle/>
                    <a:p>
                      <a:pPr marL="0" indent="0" algn="l">
                        <a:buNone/>
                      </a:pPr>
                      <a:r>
                        <a:rPr lang="en-US" sz="1000" b="1" dirty="0">
                          <a:solidFill>
                            <a:srgbClr val="2B3340"/>
                          </a:solidFill>
                          <a:latin typeface="Calibri" pitchFamily="34" charset="0"/>
                          <a:ea typeface="Calibri" pitchFamily="34" charset="-122"/>
                          <a:cs typeface="Calibri" pitchFamily="34" charset="-120"/>
                        </a:rPr>
                        <a:t>Max iterations</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00" dirty="0">
                          <a:solidFill>
                            <a:srgbClr val="2B3340"/>
                          </a:solidFill>
                          <a:latin typeface="Calibri" pitchFamily="34" charset="0"/>
                          <a:ea typeface="Calibri" pitchFamily="34" charset="-122"/>
                          <a:cs typeface="Calibri" pitchFamily="34" charset="-120"/>
                        </a:rPr>
                        <a:t>30,000</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extLst>
                  <a:ext uri="{0D108BD9-81ED-4DB2-BD59-A6C34878D82A}">
                    <a16:rowId xmlns:a16="http://schemas.microsoft.com/office/drawing/2014/main" val="10010"/>
                  </a:ext>
                </a:extLst>
              </a:tr>
            </a:tbl>
          </a:graphicData>
        </a:graphic>
      </p:graphicFrame>
      <p:sp>
        <p:nvSpPr>
          <p:cNvPr id="8" name="Shape 4"/>
          <p:cNvSpPr/>
          <p:nvPr/>
        </p:nvSpPr>
        <p:spPr>
          <a:xfrm>
            <a:off x="457200" y="3931920"/>
            <a:ext cx="8229600" cy="310896"/>
          </a:xfrm>
          <a:prstGeom prst="roundRect">
            <a:avLst>
              <a:gd name="adj" fmla="val 23529"/>
            </a:avLst>
          </a:prstGeom>
          <a:solidFill>
            <a:srgbClr val="E6F1FA"/>
          </a:solidFill>
          <a:ln w="12700">
            <a:solidFill>
              <a:srgbClr val="E6F1FA"/>
            </a:solidFill>
            <a:prstDash val="solid"/>
          </a:ln>
        </p:spPr>
        <p:txBody>
          <a:bodyPr/>
          <a:lstStyle/>
          <a:p>
            <a:endParaRPr lang="en-US"/>
          </a:p>
        </p:txBody>
      </p:sp>
      <p:sp>
        <p:nvSpPr>
          <p:cNvPr id="9" name="Text 5"/>
          <p:cNvSpPr txBox="1"/>
          <p:nvPr/>
        </p:nvSpPr>
        <p:spPr>
          <a:xfrm>
            <a:off x="594360" y="3931920"/>
            <a:ext cx="8046720" cy="310896"/>
          </a:xfrm>
          <a:prstGeom prst="rect">
            <a:avLst/>
          </a:prstGeom>
          <a:noFill/>
          <a:ln/>
        </p:spPr>
        <p:txBody>
          <a:bodyPr wrap="square" lIns="0" tIns="0" rIns="0" bIns="0" rtlCol="0" anchor="ctr"/>
          <a:lstStyle/>
          <a:p>
            <a:pPr marL="0" indent="0">
              <a:buNone/>
            </a:pPr>
            <a:r>
              <a:rPr lang="en-US" sz="1000" b="1" dirty="0">
                <a:solidFill>
                  <a:srgbClr val="1F7AC0"/>
                </a:solidFill>
                <a:latin typeface="Calibri" pitchFamily="34" charset="0"/>
                <a:ea typeface="Calibri" pitchFamily="34" charset="-122"/>
                <a:cs typeface="Calibri" pitchFamily="34" charset="-120"/>
              </a:rPr>
              <a:t>Our work: </a:t>
            </a:r>
            <a:r>
              <a:rPr lang="en-US" sz="1000" dirty="0">
                <a:solidFill>
                  <a:srgbClr val="2B3340"/>
                </a:solidFill>
                <a:latin typeface="Calibri" pitchFamily="34" charset="0"/>
                <a:ea typeface="Calibri" pitchFamily="34" charset="-122"/>
                <a:cs typeface="Calibri" pitchFamily="34" charset="-120"/>
              </a:rPr>
              <a:t>Angad environment, rewards, reference gaits, tuning and training.   </a:t>
            </a:r>
            <a:r>
              <a:rPr lang="en-US" sz="1000" b="1" dirty="0">
                <a:solidFill>
                  <a:srgbClr val="1F7AC0"/>
                </a:solidFill>
                <a:latin typeface="Calibri" pitchFamily="34" charset="0"/>
                <a:ea typeface="Calibri" pitchFamily="34" charset="-122"/>
                <a:cs typeface="Calibri" pitchFamily="34" charset="-120"/>
              </a:rPr>
              <a:t>From libraries: </a:t>
            </a:r>
            <a:r>
              <a:rPr lang="en-US" sz="1000" dirty="0">
                <a:solidFill>
                  <a:srgbClr val="2B3340"/>
                </a:solidFill>
                <a:latin typeface="Calibri" pitchFamily="34" charset="0"/>
                <a:ea typeface="Calibri" pitchFamily="34" charset="-122"/>
                <a:cs typeface="Calibri" pitchFamily="34" charset="-120"/>
              </a:rPr>
              <a:t>PPO and runner (RSL-RL), simulator (mjlab / MuJoCo Warp).</a:t>
            </a:r>
            <a:endParaRPr lang="en-US" sz="1000" dirty="0"/>
          </a:p>
        </p:txBody>
      </p:sp>
      <p:sp>
        <p:nvSpPr>
          <p:cNvPr id="10" name="Shape 6"/>
          <p:cNvSpPr/>
          <p:nvPr/>
        </p:nvSpPr>
        <p:spPr>
          <a:xfrm>
            <a:off x="457200" y="4279392"/>
            <a:ext cx="8229600" cy="457200"/>
          </a:xfrm>
          <a:prstGeom prst="roundRect">
            <a:avLst>
              <a:gd name="adj" fmla="val 16000"/>
            </a:avLst>
          </a:prstGeom>
          <a:solidFill>
            <a:srgbClr val="FFF1E0"/>
          </a:solidFill>
          <a:ln w="12700">
            <a:solidFill>
              <a:srgbClr val="FFF1E0"/>
            </a:solidFill>
            <a:prstDash val="solid"/>
          </a:ln>
        </p:spPr>
        <p:txBody>
          <a:bodyPr/>
          <a:lstStyle/>
          <a:p>
            <a:endParaRPr lang="en-US"/>
          </a:p>
        </p:txBody>
      </p:sp>
      <p:pic>
        <p:nvPicPr>
          <p:cNvPr id="11" name="Image 0" descr="preencoded.png"/>
          <p:cNvPicPr>
            <a:picLocks noChangeAspect="1"/>
          </p:cNvPicPr>
          <p:nvPr/>
        </p:nvPicPr>
        <p:blipFill>
          <a:blip r:embed="rId3"/>
          <a:stretch>
            <a:fillRect/>
          </a:stretch>
        </p:blipFill>
        <p:spPr>
          <a:xfrm>
            <a:off x="585216" y="4389120"/>
            <a:ext cx="237744" cy="237744"/>
          </a:xfrm>
          <a:prstGeom prst="rect">
            <a:avLst/>
          </a:prstGeom>
        </p:spPr>
      </p:pic>
      <p:sp>
        <p:nvSpPr>
          <p:cNvPr id="12" name="Text 7"/>
          <p:cNvSpPr txBox="1"/>
          <p:nvPr/>
        </p:nvSpPr>
        <p:spPr>
          <a:xfrm>
            <a:off x="932688" y="4279392"/>
            <a:ext cx="7635240" cy="457200"/>
          </a:xfrm>
          <a:prstGeom prst="rect">
            <a:avLst/>
          </a:prstGeom>
          <a:noFill/>
          <a:ln/>
        </p:spPr>
        <p:txBody>
          <a:bodyPr wrap="square" lIns="0" tIns="0" rIns="0" bIns="0" rtlCol="0" anchor="ctr"/>
          <a:lstStyle/>
          <a:p>
            <a:pPr marL="0" indent="0">
              <a:buNone/>
            </a:pPr>
            <a:r>
              <a:rPr lang="en-US" sz="1150" b="1" dirty="0">
                <a:solidFill>
                  <a:srgbClr val="F28C28"/>
                </a:solidFill>
                <a:latin typeface="Calibri" pitchFamily="34" charset="0"/>
                <a:ea typeface="Calibri" pitchFamily="34" charset="-122"/>
                <a:cs typeface="Calibri" pitchFamily="34" charset="-120"/>
              </a:rPr>
              <a:t>In plain words:  </a:t>
            </a:r>
            <a:r>
              <a:rPr lang="en-US" sz="1150" dirty="0">
                <a:solidFill>
                  <a:srgbClr val="2B3340"/>
                </a:solidFill>
                <a:latin typeface="Calibri" pitchFamily="34" charset="0"/>
                <a:ea typeface="Calibri" pitchFamily="34" charset="-122"/>
                <a:cs typeface="Calibri" pitchFamily="34" charset="-120"/>
              </a:rPr>
              <a:t>We wrote the rules of the game (environment and rewards). A well-tested library supplies the learning engine that plays it.</a:t>
            </a:r>
            <a:endParaRPr lang="en-US" sz="1150" dirty="0"/>
          </a:p>
        </p:txBody>
      </p:sp>
      <p:sp>
        <p:nvSpPr>
          <p:cNvPr id="6"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50">
                <a:solidFill>
                  <a:srgbClr val="667085"/>
                </a:solidFill>
                <a:latin typeface="Calibri"/>
                <a:ea typeface="Calibri"/>
                <a:cs typeface="Calibri"/>
              </a:defRPr>
            </a:lvl1pPr>
          </a:lstStyle>
          <a:p>
            <a:pPr algn="r"/>
            <a:fld id="{F7021451-1387-4CA6-816F-3879F97B5CBC}" type="slidenum">
              <a:rPr lang="en-US" b="0"/>
              <a:t>12</a:t>
            </a:fld>
            <a:endParaRPr lang="en-US"/>
          </a:p>
        </p:txBody>
      </p:sp>
      <p:sp>
        <p:nvSpPr>
          <p:cNvPr id="14" name="Text 3">
            <a:extLst>
              <a:ext uri="{FF2B5EF4-FFF2-40B4-BE49-F238E27FC236}">
                <a16:creationId xmlns:a16="http://schemas.microsoft.com/office/drawing/2014/main" id="{9D0CEF2A-2107-5641-5A12-7C639F386B4E}"/>
              </a:ext>
            </a:extLst>
          </p:cNvPr>
          <p:cNvSpPr txBox="1"/>
          <p:nvPr/>
        </p:nvSpPr>
        <p:spPr>
          <a:xfrm>
            <a:off x="457200" y="4846320"/>
            <a:ext cx="4572000" cy="201168"/>
          </a:xfrm>
          <a:prstGeom prst="rect">
            <a:avLst/>
          </a:prstGeom>
          <a:noFill/>
          <a:ln/>
        </p:spPr>
        <p:txBody>
          <a:bodyPr wrap="square" lIns="0" tIns="0" rIns="0" bIns="0" rtlCol="0" anchor="ctr"/>
          <a:lstStyle/>
          <a:p>
            <a:pPr marL="0" indent="0">
              <a:buNone/>
            </a:pPr>
            <a:r>
              <a:rPr lang="en-US" sz="850" dirty="0">
                <a:solidFill>
                  <a:srgbClr val="667085"/>
                </a:solidFill>
                <a:latin typeface="Calibri" pitchFamily="34" charset="0"/>
                <a:ea typeface="Calibri" pitchFamily="34" charset="-122"/>
                <a:cs typeface="Calibri" pitchFamily="34" charset="-120"/>
              </a:rPr>
              <a:t>RL Mini-Project  ·  Biped walking</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457200" y="219456"/>
            <a:ext cx="4046220" cy="219456"/>
          </a:xfrm>
          <a:prstGeom prst="roundRect">
            <a:avLst>
              <a:gd name="adj" fmla="val 20833"/>
            </a:avLst>
          </a:prstGeom>
          <a:solidFill>
            <a:srgbClr val="E6F1FA"/>
          </a:solidFill>
          <a:ln w="12700">
            <a:solidFill>
              <a:srgbClr val="E6F1FA"/>
            </a:solidFill>
            <a:prstDash val="solid"/>
          </a:ln>
        </p:spPr>
        <p:txBody>
          <a:bodyPr/>
          <a:lstStyle/>
          <a:p>
            <a:endParaRPr lang="en-US"/>
          </a:p>
        </p:txBody>
      </p:sp>
      <p:sp>
        <p:nvSpPr>
          <p:cNvPr id="3" name="Text 1"/>
          <p:cNvSpPr txBox="1"/>
          <p:nvPr/>
        </p:nvSpPr>
        <p:spPr>
          <a:xfrm>
            <a:off x="457200" y="219456"/>
            <a:ext cx="4046220" cy="219456"/>
          </a:xfrm>
          <a:prstGeom prst="rect">
            <a:avLst/>
          </a:prstGeom>
          <a:noFill/>
          <a:ln/>
        </p:spPr>
        <p:txBody>
          <a:bodyPr wrap="square" lIns="0" tIns="0" rIns="0" bIns="0" rtlCol="0" anchor="ctr"/>
          <a:lstStyle/>
          <a:p>
            <a:pPr marL="0" indent="0" algn="ctr">
              <a:buNone/>
            </a:pPr>
            <a:r>
              <a:rPr lang="en-US" sz="850" b="1" kern="0" spc="100" dirty="0">
                <a:solidFill>
                  <a:srgbClr val="1F7AC0"/>
                </a:solidFill>
                <a:latin typeface="Calibri" pitchFamily="34" charset="0"/>
                <a:ea typeface="Calibri" pitchFamily="34" charset="-122"/>
                <a:cs typeface="Calibri" pitchFamily="34" charset="-120"/>
              </a:rPr>
              <a:t>PART I  ·  CO3  ·  STATE → ACTION → REWARD → NEXT STATE</a:t>
            </a:r>
            <a:endParaRPr lang="en-US" sz="850" dirty="0"/>
          </a:p>
        </p:txBody>
      </p:sp>
      <p:sp>
        <p:nvSpPr>
          <p:cNvPr id="4" name="Text 2"/>
          <p:cNvSpPr txBox="1"/>
          <p:nvPr/>
        </p:nvSpPr>
        <p:spPr>
          <a:xfrm>
            <a:off x="457200" y="475488"/>
            <a:ext cx="8229600" cy="502920"/>
          </a:xfrm>
          <a:prstGeom prst="rect">
            <a:avLst/>
          </a:prstGeom>
          <a:noFill/>
          <a:ln/>
        </p:spPr>
        <p:txBody>
          <a:bodyPr wrap="square" lIns="0" tIns="0" rIns="0" bIns="0" rtlCol="0" anchor="ctr"/>
          <a:lstStyle/>
          <a:p>
            <a:pPr marL="0" indent="0">
              <a:buNone/>
            </a:pPr>
            <a:r>
              <a:rPr lang="en-US" sz="2600" b="1" dirty="0">
                <a:solidFill>
                  <a:srgbClr val="2B3340"/>
                </a:solidFill>
                <a:latin typeface="Cambria" pitchFamily="34" charset="0"/>
                <a:ea typeface="Cambria" pitchFamily="34" charset="-122"/>
                <a:cs typeface="Cambria" pitchFamily="34" charset="-120"/>
              </a:rPr>
              <a:t>Demo: One Complete Cycle</a:t>
            </a:r>
            <a:endParaRPr lang="en-US" sz="2600" dirty="0"/>
          </a:p>
        </p:txBody>
      </p:sp>
      <p:pic>
        <p:nvPicPr>
          <p:cNvPr id="6"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57200" y="1097280"/>
            <a:ext cx="4846320" cy="2724912"/>
          </a:xfrm>
          <a:prstGeom prst="rect">
            <a:avLst/>
          </a:prstGeom>
        </p:spPr>
      </p:pic>
      <p:sp>
        <p:nvSpPr>
          <p:cNvPr id="7" name="Text 4"/>
          <p:cNvSpPr txBox="1"/>
          <p:nvPr/>
        </p:nvSpPr>
        <p:spPr>
          <a:xfrm>
            <a:off x="457200" y="3858768"/>
            <a:ext cx="4846320" cy="329184"/>
          </a:xfrm>
          <a:prstGeom prst="rect">
            <a:avLst/>
          </a:prstGeom>
          <a:noFill/>
          <a:ln/>
        </p:spPr>
        <p:txBody>
          <a:bodyPr wrap="square" lIns="0" tIns="0" rIns="0" bIns="0" rtlCol="0" anchor="t"/>
          <a:lstStyle/>
          <a:p>
            <a:pPr marL="0" indent="0">
              <a:buNone/>
            </a:pPr>
            <a:r>
              <a:rPr lang="en-US" sz="1000" i="1" dirty="0">
                <a:solidFill>
                  <a:srgbClr val="667085"/>
                </a:solidFill>
                <a:latin typeface="Calibri" pitchFamily="34" charset="0"/>
                <a:ea typeface="Calibri" pitchFamily="34" charset="-122"/>
                <a:cs typeface="Calibri" pitchFamily="34" charset="-120"/>
              </a:rPr>
              <a:t>Trained policy (Method 4), isometric view. The green text is the command speed the robot must follow.</a:t>
            </a:r>
            <a:endParaRPr lang="en-US" sz="1000" dirty="0"/>
          </a:p>
        </p:txBody>
      </p:sp>
      <p:sp>
        <p:nvSpPr>
          <p:cNvPr id="8" name="Shape 5"/>
          <p:cNvSpPr/>
          <p:nvPr/>
        </p:nvSpPr>
        <p:spPr>
          <a:xfrm>
            <a:off x="5532120" y="1097280"/>
            <a:ext cx="3154680" cy="548640"/>
          </a:xfrm>
          <a:prstGeom prst="roundRect">
            <a:avLst>
              <a:gd name="adj" fmla="val 1333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9" name="Shape 6"/>
          <p:cNvSpPr/>
          <p:nvPr/>
        </p:nvSpPr>
        <p:spPr>
          <a:xfrm>
            <a:off x="5623560" y="1216152"/>
            <a:ext cx="310896" cy="310896"/>
          </a:xfrm>
          <a:prstGeom prst="ellipse">
            <a:avLst/>
          </a:prstGeom>
          <a:solidFill>
            <a:srgbClr val="1F7AC0"/>
          </a:solidFill>
          <a:ln w="12700">
            <a:solidFill>
              <a:srgbClr val="FFFFFF"/>
            </a:solidFill>
            <a:prstDash val="solid"/>
          </a:ln>
        </p:spPr>
        <p:txBody>
          <a:bodyPr/>
          <a:lstStyle/>
          <a:p>
            <a:endParaRPr lang="en-US"/>
          </a:p>
        </p:txBody>
      </p:sp>
      <p:sp>
        <p:nvSpPr>
          <p:cNvPr id="10" name="Text 7"/>
          <p:cNvSpPr txBox="1"/>
          <p:nvPr/>
        </p:nvSpPr>
        <p:spPr>
          <a:xfrm>
            <a:off x="5623560" y="1216152"/>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8"/>
          <p:cNvSpPr txBox="1"/>
          <p:nvPr/>
        </p:nvSpPr>
        <p:spPr>
          <a:xfrm>
            <a:off x="6016752" y="1115568"/>
            <a:ext cx="2615184" cy="512064"/>
          </a:xfrm>
          <a:prstGeom prst="rect">
            <a:avLst/>
          </a:prstGeom>
          <a:noFill/>
          <a:ln/>
        </p:spPr>
        <p:txBody>
          <a:bodyPr wrap="square" lIns="0" tIns="0" rIns="0" bIns="0" rtlCol="0" anchor="ctr"/>
          <a:lstStyle/>
          <a:p>
            <a:pPr marL="0" indent="0">
              <a:buNone/>
            </a:pPr>
            <a:r>
              <a:rPr lang="en-US" sz="1000" b="1" dirty="0">
                <a:solidFill>
                  <a:srgbClr val="1F7AC0"/>
                </a:solidFill>
                <a:latin typeface="Calibri" pitchFamily="34" charset="0"/>
                <a:ea typeface="Calibri" pitchFamily="34" charset="-122"/>
                <a:cs typeface="Calibri" pitchFamily="34" charset="-120"/>
              </a:rPr>
              <a:t>State s</a:t>
            </a:r>
            <a:r>
              <a:rPr lang="en-US" sz="1000" b="1" baseline="-40000" dirty="0">
                <a:solidFill>
                  <a:srgbClr val="1F7AC0"/>
                </a:solidFill>
                <a:latin typeface="Calibri" pitchFamily="34" charset="0"/>
                <a:ea typeface="Calibri" pitchFamily="34" charset="-122"/>
                <a:cs typeface="Calibri" pitchFamily="34" charset="-120"/>
              </a:rPr>
              <a:t>t</a:t>
            </a:r>
            <a:endParaRPr lang="en-US" sz="1000" dirty="0"/>
          </a:p>
          <a:p>
            <a:pPr marL="0" indent="0">
              <a:buNone/>
            </a:pPr>
            <a:r>
              <a:rPr lang="en-US" sz="1000" dirty="0">
                <a:solidFill>
                  <a:srgbClr val="2B3340"/>
                </a:solidFill>
                <a:latin typeface="Calibri" pitchFamily="34" charset="0"/>
                <a:ea typeface="Calibri" pitchFamily="34" charset="-122"/>
                <a:cs typeface="Calibri" pitchFamily="34" charset="-120"/>
              </a:rPr>
              <a:t>Command + sensors → 48 numbers</a:t>
            </a:r>
            <a:endParaRPr lang="en-US" sz="1000" dirty="0"/>
          </a:p>
        </p:txBody>
      </p:sp>
      <p:sp>
        <p:nvSpPr>
          <p:cNvPr id="12" name="Shape 9"/>
          <p:cNvSpPr/>
          <p:nvPr/>
        </p:nvSpPr>
        <p:spPr>
          <a:xfrm>
            <a:off x="5532120" y="1719072"/>
            <a:ext cx="3154680" cy="548640"/>
          </a:xfrm>
          <a:prstGeom prst="roundRect">
            <a:avLst>
              <a:gd name="adj" fmla="val 1333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13" name="Shape 10"/>
          <p:cNvSpPr/>
          <p:nvPr/>
        </p:nvSpPr>
        <p:spPr>
          <a:xfrm>
            <a:off x="5623560" y="1837944"/>
            <a:ext cx="310896" cy="310896"/>
          </a:xfrm>
          <a:prstGeom prst="ellipse">
            <a:avLst/>
          </a:prstGeom>
          <a:solidFill>
            <a:srgbClr val="1F7AC0"/>
          </a:solidFill>
          <a:ln w="12700">
            <a:solidFill>
              <a:srgbClr val="FFFFFF"/>
            </a:solidFill>
            <a:prstDash val="solid"/>
          </a:ln>
        </p:spPr>
        <p:txBody>
          <a:bodyPr/>
          <a:lstStyle/>
          <a:p>
            <a:endParaRPr lang="en-US"/>
          </a:p>
        </p:txBody>
      </p:sp>
      <p:sp>
        <p:nvSpPr>
          <p:cNvPr id="14" name="Text 11"/>
          <p:cNvSpPr txBox="1"/>
          <p:nvPr/>
        </p:nvSpPr>
        <p:spPr>
          <a:xfrm>
            <a:off x="5623560" y="1837944"/>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2"/>
          <p:cNvSpPr txBox="1"/>
          <p:nvPr/>
        </p:nvSpPr>
        <p:spPr>
          <a:xfrm>
            <a:off x="6016752" y="1737360"/>
            <a:ext cx="2615184" cy="512064"/>
          </a:xfrm>
          <a:prstGeom prst="rect">
            <a:avLst/>
          </a:prstGeom>
          <a:noFill/>
          <a:ln/>
        </p:spPr>
        <p:txBody>
          <a:bodyPr wrap="square" lIns="0" tIns="0" rIns="0" bIns="0" rtlCol="0" anchor="ctr"/>
          <a:lstStyle/>
          <a:p>
            <a:pPr marL="0" indent="0">
              <a:buNone/>
            </a:pPr>
            <a:r>
              <a:rPr lang="en-US" sz="1000" b="1" dirty="0">
                <a:solidFill>
                  <a:srgbClr val="1F7AC0"/>
                </a:solidFill>
                <a:latin typeface="Calibri" pitchFamily="34" charset="0"/>
                <a:ea typeface="Calibri" pitchFamily="34" charset="-122"/>
                <a:cs typeface="Calibri" pitchFamily="34" charset="-120"/>
              </a:rPr>
              <a:t>Action a</a:t>
            </a:r>
            <a:r>
              <a:rPr lang="en-US" sz="1000" b="1" baseline="-40000" dirty="0">
                <a:solidFill>
                  <a:srgbClr val="1F7AC0"/>
                </a:solidFill>
                <a:latin typeface="Calibri" pitchFamily="34" charset="0"/>
                <a:ea typeface="Calibri" pitchFamily="34" charset="-122"/>
                <a:cs typeface="Calibri" pitchFamily="34" charset="-120"/>
              </a:rPr>
              <a:t>t</a:t>
            </a:r>
            <a:endParaRPr lang="en-US" sz="1000" dirty="0"/>
          </a:p>
          <a:p>
            <a:pPr marL="0" indent="0">
              <a:buNone/>
            </a:pPr>
            <a:r>
              <a:rPr lang="en-US" sz="1000" dirty="0">
                <a:solidFill>
                  <a:srgbClr val="2B3340"/>
                </a:solidFill>
                <a:latin typeface="Calibri" pitchFamily="34" charset="0"/>
                <a:ea typeface="Calibri" pitchFamily="34" charset="-122"/>
                <a:cs typeface="Calibri" pitchFamily="34" charset="-120"/>
              </a:rPr>
              <a:t>Actor outputs 12 target joint angles</a:t>
            </a:r>
            <a:endParaRPr lang="en-US" sz="1000" dirty="0"/>
          </a:p>
        </p:txBody>
      </p:sp>
      <p:sp>
        <p:nvSpPr>
          <p:cNvPr id="16" name="Shape 13"/>
          <p:cNvSpPr/>
          <p:nvPr/>
        </p:nvSpPr>
        <p:spPr>
          <a:xfrm>
            <a:off x="5532120" y="2340864"/>
            <a:ext cx="3154680" cy="548640"/>
          </a:xfrm>
          <a:prstGeom prst="roundRect">
            <a:avLst>
              <a:gd name="adj" fmla="val 1333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4"/>
          <p:cNvSpPr/>
          <p:nvPr/>
        </p:nvSpPr>
        <p:spPr>
          <a:xfrm>
            <a:off x="5623560" y="2459736"/>
            <a:ext cx="310896" cy="310896"/>
          </a:xfrm>
          <a:prstGeom prst="ellipse">
            <a:avLst/>
          </a:prstGeom>
          <a:solidFill>
            <a:srgbClr val="1F7AC0"/>
          </a:solidFill>
          <a:ln w="12700">
            <a:solidFill>
              <a:srgbClr val="FFFFFF"/>
            </a:solidFill>
            <a:prstDash val="solid"/>
          </a:ln>
        </p:spPr>
        <p:txBody>
          <a:bodyPr/>
          <a:lstStyle/>
          <a:p>
            <a:endParaRPr lang="en-US"/>
          </a:p>
        </p:txBody>
      </p:sp>
      <p:sp>
        <p:nvSpPr>
          <p:cNvPr id="18" name="Text 15"/>
          <p:cNvSpPr txBox="1"/>
          <p:nvPr/>
        </p:nvSpPr>
        <p:spPr>
          <a:xfrm>
            <a:off x="5623560" y="2459736"/>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6"/>
          <p:cNvSpPr txBox="1"/>
          <p:nvPr/>
        </p:nvSpPr>
        <p:spPr>
          <a:xfrm>
            <a:off x="6016752" y="2359152"/>
            <a:ext cx="2615184" cy="512064"/>
          </a:xfrm>
          <a:prstGeom prst="rect">
            <a:avLst/>
          </a:prstGeom>
          <a:noFill/>
          <a:ln/>
        </p:spPr>
        <p:txBody>
          <a:bodyPr wrap="square" lIns="0" tIns="0" rIns="0" bIns="0" rtlCol="0" anchor="ctr"/>
          <a:lstStyle/>
          <a:p>
            <a:pPr marL="0" indent="0">
              <a:buNone/>
            </a:pPr>
            <a:r>
              <a:rPr lang="en-US" sz="1000" b="1" dirty="0">
                <a:solidFill>
                  <a:srgbClr val="1F7AC0"/>
                </a:solidFill>
                <a:latin typeface="Calibri" pitchFamily="34" charset="0"/>
                <a:ea typeface="Calibri" pitchFamily="34" charset="-122"/>
                <a:cs typeface="Calibri" pitchFamily="34" charset="-120"/>
              </a:rPr>
              <a:t>Environment</a:t>
            </a:r>
            <a:endParaRPr lang="en-US" sz="1000" dirty="0"/>
          </a:p>
          <a:p>
            <a:pPr marL="0" indent="0">
              <a:buNone/>
            </a:pPr>
            <a:r>
              <a:rPr lang="en-US" sz="1000" dirty="0">
                <a:solidFill>
                  <a:srgbClr val="2B3340"/>
                </a:solidFill>
                <a:latin typeface="Calibri" pitchFamily="34" charset="0"/>
                <a:ea typeface="Calibri" pitchFamily="34" charset="-122"/>
                <a:cs typeface="Calibri" pitchFamily="34" charset="-120"/>
              </a:rPr>
              <a:t>PD controller + physics move the robot</a:t>
            </a:r>
            <a:endParaRPr lang="en-US" sz="1000" dirty="0"/>
          </a:p>
        </p:txBody>
      </p:sp>
      <p:sp>
        <p:nvSpPr>
          <p:cNvPr id="20" name="Shape 17"/>
          <p:cNvSpPr/>
          <p:nvPr/>
        </p:nvSpPr>
        <p:spPr>
          <a:xfrm>
            <a:off x="5532120" y="2962656"/>
            <a:ext cx="3154680" cy="548640"/>
          </a:xfrm>
          <a:prstGeom prst="roundRect">
            <a:avLst>
              <a:gd name="adj" fmla="val 1333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21" name="Shape 18"/>
          <p:cNvSpPr/>
          <p:nvPr/>
        </p:nvSpPr>
        <p:spPr>
          <a:xfrm>
            <a:off x="5623560" y="3081528"/>
            <a:ext cx="310896" cy="310896"/>
          </a:xfrm>
          <a:prstGeom prst="ellipse">
            <a:avLst/>
          </a:prstGeom>
          <a:solidFill>
            <a:srgbClr val="F28C28"/>
          </a:solidFill>
          <a:ln w="12700">
            <a:solidFill>
              <a:srgbClr val="FFFFFF"/>
            </a:solidFill>
            <a:prstDash val="solid"/>
          </a:ln>
        </p:spPr>
        <p:txBody>
          <a:bodyPr/>
          <a:lstStyle/>
          <a:p>
            <a:endParaRPr lang="en-US"/>
          </a:p>
        </p:txBody>
      </p:sp>
      <p:sp>
        <p:nvSpPr>
          <p:cNvPr id="22" name="Text 19"/>
          <p:cNvSpPr txBox="1"/>
          <p:nvPr/>
        </p:nvSpPr>
        <p:spPr>
          <a:xfrm>
            <a:off x="5623560" y="308152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Text 20"/>
          <p:cNvSpPr txBox="1"/>
          <p:nvPr/>
        </p:nvSpPr>
        <p:spPr>
          <a:xfrm>
            <a:off x="6016752" y="2980944"/>
            <a:ext cx="2615184" cy="512064"/>
          </a:xfrm>
          <a:prstGeom prst="rect">
            <a:avLst/>
          </a:prstGeom>
          <a:noFill/>
          <a:ln/>
        </p:spPr>
        <p:txBody>
          <a:bodyPr wrap="square" lIns="0" tIns="0" rIns="0" bIns="0" rtlCol="0" anchor="ctr"/>
          <a:lstStyle/>
          <a:p>
            <a:pPr marL="0" indent="0">
              <a:buNone/>
            </a:pPr>
            <a:r>
              <a:rPr lang="en-US" sz="1000" b="1" dirty="0">
                <a:solidFill>
                  <a:srgbClr val="1F7AC0"/>
                </a:solidFill>
                <a:latin typeface="Calibri" pitchFamily="34" charset="0"/>
                <a:ea typeface="Calibri" pitchFamily="34" charset="-122"/>
                <a:cs typeface="Calibri" pitchFamily="34" charset="-120"/>
              </a:rPr>
              <a:t>Reward r</a:t>
            </a:r>
            <a:r>
              <a:rPr lang="en-US" sz="1000" b="1" baseline="-40000" dirty="0">
                <a:solidFill>
                  <a:srgbClr val="1F7AC0"/>
                </a:solidFill>
                <a:latin typeface="Calibri" pitchFamily="34" charset="0"/>
                <a:ea typeface="Calibri" pitchFamily="34" charset="-122"/>
                <a:cs typeface="Calibri" pitchFamily="34" charset="-120"/>
              </a:rPr>
              <a:t>t</a:t>
            </a:r>
            <a:endParaRPr lang="en-US" sz="1000" dirty="0"/>
          </a:p>
          <a:p>
            <a:pPr marL="0" indent="0">
              <a:buNone/>
            </a:pPr>
            <a:r>
              <a:rPr lang="en-US" sz="1000" dirty="0">
                <a:solidFill>
                  <a:srgbClr val="2B3340"/>
                </a:solidFill>
                <a:latin typeface="Calibri" pitchFamily="34" charset="0"/>
                <a:ea typeface="Calibri" pitchFamily="34" charset="-122"/>
                <a:cs typeface="Calibri" pitchFamily="34" charset="-120"/>
              </a:rPr>
              <a:t>One score: speed ✓  upright ✓  smooth ✓</a:t>
            </a:r>
            <a:endParaRPr lang="en-US" sz="1000" dirty="0"/>
          </a:p>
        </p:txBody>
      </p:sp>
      <p:sp>
        <p:nvSpPr>
          <p:cNvPr id="24" name="Shape 21"/>
          <p:cNvSpPr/>
          <p:nvPr/>
        </p:nvSpPr>
        <p:spPr>
          <a:xfrm>
            <a:off x="5532120" y="3584448"/>
            <a:ext cx="3154680" cy="548640"/>
          </a:xfrm>
          <a:prstGeom prst="roundRect">
            <a:avLst>
              <a:gd name="adj" fmla="val 1333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25" name="Shape 22"/>
          <p:cNvSpPr/>
          <p:nvPr/>
        </p:nvSpPr>
        <p:spPr>
          <a:xfrm>
            <a:off x="5623560" y="3703320"/>
            <a:ext cx="310896" cy="310896"/>
          </a:xfrm>
          <a:prstGeom prst="ellipse">
            <a:avLst/>
          </a:prstGeom>
          <a:solidFill>
            <a:srgbClr val="1F7AC0"/>
          </a:solidFill>
          <a:ln w="12700">
            <a:solidFill>
              <a:srgbClr val="FFFFFF"/>
            </a:solidFill>
            <a:prstDash val="solid"/>
          </a:ln>
        </p:spPr>
        <p:txBody>
          <a:bodyPr/>
          <a:lstStyle/>
          <a:p>
            <a:endParaRPr lang="en-US"/>
          </a:p>
        </p:txBody>
      </p:sp>
      <p:sp>
        <p:nvSpPr>
          <p:cNvPr id="26" name="Text 23"/>
          <p:cNvSpPr txBox="1"/>
          <p:nvPr/>
        </p:nvSpPr>
        <p:spPr>
          <a:xfrm>
            <a:off x="5623560" y="370332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7" name="Text 24"/>
          <p:cNvSpPr txBox="1"/>
          <p:nvPr/>
        </p:nvSpPr>
        <p:spPr>
          <a:xfrm>
            <a:off x="6016752" y="3602736"/>
            <a:ext cx="2615184" cy="512064"/>
          </a:xfrm>
          <a:prstGeom prst="rect">
            <a:avLst/>
          </a:prstGeom>
          <a:noFill/>
          <a:ln/>
        </p:spPr>
        <p:txBody>
          <a:bodyPr wrap="square" lIns="0" tIns="0" rIns="0" bIns="0" rtlCol="0" anchor="ctr"/>
          <a:lstStyle/>
          <a:p>
            <a:pPr marL="0" indent="0">
              <a:buNone/>
            </a:pPr>
            <a:r>
              <a:rPr lang="en-US" sz="1000" b="1" dirty="0">
                <a:solidFill>
                  <a:srgbClr val="1F7AC0"/>
                </a:solidFill>
                <a:latin typeface="Calibri" pitchFamily="34" charset="0"/>
                <a:ea typeface="Calibri" pitchFamily="34" charset="-122"/>
                <a:cs typeface="Calibri" pitchFamily="34" charset="-120"/>
              </a:rPr>
              <a:t>Next state s</a:t>
            </a:r>
            <a:r>
              <a:rPr lang="en-US" sz="1000" b="1" baseline="-40000" dirty="0">
                <a:solidFill>
                  <a:srgbClr val="1F7AC0"/>
                </a:solidFill>
                <a:latin typeface="Calibri" pitchFamily="34" charset="0"/>
                <a:ea typeface="Calibri" pitchFamily="34" charset="-122"/>
                <a:cs typeface="Calibri" pitchFamily="34" charset="-120"/>
              </a:rPr>
              <a:t>t+1</a:t>
            </a:r>
            <a:endParaRPr lang="en-US" sz="1000" dirty="0"/>
          </a:p>
          <a:p>
            <a:pPr marL="0" indent="0">
              <a:buNone/>
            </a:pPr>
            <a:r>
              <a:rPr lang="en-US" sz="1000" dirty="0">
                <a:solidFill>
                  <a:srgbClr val="2B3340"/>
                </a:solidFill>
                <a:latin typeface="Calibri" pitchFamily="34" charset="0"/>
                <a:ea typeface="Calibri" pitchFamily="34" charset="-122"/>
                <a:cs typeface="Calibri" pitchFamily="34" charset="-120"/>
              </a:rPr>
              <a:t>Repeat; PPO learns every 24 steps</a:t>
            </a:r>
            <a:endParaRPr lang="en-US" sz="1000" dirty="0"/>
          </a:p>
        </p:txBody>
      </p:sp>
      <p:sp>
        <p:nvSpPr>
          <p:cNvPr id="28" name="Shape 25"/>
          <p:cNvSpPr/>
          <p:nvPr/>
        </p:nvSpPr>
        <p:spPr>
          <a:xfrm>
            <a:off x="457200" y="4279392"/>
            <a:ext cx="8229600" cy="457200"/>
          </a:xfrm>
          <a:prstGeom prst="roundRect">
            <a:avLst>
              <a:gd name="adj" fmla="val 16000"/>
            </a:avLst>
          </a:prstGeom>
          <a:solidFill>
            <a:srgbClr val="FFF1E0"/>
          </a:solidFill>
          <a:ln w="12700">
            <a:solidFill>
              <a:srgbClr val="FFF1E0"/>
            </a:solidFill>
            <a:prstDash val="solid"/>
          </a:ln>
        </p:spPr>
        <p:txBody>
          <a:bodyPr/>
          <a:lstStyle/>
          <a:p>
            <a:endParaRPr lang="en-US"/>
          </a:p>
        </p:txBody>
      </p:sp>
      <p:pic>
        <p:nvPicPr>
          <p:cNvPr id="29" name="Image 0" descr="preencoded.png"/>
          <p:cNvPicPr>
            <a:picLocks noChangeAspect="1"/>
          </p:cNvPicPr>
          <p:nvPr/>
        </p:nvPicPr>
        <p:blipFill>
          <a:blip r:embed="rId6"/>
          <a:stretch>
            <a:fillRect/>
          </a:stretch>
        </p:blipFill>
        <p:spPr>
          <a:xfrm>
            <a:off x="585216" y="4389120"/>
            <a:ext cx="237744" cy="237744"/>
          </a:xfrm>
          <a:prstGeom prst="rect">
            <a:avLst/>
          </a:prstGeom>
        </p:spPr>
      </p:pic>
      <p:sp>
        <p:nvSpPr>
          <p:cNvPr id="30" name="Text 26"/>
          <p:cNvSpPr txBox="1"/>
          <p:nvPr/>
        </p:nvSpPr>
        <p:spPr>
          <a:xfrm>
            <a:off x="932688" y="4279392"/>
            <a:ext cx="7635240" cy="457200"/>
          </a:xfrm>
          <a:prstGeom prst="rect">
            <a:avLst/>
          </a:prstGeom>
          <a:noFill/>
          <a:ln/>
        </p:spPr>
        <p:txBody>
          <a:bodyPr wrap="square" lIns="0" tIns="0" rIns="0" bIns="0" rtlCol="0" anchor="ctr"/>
          <a:lstStyle/>
          <a:p>
            <a:pPr marL="0" indent="0">
              <a:buNone/>
            </a:pPr>
            <a:r>
              <a:rPr lang="en-US" sz="1150" b="1" dirty="0">
                <a:solidFill>
                  <a:srgbClr val="F28C28"/>
                </a:solidFill>
                <a:latin typeface="Calibri" pitchFamily="34" charset="0"/>
                <a:ea typeface="Calibri" pitchFamily="34" charset="-122"/>
                <a:cs typeface="Calibri" pitchFamily="34" charset="-120"/>
              </a:rPr>
              <a:t>In plain words:  </a:t>
            </a:r>
            <a:r>
              <a:rPr lang="en-US" sz="1150" dirty="0">
                <a:solidFill>
                  <a:srgbClr val="2B3340"/>
                </a:solidFill>
                <a:latin typeface="Calibri" pitchFamily="34" charset="0"/>
                <a:ea typeface="Calibri" pitchFamily="34" charset="-122"/>
                <a:cs typeface="Calibri" pitchFamily="34" charset="-120"/>
              </a:rPr>
              <a:t>Watch the robot follow the changing command. Behind every frame the same five steps are repeated many times per second.</a:t>
            </a:r>
            <a:endParaRPr lang="en-US" sz="1150" dirty="0"/>
          </a:p>
        </p:txBody>
      </p:sp>
      <p:sp>
        <p:nvSpPr>
          <p:cNvPr id="31"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50">
                <a:solidFill>
                  <a:srgbClr val="667085"/>
                </a:solidFill>
                <a:latin typeface="Calibri"/>
                <a:ea typeface="Calibri"/>
                <a:cs typeface="Calibri"/>
              </a:defRPr>
            </a:lvl1pPr>
          </a:lstStyle>
          <a:p>
            <a:pPr algn="r"/>
            <a:fld id="{F7021451-1387-4CA6-816F-3879F97B5CBC}" type="slidenum">
              <a:rPr lang="en-US" b="0"/>
              <a:t>13</a:t>
            </a:fld>
            <a:endParaRPr lang="en-US"/>
          </a:p>
        </p:txBody>
      </p:sp>
      <p:sp>
        <p:nvSpPr>
          <p:cNvPr id="33" name="Text 3">
            <a:extLst>
              <a:ext uri="{FF2B5EF4-FFF2-40B4-BE49-F238E27FC236}">
                <a16:creationId xmlns:a16="http://schemas.microsoft.com/office/drawing/2014/main" id="{3E9FDFE2-534B-3D99-3D1D-B4B3DBD5435A}"/>
              </a:ext>
            </a:extLst>
          </p:cNvPr>
          <p:cNvSpPr txBox="1"/>
          <p:nvPr/>
        </p:nvSpPr>
        <p:spPr>
          <a:xfrm>
            <a:off x="457200" y="4846320"/>
            <a:ext cx="4572000" cy="201168"/>
          </a:xfrm>
          <a:prstGeom prst="rect">
            <a:avLst/>
          </a:prstGeom>
          <a:noFill/>
          <a:ln/>
        </p:spPr>
        <p:txBody>
          <a:bodyPr wrap="square" lIns="0" tIns="0" rIns="0" bIns="0" rtlCol="0" anchor="ctr"/>
          <a:lstStyle/>
          <a:p>
            <a:pPr marL="0" indent="0">
              <a:buNone/>
            </a:pPr>
            <a:r>
              <a:rPr lang="en-US" sz="850" dirty="0">
                <a:solidFill>
                  <a:srgbClr val="667085"/>
                </a:solidFill>
                <a:latin typeface="Calibri" pitchFamily="34" charset="0"/>
                <a:ea typeface="Calibri" pitchFamily="34" charset="-122"/>
                <a:cs typeface="Calibri" pitchFamily="34" charset="-120"/>
              </a:rPr>
              <a:t>RL Mini-Project  ·  Biped walking</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457200" y="219456"/>
            <a:ext cx="3086100" cy="219456"/>
          </a:xfrm>
          <a:prstGeom prst="roundRect">
            <a:avLst>
              <a:gd name="adj" fmla="val 20833"/>
            </a:avLst>
          </a:prstGeom>
          <a:solidFill>
            <a:srgbClr val="E6F1FA"/>
          </a:solidFill>
          <a:ln w="12700">
            <a:solidFill>
              <a:srgbClr val="E6F1FA"/>
            </a:solidFill>
            <a:prstDash val="solid"/>
          </a:ln>
        </p:spPr>
        <p:txBody>
          <a:bodyPr/>
          <a:lstStyle/>
          <a:p>
            <a:endParaRPr lang="en-US"/>
          </a:p>
        </p:txBody>
      </p:sp>
      <p:sp>
        <p:nvSpPr>
          <p:cNvPr id="3" name="Text 1"/>
          <p:cNvSpPr txBox="1"/>
          <p:nvPr/>
        </p:nvSpPr>
        <p:spPr>
          <a:xfrm>
            <a:off x="457200" y="219456"/>
            <a:ext cx="3086100" cy="219456"/>
          </a:xfrm>
          <a:prstGeom prst="rect">
            <a:avLst/>
          </a:prstGeom>
          <a:noFill/>
          <a:ln/>
        </p:spPr>
        <p:txBody>
          <a:bodyPr wrap="square" lIns="0" tIns="0" rIns="0" bIns="0" rtlCol="0" anchor="ctr"/>
          <a:lstStyle/>
          <a:p>
            <a:pPr marL="0" indent="0" algn="ctr">
              <a:buNone/>
            </a:pPr>
            <a:r>
              <a:rPr lang="en-US" sz="850" b="1" kern="0" spc="100" dirty="0">
                <a:solidFill>
                  <a:srgbClr val="1F7AC0"/>
                </a:solidFill>
                <a:latin typeface="Calibri" pitchFamily="34" charset="0"/>
                <a:ea typeface="Calibri" pitchFamily="34" charset="-122"/>
                <a:cs typeface="Calibri" pitchFamily="34" charset="-120"/>
              </a:rPr>
              <a:t>PART I  ·  CO3  ·  LEARNING &amp; PERFORMANCE</a:t>
            </a:r>
            <a:endParaRPr lang="en-US" sz="850" dirty="0"/>
          </a:p>
        </p:txBody>
      </p:sp>
      <p:sp>
        <p:nvSpPr>
          <p:cNvPr id="4" name="Text 2"/>
          <p:cNvSpPr txBox="1"/>
          <p:nvPr/>
        </p:nvSpPr>
        <p:spPr>
          <a:xfrm>
            <a:off x="457200" y="475488"/>
            <a:ext cx="8229600" cy="502920"/>
          </a:xfrm>
          <a:prstGeom prst="rect">
            <a:avLst/>
          </a:prstGeom>
          <a:noFill/>
          <a:ln/>
        </p:spPr>
        <p:txBody>
          <a:bodyPr wrap="square" lIns="0" tIns="0" rIns="0" bIns="0" rtlCol="0" anchor="ctr"/>
          <a:lstStyle/>
          <a:p>
            <a:pPr marL="0" indent="0">
              <a:buNone/>
            </a:pPr>
            <a:r>
              <a:rPr lang="en-US" sz="2600" b="1" dirty="0">
                <a:solidFill>
                  <a:srgbClr val="2B3340"/>
                </a:solidFill>
                <a:latin typeface="Cambria" pitchFamily="34" charset="0"/>
                <a:ea typeface="Cambria" pitchFamily="34" charset="-122"/>
                <a:cs typeface="Cambria" pitchFamily="34" charset="-120"/>
              </a:rPr>
              <a:t>Results</a:t>
            </a:r>
            <a:endParaRPr lang="en-US" sz="2600" dirty="0"/>
          </a:p>
        </p:txBody>
      </p:sp>
      <p:sp>
        <p:nvSpPr>
          <p:cNvPr id="6" name="Shape 4"/>
          <p:cNvSpPr/>
          <p:nvPr/>
        </p:nvSpPr>
        <p:spPr>
          <a:xfrm>
            <a:off x="457200" y="1051560"/>
            <a:ext cx="4023360" cy="2414016"/>
          </a:xfrm>
          <a:prstGeom prst="roundRect">
            <a:avLst>
              <a:gd name="adj" fmla="val 3030"/>
            </a:avLst>
          </a:prstGeom>
          <a:solidFill>
            <a:srgbClr val="FFF4CC"/>
          </a:solidFill>
          <a:ln w="19050">
            <a:solidFill>
              <a:srgbClr val="E0A800"/>
            </a:solidFill>
            <a:prstDash val="dash"/>
          </a:ln>
        </p:spPr>
        <p:txBody>
          <a:bodyPr/>
          <a:lstStyle/>
          <a:p>
            <a:endParaRPr lang="en-US"/>
          </a:p>
        </p:txBody>
      </p:sp>
      <p:pic>
        <p:nvPicPr>
          <p:cNvPr id="7" name="Image 0" descr="preencoded.png"/>
          <p:cNvPicPr>
            <a:picLocks noChangeAspect="1"/>
          </p:cNvPicPr>
          <p:nvPr/>
        </p:nvPicPr>
        <p:blipFill>
          <a:blip r:embed="rId3"/>
          <a:stretch>
            <a:fillRect/>
          </a:stretch>
        </p:blipFill>
        <p:spPr>
          <a:xfrm>
            <a:off x="2240280" y="1691640"/>
            <a:ext cx="457200" cy="457200"/>
          </a:xfrm>
          <a:prstGeom prst="rect">
            <a:avLst/>
          </a:prstGeom>
        </p:spPr>
      </p:pic>
      <p:sp>
        <p:nvSpPr>
          <p:cNvPr id="8" name="Text 5"/>
          <p:cNvSpPr txBox="1"/>
          <p:nvPr/>
        </p:nvSpPr>
        <p:spPr>
          <a:xfrm>
            <a:off x="640080" y="2212848"/>
            <a:ext cx="3657600" cy="365760"/>
          </a:xfrm>
          <a:prstGeom prst="rect">
            <a:avLst/>
          </a:prstGeom>
          <a:noFill/>
          <a:ln/>
        </p:spPr>
        <p:txBody>
          <a:bodyPr wrap="square" lIns="0" tIns="0" rIns="0" bIns="0" rtlCol="0" anchor="ctr"/>
          <a:lstStyle/>
          <a:p>
            <a:pPr marL="0" indent="0" algn="ctr">
              <a:buNone/>
            </a:pPr>
            <a:r>
              <a:rPr lang="en-US" sz="1300" b="1" dirty="0">
                <a:solidFill>
                  <a:srgbClr val="8A6D00"/>
                </a:solidFill>
                <a:latin typeface="Calibri" pitchFamily="34" charset="0"/>
                <a:ea typeface="Calibri" pitchFamily="34" charset="-122"/>
                <a:cs typeface="Calibri" pitchFamily="34" charset="-120"/>
              </a:rPr>
              <a:t>Learning curve: insert from W&amp;B</a:t>
            </a:r>
            <a:endParaRPr lang="en-US" sz="1300" dirty="0"/>
          </a:p>
        </p:txBody>
      </p:sp>
      <p:sp>
        <p:nvSpPr>
          <p:cNvPr id="9" name="Text 6"/>
          <p:cNvSpPr txBox="1"/>
          <p:nvPr/>
        </p:nvSpPr>
        <p:spPr>
          <a:xfrm>
            <a:off x="640080" y="2578608"/>
            <a:ext cx="3657600" cy="502920"/>
          </a:xfrm>
          <a:prstGeom prst="rect">
            <a:avLst/>
          </a:prstGeom>
          <a:noFill/>
          <a:ln/>
        </p:spPr>
        <p:txBody>
          <a:bodyPr wrap="square" lIns="0" tIns="0" rIns="0" bIns="0" rtlCol="0" anchor="t"/>
          <a:lstStyle/>
          <a:p>
            <a:pPr marL="0" indent="0" algn="ctr">
              <a:buNone/>
            </a:pPr>
            <a:r>
              <a:rPr lang="en-US" sz="1050" dirty="0">
                <a:solidFill>
                  <a:srgbClr val="8A6D00"/>
                </a:solidFill>
                <a:latin typeface="Calibri" pitchFamily="34" charset="0"/>
                <a:ea typeface="Calibri" pitchFamily="34" charset="-122"/>
                <a:cs typeface="Calibri" pitchFamily="34" charset="-120"/>
              </a:rPr>
              <a:t>Mean reward vs training iteration (Method 4, 15,200 iterations).  Chart name in W&amp;B: Train/mean_reward</a:t>
            </a:r>
            <a:endParaRPr lang="en-US" sz="1050" dirty="0"/>
          </a:p>
        </p:txBody>
      </p:sp>
      <p:pic>
        <p:nvPicPr>
          <p:cNvPr id="10" name="Image 1" descr="/home/claude/build/assets/m4_track.png"/>
          <p:cNvPicPr>
            <a:picLocks noChangeAspect="1"/>
          </p:cNvPicPr>
          <p:nvPr/>
        </p:nvPicPr>
        <p:blipFill>
          <a:blip r:embed="rId4"/>
          <a:stretch>
            <a:fillRect/>
          </a:stretch>
        </p:blipFill>
        <p:spPr>
          <a:xfrm>
            <a:off x="4663440" y="1051560"/>
            <a:ext cx="4023360" cy="2414016"/>
          </a:xfrm>
          <a:prstGeom prst="rect">
            <a:avLst/>
          </a:prstGeom>
          <a:effectLst>
            <a:outerShdw blurRad="76200" dist="25400" dir="5400000" algn="bl" rotWithShape="0">
              <a:srgbClr val="000000">
                <a:alpha val="12000"/>
              </a:srgbClr>
            </a:outerShdw>
          </a:effectLst>
        </p:spPr>
      </p:pic>
      <p:sp>
        <p:nvSpPr>
          <p:cNvPr id="11" name="Text 7"/>
          <p:cNvSpPr txBox="1"/>
          <p:nvPr/>
        </p:nvSpPr>
        <p:spPr>
          <a:xfrm>
            <a:off x="457200" y="3502152"/>
            <a:ext cx="4023360" cy="329184"/>
          </a:xfrm>
          <a:prstGeom prst="rect">
            <a:avLst/>
          </a:prstGeom>
          <a:noFill/>
          <a:ln/>
        </p:spPr>
        <p:txBody>
          <a:bodyPr wrap="square" lIns="0" tIns="0" rIns="0" bIns="0" rtlCol="0" anchor="t"/>
          <a:lstStyle/>
          <a:p>
            <a:pPr marL="0" indent="0">
              <a:buNone/>
            </a:pPr>
            <a:r>
              <a:rPr lang="en-US" sz="950" i="1" dirty="0">
                <a:solidFill>
                  <a:srgbClr val="667085"/>
                </a:solidFill>
                <a:latin typeface="Calibri" pitchFamily="34" charset="0"/>
                <a:ea typeface="Calibri" pitchFamily="34" charset="-122"/>
                <a:cs typeface="Calibri" pitchFamily="34" charset="-120"/>
              </a:rPr>
              <a:t>Learning curve: the score should rise, then flatten as walking is learned.</a:t>
            </a:r>
            <a:endParaRPr lang="en-US" sz="950" dirty="0"/>
          </a:p>
        </p:txBody>
      </p:sp>
      <p:sp>
        <p:nvSpPr>
          <p:cNvPr id="12" name="Text 8"/>
          <p:cNvSpPr txBox="1"/>
          <p:nvPr/>
        </p:nvSpPr>
        <p:spPr>
          <a:xfrm>
            <a:off x="4663440" y="3502152"/>
            <a:ext cx="4023360" cy="329184"/>
          </a:xfrm>
          <a:prstGeom prst="rect">
            <a:avLst/>
          </a:prstGeom>
          <a:noFill/>
          <a:ln/>
        </p:spPr>
        <p:txBody>
          <a:bodyPr wrap="square" lIns="0" tIns="0" rIns="0" bIns="0" rtlCol="0" anchor="t"/>
          <a:lstStyle/>
          <a:p>
            <a:pPr marL="0" indent="0">
              <a:buNone/>
            </a:pPr>
            <a:r>
              <a:rPr lang="en-US" sz="950" i="1" dirty="0">
                <a:solidFill>
                  <a:srgbClr val="667085"/>
                </a:solidFill>
                <a:latin typeface="Calibri" pitchFamily="34" charset="0"/>
                <a:ea typeface="Calibri" pitchFamily="34" charset="-122"/>
                <a:cs typeface="Calibri" pitchFamily="34" charset="-120"/>
              </a:rPr>
              <a:t>Task performance: dashed = commanded speed, green = actual speed. Closer is better.</a:t>
            </a:r>
            <a:endParaRPr lang="en-US" sz="950" dirty="0"/>
          </a:p>
        </p:txBody>
      </p:sp>
      <p:sp>
        <p:nvSpPr>
          <p:cNvPr id="13" name="Shape 9"/>
          <p:cNvSpPr/>
          <p:nvPr/>
        </p:nvSpPr>
        <p:spPr>
          <a:xfrm>
            <a:off x="457200" y="3886200"/>
            <a:ext cx="1920240" cy="896112"/>
          </a:xfrm>
          <a:prstGeom prst="roundRect">
            <a:avLst>
              <a:gd name="adj" fmla="val 816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14" name="Text 10"/>
          <p:cNvSpPr txBox="1"/>
          <p:nvPr/>
        </p:nvSpPr>
        <p:spPr>
          <a:xfrm>
            <a:off x="548640" y="3913632"/>
            <a:ext cx="1737360" cy="365760"/>
          </a:xfrm>
          <a:prstGeom prst="rect">
            <a:avLst/>
          </a:prstGeom>
          <a:noFill/>
          <a:ln/>
        </p:spPr>
        <p:txBody>
          <a:bodyPr wrap="square" lIns="0" tIns="0" rIns="0" bIns="0" rtlCol="0" anchor="ctr"/>
          <a:lstStyle/>
          <a:p>
            <a:pPr marL="0" indent="0">
              <a:buNone/>
            </a:pPr>
            <a:r>
              <a:rPr lang="en-US" sz="1900" b="1" dirty="0">
                <a:solidFill>
                  <a:srgbClr val="1F7AC0"/>
                </a:solidFill>
                <a:latin typeface="Cambria" pitchFamily="34" charset="0"/>
                <a:ea typeface="Cambria" pitchFamily="34" charset="-122"/>
                <a:cs typeface="Cambria" pitchFamily="34" charset="-120"/>
              </a:rPr>
              <a:t>≈ 3.0 m/s</a:t>
            </a:r>
            <a:endParaRPr lang="en-US" sz="1900" dirty="0"/>
          </a:p>
        </p:txBody>
      </p:sp>
      <p:sp>
        <p:nvSpPr>
          <p:cNvPr id="15" name="Text 11"/>
          <p:cNvSpPr txBox="1"/>
          <p:nvPr/>
        </p:nvSpPr>
        <p:spPr>
          <a:xfrm>
            <a:off x="548640" y="4279392"/>
            <a:ext cx="1755648" cy="475488"/>
          </a:xfrm>
          <a:prstGeom prst="rect">
            <a:avLst/>
          </a:prstGeom>
          <a:noFill/>
          <a:ln/>
        </p:spPr>
        <p:txBody>
          <a:bodyPr wrap="square" lIns="0" tIns="0" rIns="0" bIns="0" rtlCol="0" anchor="t"/>
          <a:lstStyle/>
          <a:p>
            <a:pPr marL="0" indent="0">
              <a:buNone/>
            </a:pPr>
            <a:r>
              <a:rPr lang="en-US" sz="900" dirty="0">
                <a:solidFill>
                  <a:srgbClr val="2B3340"/>
                </a:solidFill>
                <a:latin typeface="Calibri" pitchFamily="34" charset="0"/>
                <a:ea typeface="Calibri" pitchFamily="34" charset="-122"/>
                <a:cs typeface="Calibri" pitchFamily="34" charset="-120"/>
              </a:rPr>
              <a:t>speed reached when 3.0 m/s is commanded (Method 2: ≈ 1.8 m/s)</a:t>
            </a:r>
            <a:endParaRPr lang="en-US" sz="900" dirty="0"/>
          </a:p>
        </p:txBody>
      </p:sp>
      <p:sp>
        <p:nvSpPr>
          <p:cNvPr id="16" name="Shape 12"/>
          <p:cNvSpPr/>
          <p:nvPr/>
        </p:nvSpPr>
        <p:spPr>
          <a:xfrm>
            <a:off x="2560320" y="3886200"/>
            <a:ext cx="1920240" cy="896112"/>
          </a:xfrm>
          <a:prstGeom prst="roundRect">
            <a:avLst>
              <a:gd name="adj" fmla="val 816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17" name="Text 13"/>
          <p:cNvSpPr txBox="1"/>
          <p:nvPr/>
        </p:nvSpPr>
        <p:spPr>
          <a:xfrm>
            <a:off x="2651760" y="3913632"/>
            <a:ext cx="1737360" cy="365760"/>
          </a:xfrm>
          <a:prstGeom prst="rect">
            <a:avLst/>
          </a:prstGeom>
          <a:noFill/>
          <a:ln/>
        </p:spPr>
        <p:txBody>
          <a:bodyPr wrap="square" lIns="0" tIns="0" rIns="0" bIns="0" rtlCol="0" anchor="ctr"/>
          <a:lstStyle/>
          <a:p>
            <a:pPr marL="0" indent="0">
              <a:buNone/>
            </a:pPr>
            <a:r>
              <a:rPr lang="en-US" sz="1900" b="1" dirty="0">
                <a:solidFill>
                  <a:srgbClr val="1F7AC0"/>
                </a:solidFill>
                <a:latin typeface="Cambria" pitchFamily="34" charset="0"/>
                <a:ea typeface="Cambria" pitchFamily="34" charset="-122"/>
                <a:cs typeface="Cambria" pitchFamily="34" charset="-120"/>
              </a:rPr>
              <a:t>15,200</a:t>
            </a:r>
            <a:endParaRPr lang="en-US" sz="1900" dirty="0"/>
          </a:p>
        </p:txBody>
      </p:sp>
      <p:sp>
        <p:nvSpPr>
          <p:cNvPr id="18" name="Text 14"/>
          <p:cNvSpPr txBox="1"/>
          <p:nvPr/>
        </p:nvSpPr>
        <p:spPr>
          <a:xfrm>
            <a:off x="2651760" y="4279392"/>
            <a:ext cx="1755648" cy="475488"/>
          </a:xfrm>
          <a:prstGeom prst="rect">
            <a:avLst/>
          </a:prstGeom>
          <a:noFill/>
          <a:ln/>
        </p:spPr>
        <p:txBody>
          <a:bodyPr wrap="square" lIns="0" tIns="0" rIns="0" bIns="0" rtlCol="0" anchor="t"/>
          <a:lstStyle/>
          <a:p>
            <a:pPr marL="0" indent="0">
              <a:buNone/>
            </a:pPr>
            <a:r>
              <a:rPr lang="en-US" sz="900" dirty="0">
                <a:solidFill>
                  <a:srgbClr val="2B3340"/>
                </a:solidFill>
                <a:latin typeface="Calibri" pitchFamily="34" charset="0"/>
                <a:ea typeface="Calibri" pitchFamily="34" charset="-122"/>
                <a:cs typeface="Calibri" pitchFamily="34" charset="-120"/>
              </a:rPr>
              <a:t>training iterations (Method 2: 350)</a:t>
            </a:r>
            <a:endParaRPr lang="en-US" sz="900" dirty="0"/>
          </a:p>
        </p:txBody>
      </p:sp>
      <p:sp>
        <p:nvSpPr>
          <p:cNvPr id="19" name="Shape 15"/>
          <p:cNvSpPr/>
          <p:nvPr/>
        </p:nvSpPr>
        <p:spPr>
          <a:xfrm>
            <a:off x="4663440" y="3886200"/>
            <a:ext cx="1920240" cy="896112"/>
          </a:xfrm>
          <a:prstGeom prst="roundRect">
            <a:avLst>
              <a:gd name="adj" fmla="val 816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20" name="Text 16"/>
          <p:cNvSpPr txBox="1"/>
          <p:nvPr/>
        </p:nvSpPr>
        <p:spPr>
          <a:xfrm>
            <a:off x="4754880" y="3913632"/>
            <a:ext cx="1737360" cy="365760"/>
          </a:xfrm>
          <a:prstGeom prst="rect">
            <a:avLst/>
          </a:prstGeom>
          <a:noFill/>
          <a:ln/>
        </p:spPr>
        <p:txBody>
          <a:bodyPr wrap="square" lIns="0" tIns="0" rIns="0" bIns="0" rtlCol="0" anchor="ctr"/>
          <a:lstStyle/>
          <a:p>
            <a:pPr marL="0" indent="0">
              <a:buNone/>
            </a:pPr>
            <a:r>
              <a:rPr lang="en-US" sz="1900" b="1" dirty="0">
                <a:solidFill>
                  <a:srgbClr val="1F7AC0"/>
                </a:solidFill>
                <a:latin typeface="Cambria" pitchFamily="34" charset="0"/>
                <a:ea typeface="Cambria" pitchFamily="34" charset="-122"/>
                <a:cs typeface="Cambria" pitchFamily="34" charset="-120"/>
              </a:rPr>
              <a:t>≈ 2.3 m</a:t>
            </a:r>
            <a:endParaRPr lang="en-US" sz="1900" dirty="0"/>
          </a:p>
        </p:txBody>
      </p:sp>
      <p:sp>
        <p:nvSpPr>
          <p:cNvPr id="21" name="Text 17"/>
          <p:cNvSpPr txBox="1"/>
          <p:nvPr/>
        </p:nvSpPr>
        <p:spPr>
          <a:xfrm>
            <a:off x="4754880" y="4279392"/>
            <a:ext cx="1755648" cy="475488"/>
          </a:xfrm>
          <a:prstGeom prst="rect">
            <a:avLst/>
          </a:prstGeom>
          <a:noFill/>
          <a:ln/>
        </p:spPr>
        <p:txBody>
          <a:bodyPr wrap="square" lIns="0" tIns="0" rIns="0" bIns="0" rtlCol="0" anchor="t"/>
          <a:lstStyle/>
          <a:p>
            <a:pPr marL="0" indent="0">
              <a:buNone/>
            </a:pPr>
            <a:r>
              <a:rPr lang="en-US" sz="900" dirty="0">
                <a:solidFill>
                  <a:srgbClr val="2B3340"/>
                </a:solidFill>
                <a:latin typeface="Calibri" pitchFamily="34" charset="0"/>
                <a:ea typeface="Calibri" pitchFamily="34" charset="-122"/>
                <a:cs typeface="Calibri" pitchFamily="34" charset="-120"/>
              </a:rPr>
              <a:t>sideways drift over 31 m walked (Method 2: ≈ 13 m over 17 m)</a:t>
            </a:r>
            <a:endParaRPr lang="en-US" sz="900" dirty="0"/>
          </a:p>
        </p:txBody>
      </p:sp>
      <p:sp>
        <p:nvSpPr>
          <p:cNvPr id="22" name="Shape 18"/>
          <p:cNvSpPr/>
          <p:nvPr/>
        </p:nvSpPr>
        <p:spPr>
          <a:xfrm>
            <a:off x="6766560" y="3886200"/>
            <a:ext cx="1920240" cy="896112"/>
          </a:xfrm>
          <a:prstGeom prst="roundRect">
            <a:avLst>
              <a:gd name="adj" fmla="val 816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23" name="Text 19"/>
          <p:cNvSpPr txBox="1"/>
          <p:nvPr/>
        </p:nvSpPr>
        <p:spPr>
          <a:xfrm>
            <a:off x="6858000" y="3913632"/>
            <a:ext cx="1737360" cy="365760"/>
          </a:xfrm>
          <a:prstGeom prst="rect">
            <a:avLst/>
          </a:prstGeom>
          <a:noFill/>
          <a:ln/>
        </p:spPr>
        <p:txBody>
          <a:bodyPr wrap="square" lIns="0" tIns="0" rIns="0" bIns="0" rtlCol="0" anchor="ctr"/>
          <a:lstStyle/>
          <a:p>
            <a:pPr marL="0" indent="0">
              <a:buNone/>
            </a:pPr>
            <a:r>
              <a:rPr lang="en-US" sz="1900" b="1" dirty="0">
                <a:solidFill>
                  <a:srgbClr val="F28C28"/>
                </a:solidFill>
                <a:latin typeface="Cambria" pitchFamily="34" charset="0"/>
                <a:ea typeface="Cambria" pitchFamily="34" charset="-122"/>
                <a:cs typeface="Cambria" pitchFamily="34" charset="-120"/>
              </a:rPr>
              <a:t>≈ 650 N</a:t>
            </a:r>
            <a:endParaRPr lang="en-US" sz="1900" dirty="0"/>
          </a:p>
        </p:txBody>
      </p:sp>
      <p:sp>
        <p:nvSpPr>
          <p:cNvPr id="24" name="Text 20"/>
          <p:cNvSpPr txBox="1"/>
          <p:nvPr/>
        </p:nvSpPr>
        <p:spPr>
          <a:xfrm>
            <a:off x="6858000" y="4279392"/>
            <a:ext cx="1755648" cy="475488"/>
          </a:xfrm>
          <a:prstGeom prst="rect">
            <a:avLst/>
          </a:prstGeom>
          <a:noFill/>
          <a:ln/>
        </p:spPr>
        <p:txBody>
          <a:bodyPr wrap="square" lIns="0" tIns="0" rIns="0" bIns="0" rtlCol="0" anchor="t"/>
          <a:lstStyle/>
          <a:p>
            <a:pPr marL="0" indent="0">
              <a:buNone/>
            </a:pPr>
            <a:r>
              <a:rPr lang="en-US" sz="900" dirty="0">
                <a:solidFill>
                  <a:srgbClr val="2B3340"/>
                </a:solidFill>
                <a:latin typeface="Calibri" pitchFamily="34" charset="0"/>
                <a:ea typeface="Calibri" pitchFamily="34" charset="-122"/>
                <a:cs typeface="Calibri" pitchFamily="34" charset="-120"/>
              </a:rPr>
              <a:t>peak foot impact at 1.0 m/s, about 3.5× body weight</a:t>
            </a:r>
            <a:endParaRPr lang="en-US" sz="9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50">
                <a:solidFill>
                  <a:srgbClr val="667085"/>
                </a:solidFill>
                <a:latin typeface="Calibri"/>
                <a:ea typeface="Calibri"/>
                <a:cs typeface="Calibri"/>
              </a:defRPr>
            </a:lvl1pPr>
          </a:lstStyle>
          <a:p>
            <a:pPr algn="r"/>
            <a:fld id="{F7021451-1387-4CA6-816F-3879F97B5CBC}" type="slidenum">
              <a:rPr lang="en-US" b="0"/>
              <a:t>14</a:t>
            </a:fld>
            <a:endParaRPr lang="en-US"/>
          </a:p>
        </p:txBody>
      </p:sp>
      <p:sp>
        <p:nvSpPr>
          <p:cNvPr id="27" name="Text 3">
            <a:extLst>
              <a:ext uri="{FF2B5EF4-FFF2-40B4-BE49-F238E27FC236}">
                <a16:creationId xmlns:a16="http://schemas.microsoft.com/office/drawing/2014/main" id="{A02F8AF0-9080-4624-5081-C1B0543B3DEE}"/>
              </a:ext>
            </a:extLst>
          </p:cNvPr>
          <p:cNvSpPr txBox="1"/>
          <p:nvPr/>
        </p:nvSpPr>
        <p:spPr>
          <a:xfrm>
            <a:off x="457200" y="4846320"/>
            <a:ext cx="4572000" cy="201168"/>
          </a:xfrm>
          <a:prstGeom prst="rect">
            <a:avLst/>
          </a:prstGeom>
          <a:noFill/>
          <a:ln/>
        </p:spPr>
        <p:txBody>
          <a:bodyPr wrap="square" lIns="0" tIns="0" rIns="0" bIns="0" rtlCol="0" anchor="ctr"/>
          <a:lstStyle/>
          <a:p>
            <a:pPr marL="0" indent="0">
              <a:buNone/>
            </a:pPr>
            <a:r>
              <a:rPr lang="en-US" sz="850" dirty="0">
                <a:solidFill>
                  <a:srgbClr val="667085"/>
                </a:solidFill>
                <a:latin typeface="Calibri" pitchFamily="34" charset="0"/>
                <a:ea typeface="Calibri" pitchFamily="34" charset="-122"/>
                <a:cs typeface="Calibri" pitchFamily="34" charset="-120"/>
              </a:rPr>
              <a:t>RL Mini-Project  ·  Biped walking</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457200" y="219456"/>
            <a:ext cx="3017520" cy="219456"/>
          </a:xfrm>
          <a:prstGeom prst="roundRect">
            <a:avLst>
              <a:gd name="adj" fmla="val 20833"/>
            </a:avLst>
          </a:prstGeom>
          <a:solidFill>
            <a:srgbClr val="E6F1FA"/>
          </a:solidFill>
          <a:ln w="12700">
            <a:solidFill>
              <a:srgbClr val="E6F1FA"/>
            </a:solidFill>
            <a:prstDash val="solid"/>
          </a:ln>
        </p:spPr>
        <p:txBody>
          <a:bodyPr/>
          <a:lstStyle/>
          <a:p>
            <a:endParaRPr lang="en-US"/>
          </a:p>
        </p:txBody>
      </p:sp>
      <p:sp>
        <p:nvSpPr>
          <p:cNvPr id="3" name="Text 1"/>
          <p:cNvSpPr txBox="1"/>
          <p:nvPr/>
        </p:nvSpPr>
        <p:spPr>
          <a:xfrm>
            <a:off x="457200" y="219456"/>
            <a:ext cx="3017520" cy="219456"/>
          </a:xfrm>
          <a:prstGeom prst="rect">
            <a:avLst/>
          </a:prstGeom>
          <a:noFill/>
          <a:ln/>
        </p:spPr>
        <p:txBody>
          <a:bodyPr wrap="square" lIns="0" tIns="0" rIns="0" bIns="0" rtlCol="0" anchor="ctr"/>
          <a:lstStyle/>
          <a:p>
            <a:pPr marL="0" indent="0" algn="ctr">
              <a:buNone/>
            </a:pPr>
            <a:r>
              <a:rPr lang="en-US" sz="850" b="1" kern="0" spc="100" dirty="0">
                <a:solidFill>
                  <a:srgbClr val="1F7AC0"/>
                </a:solidFill>
                <a:latin typeface="Calibri" pitchFamily="34" charset="0"/>
                <a:ea typeface="Calibri" pitchFamily="34" charset="-122"/>
                <a:cs typeface="Calibri" pitchFamily="34" charset="-120"/>
              </a:rPr>
              <a:t>PART I  ·  CO3  ·  WHAT THE RESULTS MEAN</a:t>
            </a:r>
            <a:endParaRPr lang="en-US" sz="850" dirty="0"/>
          </a:p>
        </p:txBody>
      </p:sp>
      <p:sp>
        <p:nvSpPr>
          <p:cNvPr id="4" name="Text 2"/>
          <p:cNvSpPr txBox="1"/>
          <p:nvPr/>
        </p:nvSpPr>
        <p:spPr>
          <a:xfrm>
            <a:off x="457200" y="475488"/>
            <a:ext cx="8229600" cy="502920"/>
          </a:xfrm>
          <a:prstGeom prst="rect">
            <a:avLst/>
          </a:prstGeom>
          <a:noFill/>
          <a:ln/>
        </p:spPr>
        <p:txBody>
          <a:bodyPr wrap="square" lIns="0" tIns="0" rIns="0" bIns="0" rtlCol="0" anchor="ctr"/>
          <a:lstStyle/>
          <a:p>
            <a:pPr marL="0" indent="0">
              <a:buNone/>
            </a:pPr>
            <a:r>
              <a:rPr lang="en-US" sz="2600" b="1" dirty="0">
                <a:solidFill>
                  <a:srgbClr val="2B3340"/>
                </a:solidFill>
                <a:latin typeface="Cambria" pitchFamily="34" charset="0"/>
                <a:ea typeface="Cambria" pitchFamily="34" charset="-122"/>
                <a:cs typeface="Cambria" pitchFamily="34" charset="-120"/>
              </a:rPr>
              <a:t>Analysis</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5440680" cy="2962656"/>
        </p:xfrm>
        <a:graphic>
          <a:graphicData uri="http://schemas.openxmlformats.org/drawingml/2006/table">
            <a:tbl>
              <a:tblPr/>
              <a:tblGrid>
                <a:gridCol w="14630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tblGrid>
              <a:tr h="274320">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Experiment</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1F7AC0"/>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What changed</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1F7AC0"/>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Iters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1F7AC0"/>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Outcome</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1F7AC0"/>
                    </a:solidFill>
                  </a:tcPr>
                </a:tc>
                <a:extLst>
                  <a:ext uri="{0D108BD9-81ED-4DB2-BD59-A6C34878D82A}">
                    <a16:rowId xmlns:a16="http://schemas.microsoft.com/office/drawing/2014/main" val="10000"/>
                  </a:ext>
                </a:extLst>
              </a:tr>
              <a:tr h="384048">
                <a:tc>
                  <a:txBody>
                    <a:bodyPr/>
                    <a:lstStyle/>
                    <a:p>
                      <a:pPr marL="0" indent="0" algn="l">
                        <a:buNone/>
                      </a:pPr>
                      <a:r>
                        <a:rPr lang="en-US" sz="1000" b="1" dirty="0">
                          <a:solidFill>
                            <a:srgbClr val="2B3340"/>
                          </a:solidFill>
                          <a:latin typeface="Calibri" pitchFamily="34" charset="0"/>
                          <a:ea typeface="Calibri" pitchFamily="34" charset="-122"/>
                          <a:cs typeface="Calibri" pitchFamily="34" charset="-120"/>
                        </a:rPr>
                        <a:t>1  Direct Asimov gait</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3340"/>
                          </a:solidFill>
                          <a:latin typeface="Calibri" pitchFamily="34" charset="0"/>
                          <a:ea typeface="Calibri" pitchFamily="34" charset="-122"/>
                          <a:cs typeface="Calibri" pitchFamily="34" charset="-120"/>
                        </a:rPr>
                        <a:t>Copy a reference gait (sign flips)</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3340"/>
                          </a:solidFill>
                          <a:latin typeface="Calibri" pitchFamily="34" charset="0"/>
                          <a:ea typeface="Calibri" pitchFamily="34" charset="-122"/>
                          <a:cs typeface="Calibri" pitchFamily="34" charset="-120"/>
                        </a:rPr>
                        <a:t>1,250</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3340"/>
                          </a:solidFill>
                          <a:latin typeface="Calibri" pitchFamily="34" charset="0"/>
                          <a:ea typeface="Calibri" pitchFamily="34" charset="-122"/>
                          <a:cs typeface="Calibri" pitchFamily="34" charset="-120"/>
                        </a:rPr>
                        <a:t>Extra hip-yaw motion</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000" b="1" dirty="0">
                          <a:solidFill>
                            <a:srgbClr val="2B3340"/>
                          </a:solidFill>
                          <a:latin typeface="Calibri" pitchFamily="34" charset="0"/>
                          <a:ea typeface="Calibri" pitchFamily="34" charset="-122"/>
                          <a:cs typeface="Calibri" pitchFamily="34" charset="-120"/>
                        </a:rPr>
                        <a:t>2  2-D kinematic gait</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00" dirty="0">
                          <a:solidFill>
                            <a:srgbClr val="2B3340"/>
                          </a:solidFill>
                          <a:latin typeface="Calibri" pitchFamily="34" charset="0"/>
                          <a:ea typeface="Calibri" pitchFamily="34" charset="-122"/>
                          <a:cs typeface="Calibri" pitchFamily="34" charset="-120"/>
                        </a:rPr>
                        <a:t>Custom gait for Angad’s legs</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ctr">
                        <a:buNone/>
                      </a:pPr>
                      <a:r>
                        <a:rPr lang="en-US" sz="1000" dirty="0">
                          <a:solidFill>
                            <a:srgbClr val="2B3340"/>
                          </a:solidFill>
                          <a:latin typeface="Calibri" pitchFamily="34" charset="0"/>
                          <a:ea typeface="Calibri" pitchFamily="34" charset="-122"/>
                          <a:cs typeface="Calibri" pitchFamily="34" charset="-120"/>
                        </a:rPr>
                        <a:t>350</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00" dirty="0">
                          <a:solidFill>
                            <a:srgbClr val="2B3340"/>
                          </a:solidFill>
                          <a:latin typeface="Calibri" pitchFamily="34" charset="0"/>
                          <a:ea typeface="Calibri" pitchFamily="34" charset="-122"/>
                          <a:cs typeface="Calibri" pitchFamily="34" charset="-120"/>
                        </a:rPr>
                        <a:t>Too rigid, no hip motion</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extLst>
                  <a:ext uri="{0D108BD9-81ED-4DB2-BD59-A6C34878D82A}">
                    <a16:rowId xmlns:a16="http://schemas.microsoft.com/office/drawing/2014/main" val="10002"/>
                  </a:ext>
                </a:extLst>
              </a:tr>
              <a:tr h="384048">
                <a:tc>
                  <a:txBody>
                    <a:bodyPr/>
                    <a:lstStyle/>
                    <a:p>
                      <a:pPr marL="0" indent="0" algn="l">
                        <a:buNone/>
                      </a:pPr>
                      <a:r>
                        <a:rPr lang="en-US" sz="1000" b="1" dirty="0">
                          <a:solidFill>
                            <a:srgbClr val="2B3340"/>
                          </a:solidFill>
                          <a:latin typeface="Calibri" pitchFamily="34" charset="0"/>
                          <a:ea typeface="Calibri" pitchFamily="34" charset="-122"/>
                          <a:cs typeface="Calibri" pitchFamily="34" charset="-120"/>
                        </a:rPr>
                        <a:t>3  + Hip sway</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3340"/>
                          </a:solidFill>
                          <a:latin typeface="Calibri" pitchFamily="34" charset="0"/>
                          <a:ea typeface="Calibri" pitchFamily="34" charset="-122"/>
                          <a:cs typeface="Calibri" pitchFamily="34" charset="-120"/>
                        </a:rPr>
                        <a:t>3 cm sideways sway added</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3340"/>
                          </a:solidFill>
                          <a:latin typeface="Calibri" pitchFamily="34" charset="0"/>
                          <a:ea typeface="Calibri" pitchFamily="34" charset="-122"/>
                          <a:cs typeface="Calibri" pitchFamily="34" charset="-120"/>
                        </a:rPr>
                        <a:t>350</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3340"/>
                          </a:solidFill>
                          <a:latin typeface="Calibri" pitchFamily="34" charset="0"/>
                          <a:ea typeface="Calibri" pitchFamily="34" charset="-122"/>
                          <a:cs typeface="Calibri" pitchFamily="34" charset="-120"/>
                        </a:rPr>
                        <a:t>Faster steps, not longer ones</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000" b="1" dirty="0">
                          <a:solidFill>
                            <a:srgbClr val="2B3340"/>
                          </a:solidFill>
                          <a:latin typeface="Calibri" pitchFamily="34" charset="0"/>
                          <a:ea typeface="Calibri" pitchFamily="34" charset="-122"/>
                          <a:cs typeface="Calibri" pitchFamily="34" charset="-120"/>
                        </a:rPr>
                        <a:t>4  Dynamic stride</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00" dirty="0">
                          <a:solidFill>
                            <a:srgbClr val="2B3340"/>
                          </a:solidFill>
                          <a:latin typeface="Calibri" pitchFamily="34" charset="0"/>
                          <a:ea typeface="Calibri" pitchFamily="34" charset="-122"/>
                          <a:cs typeface="Calibri" pitchFamily="34" charset="-120"/>
                        </a:rPr>
                        <a:t>Stride grows with speed</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ctr">
                        <a:buNone/>
                      </a:pPr>
                      <a:r>
                        <a:rPr lang="en-US" sz="1000" dirty="0">
                          <a:solidFill>
                            <a:srgbClr val="2B3340"/>
                          </a:solidFill>
                          <a:latin typeface="Calibri" pitchFamily="34" charset="0"/>
                          <a:ea typeface="Calibri" pitchFamily="34" charset="-122"/>
                          <a:cs typeface="Calibri" pitchFamily="34" charset="-120"/>
                        </a:rPr>
                        <a:t>15,200</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00" dirty="0">
                          <a:solidFill>
                            <a:srgbClr val="2B3340"/>
                          </a:solidFill>
                          <a:latin typeface="Calibri" pitchFamily="34" charset="0"/>
                          <a:ea typeface="Calibri" pitchFamily="34" charset="-122"/>
                          <a:cs typeface="Calibri" pitchFamily="34" charset="-120"/>
                        </a:rPr>
                        <a:t>Follows speed to ≈ 3 m/s</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E4F5EC"/>
                    </a:solidFill>
                  </a:tcPr>
                </a:tc>
                <a:extLst>
                  <a:ext uri="{0D108BD9-81ED-4DB2-BD59-A6C34878D82A}">
                    <a16:rowId xmlns:a16="http://schemas.microsoft.com/office/drawing/2014/main" val="10004"/>
                  </a:ext>
                </a:extLst>
              </a:tr>
              <a:tr h="384048">
                <a:tc>
                  <a:txBody>
                    <a:bodyPr/>
                    <a:lstStyle/>
                    <a:p>
                      <a:pPr marL="0" indent="0" algn="l">
                        <a:buNone/>
                      </a:pPr>
                      <a:r>
                        <a:rPr lang="en-US" sz="1000" b="1" dirty="0">
                          <a:solidFill>
                            <a:srgbClr val="2B3340"/>
                          </a:solidFill>
                          <a:latin typeface="Calibri" pitchFamily="34" charset="0"/>
                          <a:ea typeface="Calibri" pitchFamily="34" charset="-122"/>
                          <a:cs typeface="Calibri" pitchFamily="34" charset="-120"/>
                        </a:rPr>
                        <a:t>5  CoT-optimised stride</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3340"/>
                          </a:solidFill>
                          <a:latin typeface="Calibri" pitchFamily="34" charset="0"/>
                          <a:ea typeface="Calibri" pitchFamily="34" charset="-122"/>
                          <a:cs typeface="Calibri" pitchFamily="34" charset="-120"/>
                        </a:rPr>
                        <a:t>Stride from cost of transport</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3340"/>
                          </a:solidFill>
                          <a:latin typeface="Calibri" pitchFamily="34" charset="0"/>
                          <a:ea typeface="Calibri" pitchFamily="34" charset="-122"/>
                          <a:cs typeface="Calibri" pitchFamily="34" charset="-120"/>
                        </a:rPr>
                        <a:t>2,100</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3340"/>
                          </a:solidFill>
                          <a:latin typeface="Calibri" pitchFamily="34" charset="0"/>
                          <a:ea typeface="Calibri" pitchFamily="34" charset="-122"/>
                          <a:cs typeface="Calibri" pitchFamily="34" charset="-120"/>
                        </a:rPr>
                        <a:t>Tracks to ≈ 2.8 m/s</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1000" b="1" dirty="0">
                          <a:solidFill>
                            <a:srgbClr val="2B3340"/>
                          </a:solidFill>
                          <a:latin typeface="Calibri" pitchFamily="34" charset="0"/>
                          <a:ea typeface="Calibri" pitchFamily="34" charset="-122"/>
                          <a:cs typeface="Calibri" pitchFamily="34" charset="-120"/>
                        </a:rPr>
                        <a:t>6  + Torso yaw joint</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00" dirty="0">
                          <a:solidFill>
                            <a:srgbClr val="2B3340"/>
                          </a:solidFill>
                          <a:latin typeface="Calibri" pitchFamily="34" charset="0"/>
                          <a:ea typeface="Calibri" pitchFamily="34" charset="-122"/>
                          <a:cs typeface="Calibri" pitchFamily="34" charset="-120"/>
                        </a:rPr>
                        <a:t>13-joint model</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ctr">
                        <a:buNone/>
                      </a:pPr>
                      <a:r>
                        <a:rPr lang="en-US" sz="1000" dirty="0">
                          <a:solidFill>
                            <a:srgbClr val="2B3340"/>
                          </a:solidFill>
                          <a:latin typeface="Calibri" pitchFamily="34" charset="0"/>
                          <a:ea typeface="Calibri" pitchFamily="34" charset="-122"/>
                          <a:cs typeface="Calibri" pitchFamily="34" charset="-120"/>
                        </a:rPr>
                        <a:t>2,100</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00" dirty="0">
                          <a:solidFill>
                            <a:srgbClr val="2B3340"/>
                          </a:solidFill>
                          <a:latin typeface="Calibri" pitchFamily="34" charset="0"/>
                          <a:ea typeface="Calibri" pitchFamily="34" charset="-122"/>
                          <a:cs typeface="Calibri" pitchFamily="34" charset="-120"/>
                        </a:rPr>
                        <a:t>Similar; impacts still high</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extLst>
                  <a:ext uri="{0D108BD9-81ED-4DB2-BD59-A6C34878D82A}">
                    <a16:rowId xmlns:a16="http://schemas.microsoft.com/office/drawing/2014/main" val="10006"/>
                  </a:ext>
                </a:extLst>
              </a:tr>
              <a:tr h="384048">
                <a:tc>
                  <a:txBody>
                    <a:bodyPr/>
                    <a:lstStyle/>
                    <a:p>
                      <a:pPr marL="0" indent="0" algn="l">
                        <a:buNone/>
                      </a:pPr>
                      <a:r>
                        <a:rPr lang="en-US" sz="1000" b="1" dirty="0">
                          <a:solidFill>
                            <a:srgbClr val="2B3340"/>
                          </a:solidFill>
                          <a:latin typeface="Calibri" pitchFamily="34" charset="0"/>
                          <a:ea typeface="Calibri" pitchFamily="34" charset="-122"/>
                          <a:cs typeface="Calibri" pitchFamily="34" charset="-120"/>
                        </a:rPr>
                        <a:t>7  Raw RL, no reference</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3340"/>
                          </a:solidFill>
                          <a:latin typeface="Calibri" pitchFamily="34" charset="0"/>
                          <a:ea typeface="Calibri" pitchFamily="34" charset="-122"/>
                          <a:cs typeface="Calibri" pitchFamily="34" charset="-120"/>
                        </a:rPr>
                        <a:t>No imitation reward</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3340"/>
                          </a:solidFill>
                          <a:latin typeface="Calibri" pitchFamily="34" charset="0"/>
                          <a:ea typeface="Calibri" pitchFamily="34" charset="-122"/>
                          <a:cs typeface="Calibri" pitchFamily="34" charset="-120"/>
                        </a:rPr>
                        <a:t>2,100</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3340"/>
                          </a:solidFill>
                          <a:latin typeface="Calibri" pitchFamily="34" charset="0"/>
                          <a:ea typeface="Calibri" pitchFamily="34" charset="-122"/>
                          <a:cs typeface="Calibri" pitchFamily="34" charset="-120"/>
                        </a:rPr>
                        <a:t>Impacts high, feet clash</a:t>
                      </a:r>
                      <a:endParaRPr lang="en-US" sz="10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Shape 4"/>
          <p:cNvSpPr/>
          <p:nvPr/>
        </p:nvSpPr>
        <p:spPr>
          <a:xfrm>
            <a:off x="6080760" y="1051560"/>
            <a:ext cx="2606040" cy="932688"/>
          </a:xfrm>
          <a:prstGeom prst="roundRect">
            <a:avLst>
              <a:gd name="adj" fmla="val 784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8" name="Text 5"/>
          <p:cNvSpPr txBox="1"/>
          <p:nvPr/>
        </p:nvSpPr>
        <p:spPr>
          <a:xfrm>
            <a:off x="6190488" y="1097280"/>
            <a:ext cx="2377440" cy="219456"/>
          </a:xfrm>
          <a:prstGeom prst="rect">
            <a:avLst/>
          </a:prstGeom>
          <a:noFill/>
          <a:ln/>
        </p:spPr>
        <p:txBody>
          <a:bodyPr wrap="square" lIns="0" tIns="0" rIns="0" bIns="0" rtlCol="0" anchor="ctr"/>
          <a:lstStyle/>
          <a:p>
            <a:pPr marL="0" indent="0">
              <a:buNone/>
            </a:pPr>
            <a:r>
              <a:rPr lang="en-US" sz="1100" b="1" dirty="0">
                <a:solidFill>
                  <a:srgbClr val="1F7AC0"/>
                </a:solidFill>
                <a:latin typeface="Calibri" pitchFamily="34" charset="0"/>
                <a:ea typeface="Calibri" pitchFamily="34" charset="-122"/>
                <a:cs typeface="Calibri" pitchFamily="34" charset="-120"/>
              </a:rPr>
              <a:t>Learning</a:t>
            </a:r>
            <a:endParaRPr lang="en-US" sz="1100" dirty="0"/>
          </a:p>
        </p:txBody>
      </p:sp>
      <p:sp>
        <p:nvSpPr>
          <p:cNvPr id="9" name="Text 6"/>
          <p:cNvSpPr txBox="1"/>
          <p:nvPr/>
        </p:nvSpPr>
        <p:spPr>
          <a:xfrm>
            <a:off x="6190488" y="1316736"/>
            <a:ext cx="2404872" cy="658368"/>
          </a:xfrm>
          <a:prstGeom prst="rect">
            <a:avLst/>
          </a:prstGeom>
          <a:noFill/>
          <a:ln/>
        </p:spPr>
        <p:txBody>
          <a:bodyPr wrap="square" lIns="0" tIns="0" rIns="0" bIns="0" rtlCol="0" anchor="t"/>
          <a:lstStyle/>
          <a:p>
            <a:pPr marL="0" indent="0">
              <a:buNone/>
            </a:pPr>
            <a:r>
              <a:rPr lang="en-US" sz="950" dirty="0">
                <a:solidFill>
                  <a:srgbClr val="2B3340"/>
                </a:solidFill>
                <a:latin typeface="Calibri" pitchFamily="34" charset="0"/>
                <a:ea typeface="Calibri" pitchFamily="34" charset="-122"/>
                <a:cs typeface="Calibri" pitchFamily="34" charset="-120"/>
              </a:rPr>
              <a:t>Speed tracking rose from about 60% of the command (Method 2) to about 100% (Method 4): the policy learned to lengthen its stride with speed.</a:t>
            </a:r>
            <a:endParaRPr lang="en-US" sz="950" dirty="0"/>
          </a:p>
        </p:txBody>
      </p:sp>
      <p:sp>
        <p:nvSpPr>
          <p:cNvPr id="10" name="Shape 7"/>
          <p:cNvSpPr/>
          <p:nvPr/>
        </p:nvSpPr>
        <p:spPr>
          <a:xfrm>
            <a:off x="6080760" y="2075688"/>
            <a:ext cx="2606040" cy="932688"/>
          </a:xfrm>
          <a:prstGeom prst="roundRect">
            <a:avLst>
              <a:gd name="adj" fmla="val 784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11" name="Text 8"/>
          <p:cNvSpPr txBox="1"/>
          <p:nvPr/>
        </p:nvSpPr>
        <p:spPr>
          <a:xfrm>
            <a:off x="6190488" y="2121408"/>
            <a:ext cx="2377440" cy="219456"/>
          </a:xfrm>
          <a:prstGeom prst="rect">
            <a:avLst/>
          </a:prstGeom>
          <a:noFill/>
          <a:ln/>
        </p:spPr>
        <p:txBody>
          <a:bodyPr wrap="square" lIns="0" tIns="0" rIns="0" bIns="0" rtlCol="0" anchor="ctr"/>
          <a:lstStyle/>
          <a:p>
            <a:pPr marL="0" indent="0">
              <a:buNone/>
            </a:pPr>
            <a:r>
              <a:rPr lang="en-US" sz="1100" b="1" dirty="0">
                <a:solidFill>
                  <a:srgbClr val="F28C28"/>
                </a:solidFill>
                <a:latin typeface="Calibri" pitchFamily="34" charset="0"/>
                <a:ea typeface="Calibri" pitchFamily="34" charset="-122"/>
                <a:cs typeface="Calibri" pitchFamily="34" charset="-120"/>
              </a:rPr>
              <a:t>Success rate</a:t>
            </a:r>
            <a:endParaRPr lang="en-US" sz="1100" dirty="0"/>
          </a:p>
        </p:txBody>
      </p:sp>
      <p:sp>
        <p:nvSpPr>
          <p:cNvPr id="12" name="Text 9"/>
          <p:cNvSpPr txBox="1"/>
          <p:nvPr/>
        </p:nvSpPr>
        <p:spPr>
          <a:xfrm>
            <a:off x="6190488" y="2340864"/>
            <a:ext cx="2404872" cy="658368"/>
          </a:xfrm>
          <a:prstGeom prst="rect">
            <a:avLst/>
          </a:prstGeom>
          <a:noFill/>
          <a:ln/>
        </p:spPr>
        <p:txBody>
          <a:bodyPr wrap="square" lIns="0" tIns="0" rIns="0" bIns="0" rtlCol="0" anchor="t"/>
          <a:lstStyle/>
          <a:p>
            <a:pPr marL="0" indent="0">
              <a:buNone/>
            </a:pPr>
            <a:r>
              <a:rPr lang="en-US" sz="950" dirty="0">
                <a:solidFill>
                  <a:srgbClr val="2B3340"/>
                </a:solidFill>
                <a:latin typeface="Calibri" pitchFamily="34" charset="0"/>
                <a:ea typeface="Calibri" pitchFamily="34" charset="-122"/>
                <a:cs typeface="Calibri" pitchFamily="34" charset="-120"/>
              </a:rPr>
              <a:t>Success = stays upright for the full 20 s episode. Rate from W&amp;B (time_out vs fell_over):  [ fill in ]</a:t>
            </a:r>
            <a:endParaRPr lang="en-US" sz="950" dirty="0"/>
          </a:p>
        </p:txBody>
      </p:sp>
      <p:sp>
        <p:nvSpPr>
          <p:cNvPr id="13" name="Shape 10"/>
          <p:cNvSpPr/>
          <p:nvPr/>
        </p:nvSpPr>
        <p:spPr>
          <a:xfrm>
            <a:off x="6080760" y="3099816"/>
            <a:ext cx="2606040" cy="932688"/>
          </a:xfrm>
          <a:prstGeom prst="roundRect">
            <a:avLst>
              <a:gd name="adj" fmla="val 784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14" name="Text 11"/>
          <p:cNvSpPr txBox="1"/>
          <p:nvPr/>
        </p:nvSpPr>
        <p:spPr>
          <a:xfrm>
            <a:off x="6190488" y="3145536"/>
            <a:ext cx="2377440" cy="219456"/>
          </a:xfrm>
          <a:prstGeom prst="rect">
            <a:avLst/>
          </a:prstGeom>
          <a:noFill/>
          <a:ln/>
        </p:spPr>
        <p:txBody>
          <a:bodyPr wrap="square" lIns="0" tIns="0" rIns="0" bIns="0" rtlCol="0" anchor="ctr"/>
          <a:lstStyle/>
          <a:p>
            <a:pPr marL="0" indent="0">
              <a:buNone/>
            </a:pPr>
            <a:r>
              <a:rPr lang="en-US" sz="1100" b="1" dirty="0">
                <a:solidFill>
                  <a:srgbClr val="2E9E6B"/>
                </a:solidFill>
                <a:latin typeface="Calibri" pitchFamily="34" charset="0"/>
                <a:ea typeface="Calibri" pitchFamily="34" charset="-122"/>
                <a:cs typeface="Calibri" pitchFamily="34" charset="-120"/>
              </a:rPr>
              <a:t>Stability</a:t>
            </a:r>
            <a:endParaRPr lang="en-US" sz="1100" dirty="0"/>
          </a:p>
        </p:txBody>
      </p:sp>
      <p:sp>
        <p:nvSpPr>
          <p:cNvPr id="15" name="Text 12"/>
          <p:cNvSpPr txBox="1"/>
          <p:nvPr/>
        </p:nvSpPr>
        <p:spPr>
          <a:xfrm>
            <a:off x="6190488" y="3364992"/>
            <a:ext cx="2404872" cy="658368"/>
          </a:xfrm>
          <a:prstGeom prst="rect">
            <a:avLst/>
          </a:prstGeom>
          <a:noFill/>
          <a:ln/>
        </p:spPr>
        <p:txBody>
          <a:bodyPr wrap="square" lIns="0" tIns="0" rIns="0" bIns="0" rtlCol="0" anchor="t"/>
          <a:lstStyle/>
          <a:p>
            <a:pPr marL="0" indent="0">
              <a:buNone/>
            </a:pPr>
            <a:r>
              <a:rPr lang="en-US" sz="950" dirty="0">
                <a:solidFill>
                  <a:srgbClr val="2B3340"/>
                </a:solidFill>
                <a:latin typeface="Calibri" pitchFamily="34" charset="0"/>
                <a:ea typeface="Calibri" pitchFamily="34" charset="-122"/>
                <a:cs typeface="Calibri" pitchFamily="34" charset="-120"/>
              </a:rPr>
              <a:t>Speed follows the command without diverging; the small ripple is the step cycle. Foot impacts (≈ 630–940 N) remain the weak point.</a:t>
            </a:r>
            <a:endParaRPr lang="en-US" sz="950" dirty="0"/>
          </a:p>
        </p:txBody>
      </p:sp>
      <p:sp>
        <p:nvSpPr>
          <p:cNvPr id="6" name="Shape 13"/>
          <p:cNvSpPr/>
          <p:nvPr/>
        </p:nvSpPr>
        <p:spPr>
          <a:xfrm>
            <a:off x="457200" y="4279392"/>
            <a:ext cx="8229600" cy="457200"/>
          </a:xfrm>
          <a:prstGeom prst="roundRect">
            <a:avLst>
              <a:gd name="adj" fmla="val 16000"/>
            </a:avLst>
          </a:prstGeom>
          <a:solidFill>
            <a:srgbClr val="FFF1E0"/>
          </a:solidFill>
          <a:ln w="12700">
            <a:solidFill>
              <a:srgbClr val="FFF1E0"/>
            </a:solidFill>
            <a:prstDash val="solid"/>
          </a:ln>
        </p:spPr>
        <p:txBody>
          <a:bodyPr/>
          <a:lstStyle/>
          <a:p>
            <a:endParaRPr lang="en-US"/>
          </a:p>
        </p:txBody>
      </p:sp>
      <p:pic>
        <p:nvPicPr>
          <p:cNvPr id="17" name="Image 0" descr="preencoded.png"/>
          <p:cNvPicPr>
            <a:picLocks noChangeAspect="1"/>
          </p:cNvPicPr>
          <p:nvPr/>
        </p:nvPicPr>
        <p:blipFill>
          <a:blip r:embed="rId3"/>
          <a:stretch>
            <a:fillRect/>
          </a:stretch>
        </p:blipFill>
        <p:spPr>
          <a:xfrm>
            <a:off x="585216" y="4389120"/>
            <a:ext cx="237744" cy="237744"/>
          </a:xfrm>
          <a:prstGeom prst="rect">
            <a:avLst/>
          </a:prstGeom>
        </p:spPr>
      </p:pic>
      <p:sp>
        <p:nvSpPr>
          <p:cNvPr id="18" name="Text 14"/>
          <p:cNvSpPr txBox="1"/>
          <p:nvPr/>
        </p:nvSpPr>
        <p:spPr>
          <a:xfrm>
            <a:off x="932688" y="4279392"/>
            <a:ext cx="7635240" cy="457200"/>
          </a:xfrm>
          <a:prstGeom prst="rect">
            <a:avLst/>
          </a:prstGeom>
          <a:noFill/>
          <a:ln/>
        </p:spPr>
        <p:txBody>
          <a:bodyPr wrap="square" lIns="0" tIns="0" rIns="0" bIns="0" rtlCol="0" anchor="ctr"/>
          <a:lstStyle/>
          <a:p>
            <a:pPr marL="0" indent="0">
              <a:buNone/>
            </a:pPr>
            <a:r>
              <a:rPr lang="en-US" sz="1150" b="1" dirty="0">
                <a:solidFill>
                  <a:srgbClr val="F28C28"/>
                </a:solidFill>
                <a:latin typeface="Calibri" pitchFamily="34" charset="0"/>
                <a:ea typeface="Calibri" pitchFamily="34" charset="-122"/>
                <a:cs typeface="Calibri" pitchFamily="34" charset="-120"/>
              </a:rPr>
              <a:t>In plain words:  </a:t>
            </a:r>
            <a:r>
              <a:rPr lang="en-US" sz="1150" dirty="0">
                <a:solidFill>
                  <a:srgbClr val="2B3340"/>
                </a:solidFill>
                <a:latin typeface="Calibri" pitchFamily="34" charset="0"/>
                <a:ea typeface="Calibri" pitchFamily="34" charset="-122"/>
                <a:cs typeface="Calibri" pitchFamily="34" charset="-120"/>
              </a:rPr>
              <a:t>Each experiment fixed the problem seen in the previous one. That step-by-step fixing is how the final walking style emerged.</a:t>
            </a:r>
            <a:endParaRPr lang="en-US" sz="115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50">
                <a:solidFill>
                  <a:srgbClr val="667085"/>
                </a:solidFill>
                <a:latin typeface="Calibri"/>
                <a:ea typeface="Calibri"/>
                <a:cs typeface="Calibri"/>
              </a:defRPr>
            </a:lvl1pPr>
          </a:lstStyle>
          <a:p>
            <a:pPr algn="r"/>
            <a:fld id="{F7021451-1387-4CA6-816F-3879F97B5CBC}" type="slidenum">
              <a:rPr lang="en-US" b="0"/>
              <a:t>15</a:t>
            </a:fld>
            <a:endParaRPr lang="en-US"/>
          </a:p>
        </p:txBody>
      </p:sp>
      <p:sp>
        <p:nvSpPr>
          <p:cNvPr id="20" name="Text 3">
            <a:extLst>
              <a:ext uri="{FF2B5EF4-FFF2-40B4-BE49-F238E27FC236}">
                <a16:creationId xmlns:a16="http://schemas.microsoft.com/office/drawing/2014/main" id="{4AE9C02F-8527-D99E-0C73-94C2BCCA8AB9}"/>
              </a:ext>
            </a:extLst>
          </p:cNvPr>
          <p:cNvSpPr txBox="1"/>
          <p:nvPr/>
        </p:nvSpPr>
        <p:spPr>
          <a:xfrm>
            <a:off x="457200" y="4846320"/>
            <a:ext cx="4572000" cy="201168"/>
          </a:xfrm>
          <a:prstGeom prst="rect">
            <a:avLst/>
          </a:prstGeom>
          <a:noFill/>
          <a:ln/>
        </p:spPr>
        <p:txBody>
          <a:bodyPr wrap="square" lIns="0" tIns="0" rIns="0" bIns="0" rtlCol="0" anchor="ctr"/>
          <a:lstStyle/>
          <a:p>
            <a:pPr marL="0" indent="0">
              <a:buNone/>
            </a:pPr>
            <a:r>
              <a:rPr lang="en-US" sz="850" dirty="0">
                <a:solidFill>
                  <a:srgbClr val="667085"/>
                </a:solidFill>
                <a:latin typeface="Calibri" pitchFamily="34" charset="0"/>
                <a:ea typeface="Calibri" pitchFamily="34" charset="-122"/>
                <a:cs typeface="Calibri" pitchFamily="34" charset="-120"/>
              </a:rPr>
              <a:t>RL Mini-Project  ·  Biped walking</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457200" y="219456"/>
            <a:ext cx="3429000" cy="219456"/>
          </a:xfrm>
          <a:prstGeom prst="roundRect">
            <a:avLst>
              <a:gd name="adj" fmla="val 20833"/>
            </a:avLst>
          </a:prstGeom>
          <a:solidFill>
            <a:srgbClr val="E6F1FA"/>
          </a:solidFill>
          <a:ln w="12700">
            <a:solidFill>
              <a:srgbClr val="E6F1FA"/>
            </a:solidFill>
            <a:prstDash val="solid"/>
          </a:ln>
        </p:spPr>
        <p:txBody>
          <a:bodyPr/>
          <a:lstStyle/>
          <a:p>
            <a:endParaRPr lang="en-US"/>
          </a:p>
        </p:txBody>
      </p:sp>
      <p:sp>
        <p:nvSpPr>
          <p:cNvPr id="3" name="Text 1"/>
          <p:cNvSpPr txBox="1"/>
          <p:nvPr/>
        </p:nvSpPr>
        <p:spPr>
          <a:xfrm>
            <a:off x="457200" y="219456"/>
            <a:ext cx="3429000" cy="219456"/>
          </a:xfrm>
          <a:prstGeom prst="rect">
            <a:avLst/>
          </a:prstGeom>
          <a:noFill/>
          <a:ln/>
        </p:spPr>
        <p:txBody>
          <a:bodyPr wrap="square" lIns="0" tIns="0" rIns="0" bIns="0" rtlCol="0" anchor="ctr"/>
          <a:lstStyle/>
          <a:p>
            <a:pPr marL="0" indent="0" algn="ctr">
              <a:buNone/>
            </a:pPr>
            <a:r>
              <a:rPr lang="en-US" sz="850" b="1" kern="0" spc="100" dirty="0">
                <a:solidFill>
                  <a:srgbClr val="1F7AC0"/>
                </a:solidFill>
                <a:latin typeface="Calibri" pitchFamily="34" charset="0"/>
                <a:ea typeface="Calibri" pitchFamily="34" charset="-122"/>
                <a:cs typeface="Calibri" pitchFamily="34" charset="-120"/>
              </a:rPr>
              <a:t>PART I  ·  HONEST LIMITS, REALISTIC NEXT STEPS</a:t>
            </a:r>
            <a:endParaRPr lang="en-US" sz="850" dirty="0"/>
          </a:p>
        </p:txBody>
      </p:sp>
      <p:sp>
        <p:nvSpPr>
          <p:cNvPr id="4" name="Text 2"/>
          <p:cNvSpPr txBox="1"/>
          <p:nvPr/>
        </p:nvSpPr>
        <p:spPr>
          <a:xfrm>
            <a:off x="457200" y="475488"/>
            <a:ext cx="8229600" cy="502920"/>
          </a:xfrm>
          <a:prstGeom prst="rect">
            <a:avLst/>
          </a:prstGeom>
          <a:noFill/>
          <a:ln/>
        </p:spPr>
        <p:txBody>
          <a:bodyPr wrap="square" lIns="0" tIns="0" rIns="0" bIns="0" rtlCol="0" anchor="ctr"/>
          <a:lstStyle/>
          <a:p>
            <a:pPr marL="0" indent="0">
              <a:buNone/>
            </a:pPr>
            <a:r>
              <a:rPr lang="en-US" sz="2600" b="1" dirty="0">
                <a:solidFill>
                  <a:srgbClr val="2B3340"/>
                </a:solidFill>
                <a:latin typeface="Cambria" pitchFamily="34" charset="0"/>
                <a:ea typeface="Cambria" pitchFamily="34" charset="-122"/>
                <a:cs typeface="Cambria" pitchFamily="34" charset="-120"/>
              </a:rPr>
              <a:t>Limitations &amp; Future Work</a:t>
            </a:r>
            <a:endParaRPr lang="en-US" sz="2600" dirty="0"/>
          </a:p>
        </p:txBody>
      </p:sp>
      <p:sp>
        <p:nvSpPr>
          <p:cNvPr id="6" name="Shape 4"/>
          <p:cNvSpPr/>
          <p:nvPr/>
        </p:nvSpPr>
        <p:spPr>
          <a:xfrm>
            <a:off x="457200" y="1051560"/>
            <a:ext cx="4023360" cy="3611880"/>
          </a:xfrm>
          <a:prstGeom prst="roundRect">
            <a:avLst>
              <a:gd name="adj" fmla="val 2025"/>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457200" y="1051560"/>
            <a:ext cx="4023360" cy="384048"/>
          </a:xfrm>
          <a:prstGeom prst="roundRect">
            <a:avLst>
              <a:gd name="adj" fmla="val 19048"/>
            </a:avLst>
          </a:prstGeom>
          <a:solidFill>
            <a:srgbClr val="D6455D"/>
          </a:solidFill>
          <a:ln w="12700">
            <a:solidFill>
              <a:srgbClr val="D6455D"/>
            </a:solidFill>
            <a:prstDash val="solid"/>
          </a:ln>
        </p:spPr>
        <p:txBody>
          <a:bodyPr/>
          <a:lstStyle/>
          <a:p>
            <a:endParaRPr lang="en-US"/>
          </a:p>
        </p:txBody>
      </p:sp>
      <p:sp>
        <p:nvSpPr>
          <p:cNvPr id="8" name="Text 6"/>
          <p:cNvSpPr txBox="1"/>
          <p:nvPr/>
        </p:nvSpPr>
        <p:spPr>
          <a:xfrm>
            <a:off x="594360" y="1051560"/>
            <a:ext cx="3749040" cy="38404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Limitations</a:t>
            </a:r>
            <a:endParaRPr lang="en-US" sz="1300" dirty="0"/>
          </a:p>
        </p:txBody>
      </p:sp>
      <p:sp>
        <p:nvSpPr>
          <p:cNvPr id="9" name="Shape 7"/>
          <p:cNvSpPr/>
          <p:nvPr/>
        </p:nvSpPr>
        <p:spPr>
          <a:xfrm>
            <a:off x="594360" y="1609344"/>
            <a:ext cx="310896" cy="310896"/>
          </a:xfrm>
          <a:prstGeom prst="ellipse">
            <a:avLst/>
          </a:prstGeom>
          <a:solidFill>
            <a:srgbClr val="D6455D"/>
          </a:solidFill>
          <a:ln w="12700">
            <a:solidFill>
              <a:srgbClr val="D6455D"/>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672084" y="1687068"/>
            <a:ext cx="155448" cy="155448"/>
          </a:xfrm>
          <a:prstGeom prst="rect">
            <a:avLst/>
          </a:prstGeom>
        </p:spPr>
      </p:pic>
      <p:sp>
        <p:nvSpPr>
          <p:cNvPr id="11" name="Text 8"/>
          <p:cNvSpPr txBox="1"/>
          <p:nvPr/>
        </p:nvSpPr>
        <p:spPr>
          <a:xfrm>
            <a:off x="1024128" y="1554480"/>
            <a:ext cx="3337560" cy="699516"/>
          </a:xfrm>
          <a:prstGeom prst="rect">
            <a:avLst/>
          </a:prstGeom>
          <a:noFill/>
          <a:ln/>
        </p:spPr>
        <p:txBody>
          <a:bodyPr wrap="square" lIns="0" tIns="0" rIns="0" bIns="0" rtlCol="0" anchor="t"/>
          <a:lstStyle/>
          <a:p>
            <a:pPr marL="0" indent="0">
              <a:spcAft>
                <a:spcPts val="100"/>
              </a:spcAft>
              <a:buNone/>
            </a:pPr>
            <a:r>
              <a:rPr lang="en-US" sz="1050" b="1" dirty="0">
                <a:solidFill>
                  <a:srgbClr val="2B3340"/>
                </a:solidFill>
                <a:latin typeface="Calibri" pitchFamily="34" charset="0"/>
                <a:ea typeface="Calibri" pitchFamily="34" charset="-122"/>
                <a:cs typeface="Calibri" pitchFamily="34" charset="-120"/>
              </a:rPr>
              <a:t>High foot impacts</a:t>
            </a:r>
            <a:endParaRPr lang="en-US" sz="1050" dirty="0"/>
          </a:p>
          <a:p>
            <a:pPr marL="0" indent="0">
              <a:spcAft>
                <a:spcPts val="100"/>
              </a:spcAft>
              <a:buNone/>
            </a:pPr>
            <a:r>
              <a:rPr lang="en-US" sz="1050" dirty="0">
                <a:solidFill>
                  <a:srgbClr val="667085"/>
                </a:solidFill>
                <a:latin typeface="Calibri" pitchFamily="34" charset="0"/>
                <a:ea typeface="Calibri" pitchFamily="34" charset="-122"/>
                <a:cs typeface="Calibri" pitchFamily="34" charset="-120"/>
              </a:rPr>
              <a:t>Peaks of ≈ 630–940 N against ≈ 185 N body weight; feet clash at high speed.</a:t>
            </a:r>
            <a:endParaRPr lang="en-US" sz="1050" dirty="0"/>
          </a:p>
        </p:txBody>
      </p:sp>
      <p:sp>
        <p:nvSpPr>
          <p:cNvPr id="12" name="Shape 9"/>
          <p:cNvSpPr/>
          <p:nvPr/>
        </p:nvSpPr>
        <p:spPr>
          <a:xfrm>
            <a:off x="594360" y="2363724"/>
            <a:ext cx="310896" cy="310896"/>
          </a:xfrm>
          <a:prstGeom prst="ellipse">
            <a:avLst/>
          </a:prstGeom>
          <a:solidFill>
            <a:srgbClr val="D6455D"/>
          </a:solidFill>
          <a:ln w="12700">
            <a:solidFill>
              <a:srgbClr val="D6455D"/>
            </a:solidFill>
            <a:prstDash val="solid"/>
          </a:ln>
        </p:spPr>
        <p:txBody>
          <a:bodyPr/>
          <a:lstStyle/>
          <a:p>
            <a:endParaRPr lang="en-US"/>
          </a:p>
        </p:txBody>
      </p:sp>
      <p:pic>
        <p:nvPicPr>
          <p:cNvPr id="13" name="Image 1" descr="preencoded.png"/>
          <p:cNvPicPr>
            <a:picLocks noChangeAspect="1"/>
          </p:cNvPicPr>
          <p:nvPr/>
        </p:nvPicPr>
        <p:blipFill>
          <a:blip r:embed="rId3"/>
          <a:stretch>
            <a:fillRect/>
          </a:stretch>
        </p:blipFill>
        <p:spPr>
          <a:xfrm>
            <a:off x="672084" y="2441448"/>
            <a:ext cx="155448" cy="155448"/>
          </a:xfrm>
          <a:prstGeom prst="rect">
            <a:avLst/>
          </a:prstGeom>
        </p:spPr>
      </p:pic>
      <p:sp>
        <p:nvSpPr>
          <p:cNvPr id="14" name="Text 10"/>
          <p:cNvSpPr txBox="1"/>
          <p:nvPr/>
        </p:nvSpPr>
        <p:spPr>
          <a:xfrm>
            <a:off x="1024128" y="2308860"/>
            <a:ext cx="3337560" cy="699516"/>
          </a:xfrm>
          <a:prstGeom prst="rect">
            <a:avLst/>
          </a:prstGeom>
          <a:noFill/>
          <a:ln/>
        </p:spPr>
        <p:txBody>
          <a:bodyPr wrap="square" lIns="0" tIns="0" rIns="0" bIns="0" rtlCol="0" anchor="t"/>
          <a:lstStyle/>
          <a:p>
            <a:pPr marL="0" indent="0">
              <a:spcAft>
                <a:spcPts val="100"/>
              </a:spcAft>
              <a:buNone/>
            </a:pPr>
            <a:r>
              <a:rPr lang="en-US" sz="1050" b="1" dirty="0">
                <a:solidFill>
                  <a:srgbClr val="2B3340"/>
                </a:solidFill>
                <a:latin typeface="Calibri" pitchFamily="34" charset="0"/>
                <a:ea typeface="Calibri" pitchFamily="34" charset="-122"/>
                <a:cs typeface="Calibri" pitchFamily="34" charset="-120"/>
              </a:rPr>
              <a:t>Still leans on reference gaits</a:t>
            </a:r>
            <a:endParaRPr lang="en-US" sz="1050" dirty="0"/>
          </a:p>
          <a:p>
            <a:pPr marL="0" indent="0">
              <a:spcAft>
                <a:spcPts val="100"/>
              </a:spcAft>
              <a:buNone/>
            </a:pPr>
            <a:r>
              <a:rPr lang="en-US" sz="1050" dirty="0">
                <a:solidFill>
                  <a:srgbClr val="667085"/>
                </a:solidFill>
                <a:latin typeface="Calibri" pitchFamily="34" charset="0"/>
                <a:ea typeface="Calibri" pitchFamily="34" charset="-122"/>
                <a:cs typeface="Calibri" pitchFamily="34" charset="-120"/>
              </a:rPr>
              <a:t>Raw RL without imitation (Method 7) is not yet good enough.</a:t>
            </a:r>
            <a:endParaRPr lang="en-US" sz="1050" dirty="0"/>
          </a:p>
        </p:txBody>
      </p:sp>
      <p:sp>
        <p:nvSpPr>
          <p:cNvPr id="15" name="Shape 11"/>
          <p:cNvSpPr/>
          <p:nvPr/>
        </p:nvSpPr>
        <p:spPr>
          <a:xfrm>
            <a:off x="594360" y="3118104"/>
            <a:ext cx="310896" cy="310896"/>
          </a:xfrm>
          <a:prstGeom prst="ellipse">
            <a:avLst/>
          </a:prstGeom>
          <a:solidFill>
            <a:srgbClr val="D6455D"/>
          </a:solidFill>
          <a:ln w="12700">
            <a:solidFill>
              <a:srgbClr val="D6455D"/>
            </a:solidFill>
            <a:prstDash val="solid"/>
          </a:ln>
        </p:spPr>
        <p:txBody>
          <a:bodyPr/>
          <a:lstStyle/>
          <a:p>
            <a:endParaRPr lang="en-US"/>
          </a:p>
        </p:txBody>
      </p:sp>
      <p:pic>
        <p:nvPicPr>
          <p:cNvPr id="16" name="Image 2" descr="preencoded.png"/>
          <p:cNvPicPr>
            <a:picLocks noChangeAspect="1"/>
          </p:cNvPicPr>
          <p:nvPr/>
        </p:nvPicPr>
        <p:blipFill>
          <a:blip r:embed="rId3"/>
          <a:stretch>
            <a:fillRect/>
          </a:stretch>
        </p:blipFill>
        <p:spPr>
          <a:xfrm>
            <a:off x="672084" y="3195828"/>
            <a:ext cx="155448" cy="155448"/>
          </a:xfrm>
          <a:prstGeom prst="rect">
            <a:avLst/>
          </a:prstGeom>
        </p:spPr>
      </p:pic>
      <p:sp>
        <p:nvSpPr>
          <p:cNvPr id="17" name="Text 12"/>
          <p:cNvSpPr txBox="1"/>
          <p:nvPr/>
        </p:nvSpPr>
        <p:spPr>
          <a:xfrm>
            <a:off x="1024128" y="3063240"/>
            <a:ext cx="3337560" cy="699516"/>
          </a:xfrm>
          <a:prstGeom prst="rect">
            <a:avLst/>
          </a:prstGeom>
          <a:noFill/>
          <a:ln/>
        </p:spPr>
        <p:txBody>
          <a:bodyPr wrap="square" lIns="0" tIns="0" rIns="0" bIns="0" rtlCol="0" anchor="t"/>
          <a:lstStyle/>
          <a:p>
            <a:pPr marL="0" indent="0">
              <a:spcAft>
                <a:spcPts val="100"/>
              </a:spcAft>
              <a:buNone/>
            </a:pPr>
            <a:r>
              <a:rPr lang="en-US" sz="1050" b="1" dirty="0">
                <a:solidFill>
                  <a:srgbClr val="2B3340"/>
                </a:solidFill>
                <a:latin typeface="Calibri" pitchFamily="34" charset="0"/>
                <a:ea typeface="Calibri" pitchFamily="34" charset="-122"/>
                <a:cs typeface="Calibri" pitchFamily="34" charset="-120"/>
              </a:rPr>
              <a:t>Simulation only</a:t>
            </a:r>
            <a:endParaRPr lang="en-US" sz="1050" dirty="0"/>
          </a:p>
          <a:p>
            <a:pPr marL="0" indent="0">
              <a:spcAft>
                <a:spcPts val="100"/>
              </a:spcAft>
              <a:buNone/>
            </a:pPr>
            <a:r>
              <a:rPr lang="en-US" sz="1050" dirty="0">
                <a:solidFill>
                  <a:srgbClr val="667085"/>
                </a:solidFill>
                <a:latin typeface="Calibri" pitchFamily="34" charset="0"/>
                <a:ea typeface="Calibri" pitchFamily="34" charset="-122"/>
                <a:cs typeface="Calibri" pitchFamily="34" charset="-120"/>
              </a:rPr>
              <a:t>Real motors, friction and delays differ: the sim-to-real gap.</a:t>
            </a:r>
            <a:endParaRPr lang="en-US" sz="1050" dirty="0"/>
          </a:p>
        </p:txBody>
      </p:sp>
      <p:sp>
        <p:nvSpPr>
          <p:cNvPr id="18" name="Shape 13"/>
          <p:cNvSpPr/>
          <p:nvPr/>
        </p:nvSpPr>
        <p:spPr>
          <a:xfrm>
            <a:off x="594360" y="3872484"/>
            <a:ext cx="310896" cy="310896"/>
          </a:xfrm>
          <a:prstGeom prst="ellipse">
            <a:avLst/>
          </a:prstGeom>
          <a:solidFill>
            <a:srgbClr val="D6455D"/>
          </a:solidFill>
          <a:ln w="12700">
            <a:solidFill>
              <a:srgbClr val="D6455D"/>
            </a:solidFill>
            <a:prstDash val="solid"/>
          </a:ln>
        </p:spPr>
        <p:txBody>
          <a:bodyPr/>
          <a:lstStyle/>
          <a:p>
            <a:endParaRPr lang="en-US"/>
          </a:p>
        </p:txBody>
      </p:sp>
      <p:pic>
        <p:nvPicPr>
          <p:cNvPr id="19" name="Image 3" descr="preencoded.png"/>
          <p:cNvPicPr>
            <a:picLocks noChangeAspect="1"/>
          </p:cNvPicPr>
          <p:nvPr/>
        </p:nvPicPr>
        <p:blipFill>
          <a:blip r:embed="rId3"/>
          <a:stretch>
            <a:fillRect/>
          </a:stretch>
        </p:blipFill>
        <p:spPr>
          <a:xfrm>
            <a:off x="672084" y="3950208"/>
            <a:ext cx="155448" cy="155448"/>
          </a:xfrm>
          <a:prstGeom prst="rect">
            <a:avLst/>
          </a:prstGeom>
        </p:spPr>
      </p:pic>
      <p:sp>
        <p:nvSpPr>
          <p:cNvPr id="20" name="Text 14"/>
          <p:cNvSpPr txBox="1"/>
          <p:nvPr/>
        </p:nvSpPr>
        <p:spPr>
          <a:xfrm>
            <a:off x="1024128" y="3817620"/>
            <a:ext cx="3337560" cy="699516"/>
          </a:xfrm>
          <a:prstGeom prst="rect">
            <a:avLst/>
          </a:prstGeom>
          <a:noFill/>
          <a:ln/>
        </p:spPr>
        <p:txBody>
          <a:bodyPr wrap="square" lIns="0" tIns="0" rIns="0" bIns="0" rtlCol="0" anchor="t"/>
          <a:lstStyle/>
          <a:p>
            <a:pPr marL="0" indent="0">
              <a:spcAft>
                <a:spcPts val="100"/>
              </a:spcAft>
              <a:buNone/>
            </a:pPr>
            <a:r>
              <a:rPr lang="en-US" sz="1050" b="1" dirty="0">
                <a:solidFill>
                  <a:srgbClr val="2B3340"/>
                </a:solidFill>
                <a:latin typeface="Calibri" pitchFamily="34" charset="0"/>
                <a:ea typeface="Calibri" pitchFamily="34" charset="-122"/>
                <a:cs typeface="Calibri" pitchFamily="34" charset="-120"/>
              </a:rPr>
              <a:t>Few experiments</a:t>
            </a:r>
            <a:endParaRPr lang="en-US" sz="1050" dirty="0"/>
          </a:p>
          <a:p>
            <a:pPr marL="0" indent="0">
              <a:spcAft>
                <a:spcPts val="100"/>
              </a:spcAft>
              <a:buNone/>
            </a:pPr>
            <a:r>
              <a:rPr lang="en-US" sz="1050" dirty="0">
                <a:solidFill>
                  <a:srgbClr val="667085"/>
                </a:solidFill>
                <a:latin typeface="Calibri" pitchFamily="34" charset="0"/>
                <a:ea typeface="Calibri" pitchFamily="34" charset="-122"/>
                <a:cs typeface="Calibri" pitchFamily="34" charset="-120"/>
              </a:rPr>
              <a:t>Each method was trained once: no multi-seed averages or parameter sweeps yet.</a:t>
            </a:r>
            <a:endParaRPr lang="en-US" sz="1050" dirty="0"/>
          </a:p>
        </p:txBody>
      </p:sp>
      <p:sp>
        <p:nvSpPr>
          <p:cNvPr id="21" name="Shape 15"/>
          <p:cNvSpPr/>
          <p:nvPr/>
        </p:nvSpPr>
        <p:spPr>
          <a:xfrm>
            <a:off x="4663440" y="1051560"/>
            <a:ext cx="4023360" cy="3611880"/>
          </a:xfrm>
          <a:prstGeom prst="roundRect">
            <a:avLst>
              <a:gd name="adj" fmla="val 2025"/>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22" name="Shape 16"/>
          <p:cNvSpPr/>
          <p:nvPr/>
        </p:nvSpPr>
        <p:spPr>
          <a:xfrm>
            <a:off x="4663440" y="1051560"/>
            <a:ext cx="4023360" cy="384048"/>
          </a:xfrm>
          <a:prstGeom prst="roundRect">
            <a:avLst>
              <a:gd name="adj" fmla="val 19048"/>
            </a:avLst>
          </a:prstGeom>
          <a:solidFill>
            <a:srgbClr val="2E9E6B"/>
          </a:solidFill>
          <a:ln w="12700">
            <a:solidFill>
              <a:srgbClr val="2E9E6B"/>
            </a:solidFill>
            <a:prstDash val="solid"/>
          </a:ln>
        </p:spPr>
        <p:txBody>
          <a:bodyPr/>
          <a:lstStyle/>
          <a:p>
            <a:endParaRPr lang="en-US"/>
          </a:p>
        </p:txBody>
      </p:sp>
      <p:sp>
        <p:nvSpPr>
          <p:cNvPr id="23" name="Text 17"/>
          <p:cNvSpPr txBox="1"/>
          <p:nvPr/>
        </p:nvSpPr>
        <p:spPr>
          <a:xfrm>
            <a:off x="4800600" y="1051560"/>
            <a:ext cx="3749040" cy="38404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Future work</a:t>
            </a:r>
            <a:endParaRPr lang="en-US" sz="1300" dirty="0"/>
          </a:p>
        </p:txBody>
      </p:sp>
      <p:sp>
        <p:nvSpPr>
          <p:cNvPr id="24" name="Shape 18"/>
          <p:cNvSpPr/>
          <p:nvPr/>
        </p:nvSpPr>
        <p:spPr>
          <a:xfrm>
            <a:off x="4800600" y="1609344"/>
            <a:ext cx="310896" cy="310896"/>
          </a:xfrm>
          <a:prstGeom prst="ellipse">
            <a:avLst/>
          </a:prstGeom>
          <a:solidFill>
            <a:srgbClr val="2E9E6B"/>
          </a:solidFill>
          <a:ln w="12700">
            <a:solidFill>
              <a:srgbClr val="2E9E6B"/>
            </a:solidFill>
            <a:prstDash val="solid"/>
          </a:ln>
        </p:spPr>
        <p:txBody>
          <a:bodyPr/>
          <a:lstStyle/>
          <a:p>
            <a:endParaRPr lang="en-US"/>
          </a:p>
        </p:txBody>
      </p:sp>
      <p:pic>
        <p:nvPicPr>
          <p:cNvPr id="25" name="Image 4" descr="preencoded.png"/>
          <p:cNvPicPr>
            <a:picLocks noChangeAspect="1"/>
          </p:cNvPicPr>
          <p:nvPr/>
        </p:nvPicPr>
        <p:blipFill>
          <a:blip r:embed="rId4"/>
          <a:stretch>
            <a:fillRect/>
          </a:stretch>
        </p:blipFill>
        <p:spPr>
          <a:xfrm>
            <a:off x="4878324" y="1687068"/>
            <a:ext cx="155448" cy="155448"/>
          </a:xfrm>
          <a:prstGeom prst="rect">
            <a:avLst/>
          </a:prstGeom>
        </p:spPr>
      </p:pic>
      <p:sp>
        <p:nvSpPr>
          <p:cNvPr id="26" name="Text 19"/>
          <p:cNvSpPr txBox="1"/>
          <p:nvPr/>
        </p:nvSpPr>
        <p:spPr>
          <a:xfrm>
            <a:off x="5230368" y="1554480"/>
            <a:ext cx="3337560" cy="548640"/>
          </a:xfrm>
          <a:prstGeom prst="rect">
            <a:avLst/>
          </a:prstGeom>
          <a:noFill/>
          <a:ln/>
        </p:spPr>
        <p:txBody>
          <a:bodyPr wrap="square" lIns="0" tIns="0" rIns="0" bIns="0" rtlCol="0" anchor="t"/>
          <a:lstStyle/>
          <a:p>
            <a:pPr marL="0" indent="0">
              <a:spcAft>
                <a:spcPts val="100"/>
              </a:spcAft>
              <a:buNone/>
            </a:pPr>
            <a:r>
              <a:rPr lang="en-US" sz="1050" b="1" dirty="0">
                <a:solidFill>
                  <a:srgbClr val="2B3340"/>
                </a:solidFill>
                <a:latin typeface="Calibri" pitchFamily="34" charset="0"/>
                <a:ea typeface="Calibri" pitchFamily="34" charset="-122"/>
                <a:cs typeface="Calibri" pitchFamily="34" charset="-120"/>
              </a:rPr>
              <a:t>Landing penalties</a:t>
            </a:r>
            <a:endParaRPr lang="en-US" sz="1050" dirty="0"/>
          </a:p>
          <a:p>
            <a:pPr marL="0" indent="0">
              <a:spcAft>
                <a:spcPts val="100"/>
              </a:spcAft>
              <a:buNone/>
            </a:pPr>
            <a:r>
              <a:rPr lang="en-US" sz="1050" dirty="0">
                <a:solidFill>
                  <a:srgbClr val="667085"/>
                </a:solidFill>
                <a:latin typeface="Calibri" pitchFamily="34" charset="0"/>
                <a:ea typeface="Calibri" pitchFamily="34" charset="-122"/>
                <a:cs typeface="Calibri" pitchFamily="34" charset="-120"/>
              </a:rPr>
              <a:t>Stronger soft-landing term and a foot-collision penalty.</a:t>
            </a:r>
            <a:endParaRPr lang="en-US" sz="1050" dirty="0"/>
          </a:p>
        </p:txBody>
      </p:sp>
      <p:sp>
        <p:nvSpPr>
          <p:cNvPr id="27" name="Shape 20"/>
          <p:cNvSpPr/>
          <p:nvPr/>
        </p:nvSpPr>
        <p:spPr>
          <a:xfrm>
            <a:off x="4800600" y="2212848"/>
            <a:ext cx="310896" cy="310896"/>
          </a:xfrm>
          <a:prstGeom prst="ellipse">
            <a:avLst/>
          </a:prstGeom>
          <a:solidFill>
            <a:srgbClr val="2E9E6B"/>
          </a:solidFill>
          <a:ln w="12700">
            <a:solidFill>
              <a:srgbClr val="2E9E6B"/>
            </a:solidFill>
            <a:prstDash val="solid"/>
          </a:ln>
        </p:spPr>
        <p:txBody>
          <a:bodyPr/>
          <a:lstStyle/>
          <a:p>
            <a:endParaRPr lang="en-US"/>
          </a:p>
        </p:txBody>
      </p:sp>
      <p:pic>
        <p:nvPicPr>
          <p:cNvPr id="28" name="Image 5" descr="preencoded.png"/>
          <p:cNvPicPr>
            <a:picLocks noChangeAspect="1"/>
          </p:cNvPicPr>
          <p:nvPr/>
        </p:nvPicPr>
        <p:blipFill>
          <a:blip r:embed="rId4"/>
          <a:stretch>
            <a:fillRect/>
          </a:stretch>
        </p:blipFill>
        <p:spPr>
          <a:xfrm>
            <a:off x="4878324" y="2290572"/>
            <a:ext cx="155448" cy="155448"/>
          </a:xfrm>
          <a:prstGeom prst="rect">
            <a:avLst/>
          </a:prstGeom>
        </p:spPr>
      </p:pic>
      <p:sp>
        <p:nvSpPr>
          <p:cNvPr id="29" name="Text 21"/>
          <p:cNvSpPr txBox="1"/>
          <p:nvPr/>
        </p:nvSpPr>
        <p:spPr>
          <a:xfrm>
            <a:off x="5230368" y="2157984"/>
            <a:ext cx="3337560" cy="548640"/>
          </a:xfrm>
          <a:prstGeom prst="rect">
            <a:avLst/>
          </a:prstGeom>
          <a:noFill/>
          <a:ln/>
        </p:spPr>
        <p:txBody>
          <a:bodyPr wrap="square" lIns="0" tIns="0" rIns="0" bIns="0" rtlCol="0" anchor="t"/>
          <a:lstStyle/>
          <a:p>
            <a:pPr marL="0" indent="0">
              <a:spcAft>
                <a:spcPts val="100"/>
              </a:spcAft>
              <a:buNone/>
            </a:pPr>
            <a:r>
              <a:rPr lang="en-US" sz="1050" b="1" dirty="0">
                <a:solidFill>
                  <a:srgbClr val="2B3340"/>
                </a:solidFill>
                <a:latin typeface="Calibri" pitchFamily="34" charset="0"/>
                <a:ea typeface="Calibri" pitchFamily="34" charset="-122"/>
                <a:cs typeface="Calibri" pitchFamily="34" charset="-120"/>
              </a:rPr>
              <a:t>Domain randomisation</a:t>
            </a:r>
            <a:endParaRPr lang="en-US" sz="1050" dirty="0"/>
          </a:p>
          <a:p>
            <a:pPr marL="0" indent="0">
              <a:spcAft>
                <a:spcPts val="100"/>
              </a:spcAft>
              <a:buNone/>
            </a:pPr>
            <a:r>
              <a:rPr lang="en-US" sz="1050" dirty="0">
                <a:solidFill>
                  <a:srgbClr val="667085"/>
                </a:solidFill>
                <a:latin typeface="Calibri" pitchFamily="34" charset="0"/>
                <a:ea typeface="Calibri" pitchFamily="34" charset="-122"/>
                <a:cs typeface="Calibri" pitchFamily="34" charset="-120"/>
              </a:rPr>
              <a:t>Randomise motor strength, mass and delays.</a:t>
            </a:r>
            <a:endParaRPr lang="en-US" sz="1050" dirty="0"/>
          </a:p>
        </p:txBody>
      </p:sp>
      <p:sp>
        <p:nvSpPr>
          <p:cNvPr id="30" name="Shape 22"/>
          <p:cNvSpPr/>
          <p:nvPr/>
        </p:nvSpPr>
        <p:spPr>
          <a:xfrm>
            <a:off x="4800600" y="2816352"/>
            <a:ext cx="310896" cy="310896"/>
          </a:xfrm>
          <a:prstGeom prst="ellipse">
            <a:avLst/>
          </a:prstGeom>
          <a:solidFill>
            <a:srgbClr val="2E9E6B"/>
          </a:solidFill>
          <a:ln w="12700">
            <a:solidFill>
              <a:srgbClr val="2E9E6B"/>
            </a:solidFill>
            <a:prstDash val="solid"/>
          </a:ln>
        </p:spPr>
        <p:txBody>
          <a:bodyPr/>
          <a:lstStyle/>
          <a:p>
            <a:endParaRPr lang="en-US"/>
          </a:p>
        </p:txBody>
      </p:sp>
      <p:pic>
        <p:nvPicPr>
          <p:cNvPr id="31" name="Image 6" descr="preencoded.png"/>
          <p:cNvPicPr>
            <a:picLocks noChangeAspect="1"/>
          </p:cNvPicPr>
          <p:nvPr/>
        </p:nvPicPr>
        <p:blipFill>
          <a:blip r:embed="rId4"/>
          <a:stretch>
            <a:fillRect/>
          </a:stretch>
        </p:blipFill>
        <p:spPr>
          <a:xfrm>
            <a:off x="4878324" y="2894076"/>
            <a:ext cx="155448" cy="155448"/>
          </a:xfrm>
          <a:prstGeom prst="rect">
            <a:avLst/>
          </a:prstGeom>
        </p:spPr>
      </p:pic>
      <p:sp>
        <p:nvSpPr>
          <p:cNvPr id="32" name="Text 23"/>
          <p:cNvSpPr txBox="1"/>
          <p:nvPr/>
        </p:nvSpPr>
        <p:spPr>
          <a:xfrm>
            <a:off x="5230368" y="2761488"/>
            <a:ext cx="3337560" cy="548640"/>
          </a:xfrm>
          <a:prstGeom prst="rect">
            <a:avLst/>
          </a:prstGeom>
          <a:noFill/>
          <a:ln/>
        </p:spPr>
        <p:txBody>
          <a:bodyPr wrap="square" lIns="0" tIns="0" rIns="0" bIns="0" rtlCol="0" anchor="t"/>
          <a:lstStyle/>
          <a:p>
            <a:pPr marL="0" indent="0">
              <a:spcAft>
                <a:spcPts val="100"/>
              </a:spcAft>
              <a:buNone/>
            </a:pPr>
            <a:r>
              <a:rPr lang="en-US" sz="1050" b="1" dirty="0">
                <a:solidFill>
                  <a:srgbClr val="2B3340"/>
                </a:solidFill>
                <a:latin typeface="Calibri" pitchFamily="34" charset="0"/>
                <a:ea typeface="Calibri" pitchFamily="34" charset="-122"/>
                <a:cs typeface="Calibri" pitchFamily="34" charset="-120"/>
              </a:rPr>
              <a:t>Sim-to-real</a:t>
            </a:r>
            <a:endParaRPr lang="en-US" sz="1050" dirty="0"/>
          </a:p>
          <a:p>
            <a:pPr marL="0" indent="0">
              <a:spcAft>
                <a:spcPts val="100"/>
              </a:spcAft>
              <a:buNone/>
            </a:pPr>
            <a:r>
              <a:rPr lang="en-US" sz="1050" dirty="0">
                <a:solidFill>
                  <a:srgbClr val="667085"/>
                </a:solidFill>
                <a:latin typeface="Calibri" pitchFamily="34" charset="0"/>
                <a:ea typeface="Calibri" pitchFamily="34" charset="-122"/>
                <a:cs typeface="Calibri" pitchFamily="34" charset="-120"/>
              </a:rPr>
              <a:t>Measure the real actuators, improve the motor model, deploy the ONNX policy on Angad.</a:t>
            </a:r>
            <a:endParaRPr lang="en-US" sz="1050" dirty="0"/>
          </a:p>
        </p:txBody>
      </p:sp>
      <p:sp>
        <p:nvSpPr>
          <p:cNvPr id="33" name="Shape 24"/>
          <p:cNvSpPr/>
          <p:nvPr/>
        </p:nvSpPr>
        <p:spPr>
          <a:xfrm>
            <a:off x="4800600" y="3419856"/>
            <a:ext cx="310896" cy="310896"/>
          </a:xfrm>
          <a:prstGeom prst="ellipse">
            <a:avLst/>
          </a:prstGeom>
          <a:solidFill>
            <a:srgbClr val="2E9E6B"/>
          </a:solidFill>
          <a:ln w="12700">
            <a:solidFill>
              <a:srgbClr val="2E9E6B"/>
            </a:solidFill>
            <a:prstDash val="solid"/>
          </a:ln>
        </p:spPr>
        <p:txBody>
          <a:bodyPr/>
          <a:lstStyle/>
          <a:p>
            <a:endParaRPr lang="en-US"/>
          </a:p>
        </p:txBody>
      </p:sp>
      <p:pic>
        <p:nvPicPr>
          <p:cNvPr id="34" name="Image 7" descr="preencoded.png"/>
          <p:cNvPicPr>
            <a:picLocks noChangeAspect="1"/>
          </p:cNvPicPr>
          <p:nvPr/>
        </p:nvPicPr>
        <p:blipFill>
          <a:blip r:embed="rId4"/>
          <a:stretch>
            <a:fillRect/>
          </a:stretch>
        </p:blipFill>
        <p:spPr>
          <a:xfrm>
            <a:off x="4878324" y="3497580"/>
            <a:ext cx="155448" cy="155448"/>
          </a:xfrm>
          <a:prstGeom prst="rect">
            <a:avLst/>
          </a:prstGeom>
        </p:spPr>
      </p:pic>
      <p:sp>
        <p:nvSpPr>
          <p:cNvPr id="35" name="Text 25"/>
          <p:cNvSpPr txBox="1"/>
          <p:nvPr/>
        </p:nvSpPr>
        <p:spPr>
          <a:xfrm>
            <a:off x="5230368" y="3364992"/>
            <a:ext cx="3337560" cy="548640"/>
          </a:xfrm>
          <a:prstGeom prst="rect">
            <a:avLst/>
          </a:prstGeom>
          <a:noFill/>
          <a:ln/>
        </p:spPr>
        <p:txBody>
          <a:bodyPr wrap="square" lIns="0" tIns="0" rIns="0" bIns="0" rtlCol="0" anchor="t"/>
          <a:lstStyle/>
          <a:p>
            <a:pPr marL="0" indent="0">
              <a:spcAft>
                <a:spcPts val="100"/>
              </a:spcAft>
              <a:buNone/>
            </a:pPr>
            <a:r>
              <a:rPr lang="en-US" sz="1050" b="1" dirty="0">
                <a:solidFill>
                  <a:srgbClr val="2B3340"/>
                </a:solidFill>
                <a:latin typeface="Calibri" pitchFamily="34" charset="0"/>
                <a:ea typeface="Calibri" pitchFamily="34" charset="-122"/>
                <a:cs typeface="Calibri" pitchFamily="34" charset="-120"/>
              </a:rPr>
              <a:t>Better statistics</a:t>
            </a:r>
            <a:endParaRPr lang="en-US" sz="1050" dirty="0"/>
          </a:p>
          <a:p>
            <a:pPr marL="0" indent="0">
              <a:spcAft>
                <a:spcPts val="100"/>
              </a:spcAft>
              <a:buNone/>
            </a:pPr>
            <a:r>
              <a:rPr lang="en-US" sz="1050" dirty="0">
                <a:solidFill>
                  <a:srgbClr val="667085"/>
                </a:solidFill>
                <a:latin typeface="Calibri" pitchFamily="34" charset="0"/>
                <a:ea typeface="Calibri" pitchFamily="34" charset="-122"/>
                <a:cs typeface="Calibri" pitchFamily="34" charset="-120"/>
              </a:rPr>
              <a:t>Multi-seed runs; sweep entropy, learning rate and γ.</a:t>
            </a:r>
            <a:endParaRPr lang="en-US" sz="1050" dirty="0"/>
          </a:p>
        </p:txBody>
      </p:sp>
      <p:sp>
        <p:nvSpPr>
          <p:cNvPr id="36" name="Shape 26"/>
          <p:cNvSpPr/>
          <p:nvPr/>
        </p:nvSpPr>
        <p:spPr>
          <a:xfrm>
            <a:off x="4800600" y="4023360"/>
            <a:ext cx="310896" cy="310896"/>
          </a:xfrm>
          <a:prstGeom prst="ellipse">
            <a:avLst/>
          </a:prstGeom>
          <a:solidFill>
            <a:srgbClr val="2E9E6B"/>
          </a:solidFill>
          <a:ln w="12700">
            <a:solidFill>
              <a:srgbClr val="2E9E6B"/>
            </a:solidFill>
            <a:prstDash val="solid"/>
          </a:ln>
        </p:spPr>
        <p:txBody>
          <a:bodyPr/>
          <a:lstStyle/>
          <a:p>
            <a:endParaRPr lang="en-US"/>
          </a:p>
        </p:txBody>
      </p:sp>
      <p:pic>
        <p:nvPicPr>
          <p:cNvPr id="37" name="Image 8" descr="preencoded.png"/>
          <p:cNvPicPr>
            <a:picLocks noChangeAspect="1"/>
          </p:cNvPicPr>
          <p:nvPr/>
        </p:nvPicPr>
        <p:blipFill>
          <a:blip r:embed="rId4"/>
          <a:stretch>
            <a:fillRect/>
          </a:stretch>
        </p:blipFill>
        <p:spPr>
          <a:xfrm>
            <a:off x="4878324" y="4101084"/>
            <a:ext cx="155448" cy="155448"/>
          </a:xfrm>
          <a:prstGeom prst="rect">
            <a:avLst/>
          </a:prstGeom>
        </p:spPr>
      </p:pic>
      <p:sp>
        <p:nvSpPr>
          <p:cNvPr id="38" name="Text 27"/>
          <p:cNvSpPr txBox="1"/>
          <p:nvPr/>
        </p:nvSpPr>
        <p:spPr>
          <a:xfrm>
            <a:off x="5230368" y="3968496"/>
            <a:ext cx="3337560" cy="548640"/>
          </a:xfrm>
          <a:prstGeom prst="rect">
            <a:avLst/>
          </a:prstGeom>
          <a:noFill/>
          <a:ln/>
        </p:spPr>
        <p:txBody>
          <a:bodyPr wrap="square" lIns="0" tIns="0" rIns="0" bIns="0" rtlCol="0" anchor="t"/>
          <a:lstStyle/>
          <a:p>
            <a:pPr marL="0" indent="0">
              <a:spcAft>
                <a:spcPts val="100"/>
              </a:spcAft>
              <a:buNone/>
            </a:pPr>
            <a:r>
              <a:rPr lang="en-US" sz="1050" b="1" dirty="0">
                <a:solidFill>
                  <a:srgbClr val="2B3340"/>
                </a:solidFill>
                <a:latin typeface="Calibri" pitchFamily="34" charset="0"/>
                <a:ea typeface="Calibri" pitchFamily="34" charset="-122"/>
                <a:cs typeface="Calibri" pitchFamily="34" charset="-120"/>
              </a:rPr>
              <a:t>More tasks</a:t>
            </a:r>
            <a:endParaRPr lang="en-US" sz="1050" dirty="0"/>
          </a:p>
          <a:p>
            <a:pPr marL="0" indent="0">
              <a:spcAft>
                <a:spcPts val="100"/>
              </a:spcAft>
              <a:buNone/>
            </a:pPr>
            <a:r>
              <a:rPr lang="en-US" sz="1050" dirty="0">
                <a:solidFill>
                  <a:srgbClr val="667085"/>
                </a:solidFill>
                <a:latin typeface="Calibri" pitchFamily="34" charset="0"/>
                <a:ea typeface="Calibri" pitchFamily="34" charset="-122"/>
                <a:cs typeface="Calibri" pitchFamily="34" charset="-120"/>
              </a:rPr>
              <a:t>Rough-terrain and balance tasks (already configured).</a:t>
            </a:r>
            <a:endParaRPr lang="en-US" sz="1050" dirty="0"/>
          </a:p>
        </p:txBody>
      </p:sp>
      <p:sp>
        <p:nvSpPr>
          <p:cNvPr id="39"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50">
                <a:solidFill>
                  <a:srgbClr val="667085"/>
                </a:solidFill>
                <a:latin typeface="Calibri"/>
                <a:ea typeface="Calibri"/>
                <a:cs typeface="Calibri"/>
              </a:defRPr>
            </a:lvl1pPr>
          </a:lstStyle>
          <a:p>
            <a:pPr algn="r"/>
            <a:fld id="{F7021451-1387-4CA6-816F-3879F97B5CBC}" type="slidenum">
              <a:rPr lang="en-US" b="0"/>
              <a:t>16</a:t>
            </a:fld>
            <a:endParaRPr lang="en-US"/>
          </a:p>
        </p:txBody>
      </p:sp>
      <p:sp>
        <p:nvSpPr>
          <p:cNvPr id="41" name="Text 3">
            <a:extLst>
              <a:ext uri="{FF2B5EF4-FFF2-40B4-BE49-F238E27FC236}">
                <a16:creationId xmlns:a16="http://schemas.microsoft.com/office/drawing/2014/main" id="{59668B29-1570-FE1B-E28B-AE7939EFB73A}"/>
              </a:ext>
            </a:extLst>
          </p:cNvPr>
          <p:cNvSpPr txBox="1"/>
          <p:nvPr/>
        </p:nvSpPr>
        <p:spPr>
          <a:xfrm>
            <a:off x="457200" y="4846320"/>
            <a:ext cx="4572000" cy="201168"/>
          </a:xfrm>
          <a:prstGeom prst="rect">
            <a:avLst/>
          </a:prstGeom>
          <a:noFill/>
          <a:ln/>
        </p:spPr>
        <p:txBody>
          <a:bodyPr wrap="square" lIns="0" tIns="0" rIns="0" bIns="0" rtlCol="0" anchor="ctr"/>
          <a:lstStyle/>
          <a:p>
            <a:pPr marL="0" indent="0">
              <a:buNone/>
            </a:pPr>
            <a:r>
              <a:rPr lang="en-US" sz="850" dirty="0">
                <a:solidFill>
                  <a:srgbClr val="667085"/>
                </a:solidFill>
                <a:latin typeface="Calibri" pitchFamily="34" charset="0"/>
                <a:ea typeface="Calibri" pitchFamily="34" charset="-122"/>
                <a:cs typeface="Calibri" pitchFamily="34" charset="-120"/>
              </a:rPr>
              <a:t>RL Mini-Project  ·  Biped walking</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E3440"/>
        </a:solidFill>
        <a:effectLst/>
      </p:bgPr>
    </p:bg>
    <p:spTree>
      <p:nvGrpSpPr>
        <p:cNvPr id="1" name=""/>
        <p:cNvGrpSpPr/>
        <p:nvPr/>
      </p:nvGrpSpPr>
      <p:grpSpPr>
        <a:xfrm>
          <a:off x="0" y="0"/>
          <a:ext cx="0" cy="0"/>
          <a:chOff x="0" y="0"/>
          <a:chExt cx="0" cy="0"/>
        </a:xfrm>
      </p:grpSpPr>
      <p:sp>
        <p:nvSpPr>
          <p:cNvPr id="2" name="Shape 0"/>
          <p:cNvSpPr/>
          <p:nvPr/>
        </p:nvSpPr>
        <p:spPr>
          <a:xfrm>
            <a:off x="457200" y="219456"/>
            <a:ext cx="1508760" cy="219456"/>
          </a:xfrm>
          <a:prstGeom prst="roundRect">
            <a:avLst>
              <a:gd name="adj" fmla="val 20833"/>
            </a:avLst>
          </a:prstGeom>
          <a:solidFill>
            <a:srgbClr val="3B4252"/>
          </a:solidFill>
          <a:ln w="12700">
            <a:solidFill>
              <a:srgbClr val="3B4252"/>
            </a:solidFill>
            <a:prstDash val="solid"/>
          </a:ln>
        </p:spPr>
        <p:txBody>
          <a:bodyPr/>
          <a:lstStyle/>
          <a:p>
            <a:endParaRPr lang="en-US"/>
          </a:p>
        </p:txBody>
      </p:sp>
      <p:sp>
        <p:nvSpPr>
          <p:cNvPr id="3" name="Text 1"/>
          <p:cNvSpPr txBox="1"/>
          <p:nvPr/>
        </p:nvSpPr>
        <p:spPr>
          <a:xfrm>
            <a:off x="457200" y="219456"/>
            <a:ext cx="1508760" cy="219456"/>
          </a:xfrm>
          <a:prstGeom prst="rect">
            <a:avLst/>
          </a:prstGeom>
          <a:noFill/>
          <a:ln/>
        </p:spPr>
        <p:txBody>
          <a:bodyPr wrap="square" lIns="0" tIns="0" rIns="0" bIns="0" rtlCol="0" anchor="ctr"/>
          <a:lstStyle/>
          <a:p>
            <a:pPr marL="0" indent="0" algn="ctr">
              <a:buNone/>
            </a:pPr>
            <a:r>
              <a:rPr lang="en-US" sz="850" b="1" kern="0" spc="100" dirty="0">
                <a:solidFill>
                  <a:srgbClr val="F28C28"/>
                </a:solidFill>
                <a:latin typeface="Calibri" pitchFamily="34" charset="0"/>
                <a:ea typeface="Calibri" pitchFamily="34" charset="-122"/>
                <a:cs typeface="Calibri" pitchFamily="34" charset="-120"/>
              </a:rPr>
              <a:t>PART I  ·  SUMMARY</a:t>
            </a:r>
            <a:endParaRPr lang="en-US" sz="850" dirty="0"/>
          </a:p>
        </p:txBody>
      </p:sp>
      <p:sp>
        <p:nvSpPr>
          <p:cNvPr id="4" name="Text 2"/>
          <p:cNvSpPr txBox="1"/>
          <p:nvPr/>
        </p:nvSpPr>
        <p:spPr>
          <a:xfrm>
            <a:off x="457200" y="475488"/>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Conclusion</a:t>
            </a:r>
            <a:endParaRPr lang="en-US" sz="2600" dirty="0"/>
          </a:p>
        </p:txBody>
      </p:sp>
      <p:sp>
        <p:nvSpPr>
          <p:cNvPr id="5" name="Text 3"/>
          <p:cNvSpPr txBox="1"/>
          <p:nvPr/>
        </p:nvSpPr>
        <p:spPr>
          <a:xfrm>
            <a:off x="457200" y="4846320"/>
            <a:ext cx="4572000" cy="201168"/>
          </a:xfrm>
          <a:prstGeom prst="rect">
            <a:avLst/>
          </a:prstGeom>
          <a:noFill/>
          <a:ln/>
        </p:spPr>
        <p:txBody>
          <a:bodyPr wrap="square" lIns="0" tIns="0" rIns="0" bIns="0" rtlCol="0" anchor="ctr"/>
          <a:lstStyle/>
          <a:p>
            <a:pPr marL="0" indent="0">
              <a:buNone/>
            </a:pPr>
            <a:r>
              <a:rPr lang="en-US" sz="850" dirty="0">
                <a:solidFill>
                  <a:srgbClr val="9AA6B8"/>
                </a:solidFill>
                <a:latin typeface="Calibri" pitchFamily="34" charset="0"/>
                <a:ea typeface="Calibri" pitchFamily="34" charset="-122"/>
                <a:cs typeface="Calibri" pitchFamily="34" charset="-120"/>
              </a:rPr>
              <a:t>RL Mini-Project  ·  Angad biped walking</a:t>
            </a:r>
            <a:endParaRPr lang="en-US" sz="850" dirty="0"/>
          </a:p>
        </p:txBody>
      </p:sp>
      <p:sp>
        <p:nvSpPr>
          <p:cNvPr id="6" name="Shape 4"/>
          <p:cNvSpPr/>
          <p:nvPr/>
        </p:nvSpPr>
        <p:spPr>
          <a:xfrm>
            <a:off x="457200" y="1097280"/>
            <a:ext cx="2624328" cy="1508760"/>
          </a:xfrm>
          <a:prstGeom prst="roundRect">
            <a:avLst>
              <a:gd name="adj" fmla="val 4848"/>
            </a:avLst>
          </a:prstGeom>
          <a:solidFill>
            <a:srgbClr val="3B4252"/>
          </a:solidFill>
          <a:ln w="12700">
            <a:solidFill>
              <a:srgbClr val="3B4252"/>
            </a:solidFill>
            <a:prstDash val="solid"/>
          </a:ln>
        </p:spPr>
        <p:txBody>
          <a:bodyPr/>
          <a:lstStyle/>
          <a:p>
            <a:endParaRPr lang="en-US"/>
          </a:p>
        </p:txBody>
      </p:sp>
      <p:sp>
        <p:nvSpPr>
          <p:cNvPr id="7" name="Text 5"/>
          <p:cNvSpPr txBox="1"/>
          <p:nvPr/>
        </p:nvSpPr>
        <p:spPr>
          <a:xfrm>
            <a:off x="594360" y="1170432"/>
            <a:ext cx="2377440" cy="292608"/>
          </a:xfrm>
          <a:prstGeom prst="rect">
            <a:avLst/>
          </a:prstGeom>
          <a:noFill/>
          <a:ln/>
        </p:spPr>
        <p:txBody>
          <a:bodyPr wrap="square" lIns="0" tIns="0" rIns="0" bIns="0" rtlCol="0" anchor="ctr"/>
          <a:lstStyle/>
          <a:p>
            <a:pPr marL="0" indent="0">
              <a:buNone/>
            </a:pPr>
            <a:r>
              <a:rPr lang="en-US" sz="1500" b="1" dirty="0">
                <a:solidFill>
                  <a:srgbClr val="F28C28"/>
                </a:solidFill>
                <a:latin typeface="Cambria" pitchFamily="34" charset="0"/>
                <a:ea typeface="Cambria" pitchFamily="34" charset="-122"/>
                <a:cs typeface="Cambria" pitchFamily="34" charset="-120"/>
              </a:rPr>
              <a:t>Formulation</a:t>
            </a:r>
            <a:endParaRPr lang="en-US" sz="1500" dirty="0"/>
          </a:p>
        </p:txBody>
      </p:sp>
      <p:sp>
        <p:nvSpPr>
          <p:cNvPr id="8" name="Text 6"/>
          <p:cNvSpPr txBox="1"/>
          <p:nvPr/>
        </p:nvSpPr>
        <p:spPr>
          <a:xfrm>
            <a:off x="594360" y="1508760"/>
            <a:ext cx="2377440" cy="1051560"/>
          </a:xfrm>
          <a:prstGeom prst="rect">
            <a:avLst/>
          </a:prstGeom>
          <a:noFill/>
          <a:ln/>
        </p:spPr>
        <p:txBody>
          <a:bodyPr wrap="square" lIns="0" tIns="0" rIns="0" bIns="0" rtlCol="0" anchor="t"/>
          <a:lstStyle/>
          <a:p>
            <a:pPr marL="0" indent="0">
              <a:buNone/>
            </a:pPr>
            <a:r>
              <a:rPr lang="en-US" sz="1150" dirty="0">
                <a:solidFill>
                  <a:srgbClr val="FFFFFF"/>
                </a:solidFill>
                <a:latin typeface="Calibri" pitchFamily="34" charset="0"/>
                <a:ea typeface="Calibri" pitchFamily="34" charset="-122"/>
                <a:cs typeface="Calibri" pitchFamily="34" charset="-120"/>
              </a:rPr>
              <a:t>Walking cast as an MDP: 48-number state, 12 continuous actions, weighted reward, γ = 0.99.</a:t>
            </a:r>
            <a:endParaRPr lang="en-US" sz="1150" dirty="0"/>
          </a:p>
        </p:txBody>
      </p:sp>
      <p:sp>
        <p:nvSpPr>
          <p:cNvPr id="9" name="Shape 7"/>
          <p:cNvSpPr/>
          <p:nvPr/>
        </p:nvSpPr>
        <p:spPr>
          <a:xfrm>
            <a:off x="3264408" y="1097280"/>
            <a:ext cx="2624328" cy="1508760"/>
          </a:xfrm>
          <a:prstGeom prst="roundRect">
            <a:avLst>
              <a:gd name="adj" fmla="val 4848"/>
            </a:avLst>
          </a:prstGeom>
          <a:solidFill>
            <a:srgbClr val="3B4252"/>
          </a:solidFill>
          <a:ln w="12700">
            <a:solidFill>
              <a:srgbClr val="3B4252"/>
            </a:solidFill>
            <a:prstDash val="solid"/>
          </a:ln>
        </p:spPr>
        <p:txBody>
          <a:bodyPr/>
          <a:lstStyle/>
          <a:p>
            <a:endParaRPr lang="en-US"/>
          </a:p>
        </p:txBody>
      </p:sp>
      <p:sp>
        <p:nvSpPr>
          <p:cNvPr id="10" name="Text 8"/>
          <p:cNvSpPr txBox="1"/>
          <p:nvPr/>
        </p:nvSpPr>
        <p:spPr>
          <a:xfrm>
            <a:off x="3401568" y="1170432"/>
            <a:ext cx="2377440" cy="292608"/>
          </a:xfrm>
          <a:prstGeom prst="rect">
            <a:avLst/>
          </a:prstGeom>
          <a:noFill/>
          <a:ln/>
        </p:spPr>
        <p:txBody>
          <a:bodyPr wrap="square" lIns="0" tIns="0" rIns="0" bIns="0" rtlCol="0" anchor="ctr"/>
          <a:lstStyle/>
          <a:p>
            <a:pPr marL="0" indent="0">
              <a:buNone/>
            </a:pPr>
            <a:r>
              <a:rPr lang="en-US" sz="1500" b="1" dirty="0">
                <a:solidFill>
                  <a:srgbClr val="F28C28"/>
                </a:solidFill>
                <a:latin typeface="Cambria" pitchFamily="34" charset="0"/>
                <a:ea typeface="Cambria" pitchFamily="34" charset="-122"/>
                <a:cs typeface="Cambria" pitchFamily="34" charset="-120"/>
              </a:rPr>
              <a:t>Implementation</a:t>
            </a:r>
            <a:endParaRPr lang="en-US" sz="1500" dirty="0"/>
          </a:p>
        </p:txBody>
      </p:sp>
      <p:sp>
        <p:nvSpPr>
          <p:cNvPr id="11" name="Text 9"/>
          <p:cNvSpPr txBox="1"/>
          <p:nvPr/>
        </p:nvSpPr>
        <p:spPr>
          <a:xfrm>
            <a:off x="3401568" y="1508760"/>
            <a:ext cx="2377440" cy="1051560"/>
          </a:xfrm>
          <a:prstGeom prst="rect">
            <a:avLst/>
          </a:prstGeom>
          <a:noFill/>
          <a:ln/>
        </p:spPr>
        <p:txBody>
          <a:bodyPr wrap="square" lIns="0" tIns="0" rIns="0" bIns="0" rtlCol="0" anchor="t"/>
          <a:lstStyle/>
          <a:p>
            <a:pPr marL="0" indent="0">
              <a:buNone/>
            </a:pPr>
            <a:r>
              <a:rPr lang="en-US" sz="1150" dirty="0">
                <a:solidFill>
                  <a:srgbClr val="FFFFFF"/>
                </a:solidFill>
                <a:latin typeface="Calibri" pitchFamily="34" charset="0"/>
                <a:ea typeface="Calibri" pitchFamily="34" charset="-122"/>
                <a:cs typeface="Calibri" pitchFamily="34" charset="-120"/>
              </a:rPr>
              <a:t>PPO Actor–Critic in mjlab / RSL-RL with a custom Angad environment, rewards and gait references.</a:t>
            </a:r>
            <a:endParaRPr lang="en-US" sz="1150" dirty="0"/>
          </a:p>
        </p:txBody>
      </p:sp>
      <p:sp>
        <p:nvSpPr>
          <p:cNvPr id="12" name="Shape 10"/>
          <p:cNvSpPr/>
          <p:nvPr/>
        </p:nvSpPr>
        <p:spPr>
          <a:xfrm>
            <a:off x="6071616" y="1097280"/>
            <a:ext cx="2624328" cy="1508760"/>
          </a:xfrm>
          <a:prstGeom prst="roundRect">
            <a:avLst>
              <a:gd name="adj" fmla="val 4848"/>
            </a:avLst>
          </a:prstGeom>
          <a:solidFill>
            <a:srgbClr val="3B4252"/>
          </a:solidFill>
          <a:ln w="12700">
            <a:solidFill>
              <a:srgbClr val="3B4252"/>
            </a:solidFill>
            <a:prstDash val="solid"/>
          </a:ln>
        </p:spPr>
        <p:txBody>
          <a:bodyPr/>
          <a:lstStyle/>
          <a:p>
            <a:endParaRPr lang="en-US"/>
          </a:p>
        </p:txBody>
      </p:sp>
      <p:sp>
        <p:nvSpPr>
          <p:cNvPr id="13" name="Text 11"/>
          <p:cNvSpPr txBox="1"/>
          <p:nvPr/>
        </p:nvSpPr>
        <p:spPr>
          <a:xfrm>
            <a:off x="6208776" y="1170432"/>
            <a:ext cx="2377440" cy="292608"/>
          </a:xfrm>
          <a:prstGeom prst="rect">
            <a:avLst/>
          </a:prstGeom>
          <a:noFill/>
          <a:ln/>
        </p:spPr>
        <p:txBody>
          <a:bodyPr wrap="square" lIns="0" tIns="0" rIns="0" bIns="0" rtlCol="0" anchor="ctr"/>
          <a:lstStyle/>
          <a:p>
            <a:pPr marL="0" indent="0">
              <a:buNone/>
            </a:pPr>
            <a:r>
              <a:rPr lang="en-US" sz="1500" b="1" dirty="0">
                <a:solidFill>
                  <a:srgbClr val="F28C28"/>
                </a:solidFill>
                <a:latin typeface="Cambria" pitchFamily="34" charset="0"/>
                <a:ea typeface="Cambria" pitchFamily="34" charset="-122"/>
                <a:cs typeface="Cambria" pitchFamily="34" charset="-120"/>
              </a:rPr>
              <a:t>Demonstration</a:t>
            </a:r>
            <a:endParaRPr lang="en-US" sz="1500" dirty="0"/>
          </a:p>
        </p:txBody>
      </p:sp>
      <p:sp>
        <p:nvSpPr>
          <p:cNvPr id="14" name="Text 12"/>
          <p:cNvSpPr txBox="1"/>
          <p:nvPr/>
        </p:nvSpPr>
        <p:spPr>
          <a:xfrm>
            <a:off x="6208776" y="1508760"/>
            <a:ext cx="2377440" cy="1051560"/>
          </a:xfrm>
          <a:prstGeom prst="rect">
            <a:avLst/>
          </a:prstGeom>
          <a:noFill/>
          <a:ln/>
        </p:spPr>
        <p:txBody>
          <a:bodyPr wrap="square" lIns="0" tIns="0" rIns="0" bIns="0" rtlCol="0" anchor="t"/>
          <a:lstStyle/>
          <a:p>
            <a:pPr marL="0" indent="0">
              <a:buNone/>
            </a:pPr>
            <a:r>
              <a:rPr lang="en-US" sz="1150" dirty="0">
                <a:solidFill>
                  <a:srgbClr val="FFFFFF"/>
                </a:solidFill>
                <a:latin typeface="Calibri" pitchFamily="34" charset="0"/>
                <a:ea typeface="Calibri" pitchFamily="34" charset="-122"/>
                <a:cs typeface="Calibri" pitchFamily="34" charset="-120"/>
              </a:rPr>
              <a:t>The trained policy follows speed commands up to ≈ 3 m/s in simulation (Method 4).</a:t>
            </a:r>
            <a:endParaRPr lang="en-US" sz="1150" dirty="0"/>
          </a:p>
        </p:txBody>
      </p:sp>
      <p:sp>
        <p:nvSpPr>
          <p:cNvPr id="15" name="Shape 13"/>
          <p:cNvSpPr/>
          <p:nvPr/>
        </p:nvSpPr>
        <p:spPr>
          <a:xfrm>
            <a:off x="457200" y="2880360"/>
            <a:ext cx="548640" cy="292608"/>
          </a:xfrm>
          <a:prstGeom prst="roundRect">
            <a:avLst>
              <a:gd name="adj" fmla="val 18750"/>
            </a:avLst>
          </a:prstGeom>
          <a:solidFill>
            <a:srgbClr val="F28C28"/>
          </a:solidFill>
          <a:ln w="12700">
            <a:solidFill>
              <a:srgbClr val="F28C28"/>
            </a:solidFill>
            <a:prstDash val="solid"/>
          </a:ln>
        </p:spPr>
        <p:txBody>
          <a:bodyPr/>
          <a:lstStyle/>
          <a:p>
            <a:endParaRPr lang="en-US"/>
          </a:p>
        </p:txBody>
      </p:sp>
      <p:sp>
        <p:nvSpPr>
          <p:cNvPr id="16" name="Text 14"/>
          <p:cNvSpPr txBox="1"/>
          <p:nvPr/>
        </p:nvSpPr>
        <p:spPr>
          <a:xfrm>
            <a:off x="457200" y="2880360"/>
            <a:ext cx="54864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CO1</a:t>
            </a:r>
            <a:endParaRPr lang="en-US" sz="1100" dirty="0"/>
          </a:p>
        </p:txBody>
      </p:sp>
      <p:sp>
        <p:nvSpPr>
          <p:cNvPr id="17" name="Text 15"/>
          <p:cNvSpPr txBox="1"/>
          <p:nvPr/>
        </p:nvSpPr>
        <p:spPr>
          <a:xfrm>
            <a:off x="1143000" y="2834640"/>
            <a:ext cx="7543800" cy="38404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Why RL?:  </a:t>
            </a:r>
            <a:r>
              <a:rPr lang="en-US" sz="1150" dirty="0">
                <a:solidFill>
                  <a:srgbClr val="D8DEE9"/>
                </a:solidFill>
                <a:latin typeface="Calibri" pitchFamily="34" charset="0"/>
                <a:ea typeface="Calibri" pitchFamily="34" charset="-122"/>
                <a:cs typeface="Calibri" pitchFamily="34" charset="-120"/>
              </a:rPr>
              <a:t>Slides 2–4: problem, RL justification, RL vs supervised ML</a:t>
            </a:r>
            <a:endParaRPr lang="en-US" sz="1150" dirty="0"/>
          </a:p>
        </p:txBody>
      </p:sp>
      <p:sp>
        <p:nvSpPr>
          <p:cNvPr id="18" name="Shape 16"/>
          <p:cNvSpPr/>
          <p:nvPr/>
        </p:nvSpPr>
        <p:spPr>
          <a:xfrm>
            <a:off x="457200" y="3337560"/>
            <a:ext cx="548640" cy="292608"/>
          </a:xfrm>
          <a:prstGeom prst="roundRect">
            <a:avLst>
              <a:gd name="adj" fmla="val 18750"/>
            </a:avLst>
          </a:prstGeom>
          <a:solidFill>
            <a:srgbClr val="F28C28"/>
          </a:solidFill>
          <a:ln w="12700">
            <a:solidFill>
              <a:srgbClr val="F28C28"/>
            </a:solidFill>
            <a:prstDash val="solid"/>
          </a:ln>
        </p:spPr>
        <p:txBody>
          <a:bodyPr/>
          <a:lstStyle/>
          <a:p>
            <a:endParaRPr lang="en-US"/>
          </a:p>
        </p:txBody>
      </p:sp>
      <p:sp>
        <p:nvSpPr>
          <p:cNvPr id="19" name="Text 17"/>
          <p:cNvSpPr txBox="1"/>
          <p:nvPr/>
        </p:nvSpPr>
        <p:spPr>
          <a:xfrm>
            <a:off x="457200" y="3337560"/>
            <a:ext cx="54864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CO2</a:t>
            </a:r>
            <a:endParaRPr lang="en-US" sz="1100" dirty="0"/>
          </a:p>
        </p:txBody>
      </p:sp>
      <p:sp>
        <p:nvSpPr>
          <p:cNvPr id="20" name="Text 18"/>
          <p:cNvSpPr txBox="1"/>
          <p:nvPr/>
        </p:nvSpPr>
        <p:spPr>
          <a:xfrm>
            <a:off x="1143000" y="3291840"/>
            <a:ext cx="7543800" cy="38404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Formulation &amp; algorithm:  </a:t>
            </a:r>
            <a:r>
              <a:rPr lang="en-US" sz="1150" dirty="0">
                <a:solidFill>
                  <a:srgbClr val="D8DEE9"/>
                </a:solidFill>
                <a:latin typeface="Calibri" pitchFamily="34" charset="0"/>
                <a:ea typeface="Calibri" pitchFamily="34" charset="-122"/>
                <a:cs typeface="Calibri" pitchFamily="34" charset="-120"/>
              </a:rPr>
              <a:t>Slides 5–11: agent–environment, MDP, state, action, reward, PPO, equations</a:t>
            </a:r>
            <a:endParaRPr lang="en-US" sz="1150" dirty="0"/>
          </a:p>
        </p:txBody>
      </p:sp>
      <p:sp>
        <p:nvSpPr>
          <p:cNvPr id="21" name="Shape 19"/>
          <p:cNvSpPr/>
          <p:nvPr/>
        </p:nvSpPr>
        <p:spPr>
          <a:xfrm>
            <a:off x="457200" y="3794760"/>
            <a:ext cx="548640" cy="292608"/>
          </a:xfrm>
          <a:prstGeom prst="roundRect">
            <a:avLst>
              <a:gd name="adj" fmla="val 18750"/>
            </a:avLst>
          </a:prstGeom>
          <a:solidFill>
            <a:srgbClr val="F28C28"/>
          </a:solidFill>
          <a:ln w="12700">
            <a:solidFill>
              <a:srgbClr val="F28C28"/>
            </a:solidFill>
            <a:prstDash val="solid"/>
          </a:ln>
        </p:spPr>
        <p:txBody>
          <a:bodyPr/>
          <a:lstStyle/>
          <a:p>
            <a:endParaRPr lang="en-US"/>
          </a:p>
        </p:txBody>
      </p:sp>
      <p:sp>
        <p:nvSpPr>
          <p:cNvPr id="22" name="Text 20"/>
          <p:cNvSpPr txBox="1"/>
          <p:nvPr/>
        </p:nvSpPr>
        <p:spPr>
          <a:xfrm>
            <a:off x="457200" y="3794760"/>
            <a:ext cx="54864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CO3</a:t>
            </a:r>
            <a:endParaRPr lang="en-US" sz="1100" dirty="0"/>
          </a:p>
        </p:txBody>
      </p:sp>
      <p:sp>
        <p:nvSpPr>
          <p:cNvPr id="23" name="Text 21"/>
          <p:cNvSpPr txBox="1"/>
          <p:nvPr/>
        </p:nvSpPr>
        <p:spPr>
          <a:xfrm>
            <a:off x="1143000" y="3749040"/>
            <a:ext cx="7543800" cy="38404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Implementation &amp; demo:  </a:t>
            </a:r>
            <a:r>
              <a:rPr lang="en-US" sz="1150" dirty="0">
                <a:solidFill>
                  <a:srgbClr val="D8DEE9"/>
                </a:solidFill>
                <a:latin typeface="Calibri" pitchFamily="34" charset="0"/>
                <a:ea typeface="Calibri" pitchFamily="34" charset="-122"/>
                <a:cs typeface="Calibri" pitchFamily="34" charset="-120"/>
              </a:rPr>
              <a:t>Slides 12–15: code, hyperparameters, video demo, results and analysis</a:t>
            </a:r>
            <a:endParaRPr lang="en-US" sz="1150" dirty="0"/>
          </a:p>
        </p:txBody>
      </p:sp>
      <p:sp>
        <p:nvSpPr>
          <p:cNvPr id="24" name="Text 22"/>
          <p:cNvSpPr txBox="1"/>
          <p:nvPr/>
        </p:nvSpPr>
        <p:spPr>
          <a:xfrm>
            <a:off x="4114800" y="4434840"/>
            <a:ext cx="4572000" cy="274320"/>
          </a:xfrm>
          <a:prstGeom prst="rect">
            <a:avLst/>
          </a:prstGeom>
          <a:noFill/>
          <a:ln/>
        </p:spPr>
        <p:txBody>
          <a:bodyPr wrap="square" lIns="0" tIns="0" rIns="0" bIns="0" rtlCol="0" anchor="ctr"/>
          <a:lstStyle/>
          <a:p>
            <a:pPr marL="0" indent="0" algn="r">
              <a:buNone/>
            </a:pPr>
            <a:r>
              <a:rPr lang="en-US" sz="1050" i="1" dirty="0">
                <a:solidFill>
                  <a:srgbClr val="9AA6B8"/>
                </a:solidFill>
                <a:latin typeface="Calibri" pitchFamily="34" charset="0"/>
                <a:ea typeface="Calibri" pitchFamily="34" charset="-122"/>
                <a:cs typeface="Calibri" pitchFamily="34" charset="-120"/>
              </a:rPr>
              <a:t>Part II (CO4–CO5) follows: performance, convergence, exploration.  →</a:t>
            </a:r>
            <a:endParaRPr lang="en-US" sz="105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50">
                <a:solidFill>
                  <a:srgbClr val="9AA6B8"/>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E3440"/>
        </a:solidFill>
        <a:effectLst/>
      </p:bgPr>
    </p:bg>
    <p:spTree>
      <p:nvGrpSpPr>
        <p:cNvPr id="1" name=""/>
        <p:cNvGrpSpPr/>
        <p:nvPr/>
      </p:nvGrpSpPr>
      <p:grpSpPr>
        <a:xfrm>
          <a:off x="0" y="0"/>
          <a:ext cx="0" cy="0"/>
          <a:chOff x="0" y="0"/>
          <a:chExt cx="0" cy="0"/>
        </a:xfrm>
      </p:grpSpPr>
      <p:sp>
        <p:nvSpPr>
          <p:cNvPr id="2" name="Text 0"/>
          <p:cNvSpPr txBox="1"/>
          <p:nvPr/>
        </p:nvSpPr>
        <p:spPr>
          <a:xfrm>
            <a:off x="548640" y="1143000"/>
            <a:ext cx="3291840" cy="320040"/>
          </a:xfrm>
          <a:prstGeom prst="rect">
            <a:avLst/>
          </a:prstGeom>
          <a:noFill/>
          <a:ln/>
        </p:spPr>
        <p:txBody>
          <a:bodyPr wrap="square" lIns="0" tIns="0" rIns="0" bIns="0" rtlCol="0" anchor="ctr"/>
          <a:lstStyle/>
          <a:p>
            <a:pPr marL="0" indent="0">
              <a:buNone/>
            </a:pPr>
            <a:r>
              <a:rPr lang="en-US" sz="1200" b="1" kern="0" spc="300" dirty="0">
                <a:solidFill>
                  <a:srgbClr val="F28C28"/>
                </a:solidFill>
                <a:latin typeface="Calibri" pitchFamily="34" charset="0"/>
                <a:ea typeface="Calibri" pitchFamily="34" charset="-122"/>
                <a:cs typeface="Calibri" pitchFamily="34" charset="-120"/>
              </a:rPr>
              <a:t>PART II</a:t>
            </a:r>
            <a:endParaRPr lang="en-US" sz="1200" dirty="0"/>
          </a:p>
        </p:txBody>
      </p:sp>
      <p:sp>
        <p:nvSpPr>
          <p:cNvPr id="3" name="Text 1"/>
          <p:cNvSpPr txBox="1"/>
          <p:nvPr/>
        </p:nvSpPr>
        <p:spPr>
          <a:xfrm>
            <a:off x="548640" y="1508760"/>
            <a:ext cx="3383280" cy="137160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How well does it learn?</a:t>
            </a:r>
            <a:endParaRPr lang="en-US" sz="3400" dirty="0"/>
          </a:p>
        </p:txBody>
      </p:sp>
      <p:sp>
        <p:nvSpPr>
          <p:cNvPr id="4" name="Text 2"/>
          <p:cNvSpPr txBox="1"/>
          <p:nvPr/>
        </p:nvSpPr>
        <p:spPr>
          <a:xfrm>
            <a:off x="548640" y="2971800"/>
            <a:ext cx="3291840" cy="822960"/>
          </a:xfrm>
          <a:prstGeom prst="rect">
            <a:avLst/>
          </a:prstGeom>
          <a:noFill/>
          <a:ln/>
        </p:spPr>
        <p:txBody>
          <a:bodyPr wrap="square" lIns="0" tIns="0" rIns="0" bIns="0" rtlCol="0" anchor="t"/>
          <a:lstStyle/>
          <a:p>
            <a:pPr marL="0" indent="0">
              <a:buNone/>
            </a:pPr>
            <a:r>
              <a:rPr lang="en-US" sz="1400" dirty="0">
                <a:solidFill>
                  <a:srgbClr val="C9D3E0"/>
                </a:solidFill>
                <a:latin typeface="Calibri" pitchFamily="34" charset="0"/>
                <a:ea typeface="Calibri" pitchFamily="34" charset="-122"/>
                <a:cs typeface="Calibri" pitchFamily="34" charset="-120"/>
              </a:rPr>
              <a:t>Analysis of performance, convergence, cost and exploration (CO4 and CO5)</a:t>
            </a:r>
            <a:endParaRPr lang="en-US" sz="1400" dirty="0"/>
          </a:p>
        </p:txBody>
      </p:sp>
      <p:sp>
        <p:nvSpPr>
          <p:cNvPr id="5" name="Shape 3"/>
          <p:cNvSpPr/>
          <p:nvPr/>
        </p:nvSpPr>
        <p:spPr>
          <a:xfrm>
            <a:off x="4297680" y="914400"/>
            <a:ext cx="4389120" cy="1737360"/>
          </a:xfrm>
          <a:prstGeom prst="roundRect">
            <a:avLst>
              <a:gd name="adj" fmla="val 4211"/>
            </a:avLst>
          </a:prstGeom>
          <a:solidFill>
            <a:srgbClr val="3B4252"/>
          </a:solidFill>
          <a:ln w="12700">
            <a:solidFill>
              <a:srgbClr val="3B4252"/>
            </a:solidFill>
            <a:prstDash val="solid"/>
          </a:ln>
        </p:spPr>
        <p:txBody>
          <a:bodyPr/>
          <a:lstStyle/>
          <a:p>
            <a:endParaRPr lang="en-US"/>
          </a:p>
        </p:txBody>
      </p:sp>
      <p:sp>
        <p:nvSpPr>
          <p:cNvPr id="6" name="Shape 4"/>
          <p:cNvSpPr/>
          <p:nvPr/>
        </p:nvSpPr>
        <p:spPr>
          <a:xfrm>
            <a:off x="4480560" y="1143000"/>
            <a:ext cx="502920" cy="502920"/>
          </a:xfrm>
          <a:prstGeom prst="ellipse">
            <a:avLst/>
          </a:prstGeom>
          <a:solidFill>
            <a:srgbClr val="F28C28"/>
          </a:solidFill>
          <a:ln w="12700">
            <a:solidFill>
              <a:srgbClr val="F28C2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4606290" y="1268730"/>
            <a:ext cx="251460" cy="251460"/>
          </a:xfrm>
          <a:prstGeom prst="rect">
            <a:avLst/>
          </a:prstGeom>
        </p:spPr>
      </p:pic>
      <p:sp>
        <p:nvSpPr>
          <p:cNvPr id="8" name="Text 5"/>
          <p:cNvSpPr txBox="1"/>
          <p:nvPr/>
        </p:nvSpPr>
        <p:spPr>
          <a:xfrm>
            <a:off x="5120640" y="1097280"/>
            <a:ext cx="3383280" cy="256032"/>
          </a:xfrm>
          <a:prstGeom prst="rect">
            <a:avLst/>
          </a:prstGeom>
          <a:noFill/>
          <a:ln/>
        </p:spPr>
        <p:txBody>
          <a:bodyPr wrap="square" lIns="0" tIns="0" rIns="0" bIns="0" rtlCol="0" anchor="ctr"/>
          <a:lstStyle/>
          <a:p>
            <a:pPr marL="0" indent="0">
              <a:buNone/>
            </a:pPr>
            <a:r>
              <a:rPr lang="en-US" sz="1100" b="1" kern="0" spc="200" dirty="0">
                <a:solidFill>
                  <a:srgbClr val="F28C28"/>
                </a:solidFill>
                <a:latin typeface="Calibri" pitchFamily="34" charset="0"/>
                <a:ea typeface="Calibri" pitchFamily="34" charset="-122"/>
                <a:cs typeface="Calibri" pitchFamily="34" charset="-120"/>
              </a:rPr>
              <a:t>CO4</a:t>
            </a:r>
            <a:endParaRPr lang="en-US" sz="1100" dirty="0"/>
          </a:p>
        </p:txBody>
      </p:sp>
      <p:sp>
        <p:nvSpPr>
          <p:cNvPr id="9" name="Text 6"/>
          <p:cNvSpPr txBox="1"/>
          <p:nvPr/>
        </p:nvSpPr>
        <p:spPr>
          <a:xfrm>
            <a:off x="5120640" y="1353312"/>
            <a:ext cx="3429000" cy="502920"/>
          </a:xfrm>
          <a:prstGeom prst="rect">
            <a:avLst/>
          </a:prstGeom>
          <a:noFill/>
          <a:ln/>
        </p:spPr>
        <p:txBody>
          <a:bodyPr wrap="square" lIns="0" tIns="0" rIns="0" bIns="0" rtlCol="0" anchor="t"/>
          <a:lstStyle/>
          <a:p>
            <a:pPr marL="0" indent="0">
              <a:buNone/>
            </a:pPr>
            <a:r>
              <a:rPr lang="en-US" sz="1400" b="1" dirty="0">
                <a:solidFill>
                  <a:srgbClr val="FFFFFF"/>
                </a:solidFill>
                <a:latin typeface="Cambria" pitchFamily="34" charset="0"/>
                <a:ea typeface="Cambria" pitchFamily="34" charset="-122"/>
                <a:cs typeface="Cambria" pitchFamily="34" charset="-120"/>
              </a:rPr>
              <a:t>How well and how efficiently does it learn?</a:t>
            </a:r>
            <a:endParaRPr lang="en-US" sz="1400" dirty="0"/>
          </a:p>
        </p:txBody>
      </p:sp>
      <p:sp>
        <p:nvSpPr>
          <p:cNvPr id="10" name="Text 7"/>
          <p:cNvSpPr txBox="1"/>
          <p:nvPr/>
        </p:nvSpPr>
        <p:spPr>
          <a:xfrm>
            <a:off x="4480560" y="1938528"/>
            <a:ext cx="4069080" cy="640080"/>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D8DEE9"/>
                </a:solidFill>
                <a:latin typeface="Calibri" pitchFamily="34" charset="0"/>
                <a:ea typeface="Calibri" pitchFamily="34" charset="-122"/>
                <a:cs typeface="Calibri" pitchFamily="34" charset="-120"/>
              </a:rPr>
              <a:t>Performance and convergence → slide 19</a:t>
            </a:r>
            <a:endParaRPr lang="en-US" sz="1100" dirty="0"/>
          </a:p>
          <a:p>
            <a:pPr marL="152400" indent="-152400">
              <a:spcAft>
                <a:spcPts val="300"/>
              </a:spcAft>
              <a:buSzPct val="100000"/>
              <a:buChar char="•"/>
            </a:pPr>
            <a:r>
              <a:rPr lang="en-US" sz="1100" dirty="0">
                <a:solidFill>
                  <a:srgbClr val="D8DEE9"/>
                </a:solidFill>
                <a:latin typeface="Calibri" pitchFamily="34" charset="0"/>
                <a:ea typeface="Calibri" pitchFamily="34" charset="-122"/>
                <a:cs typeface="Calibri" pitchFamily="34" charset="-120"/>
              </a:rPr>
              <a:t>Computational cost, sample efficiency, regret → slide 20</a:t>
            </a:r>
            <a:endParaRPr lang="en-US" sz="1100" dirty="0"/>
          </a:p>
        </p:txBody>
      </p:sp>
      <p:sp>
        <p:nvSpPr>
          <p:cNvPr id="11" name="Shape 8"/>
          <p:cNvSpPr/>
          <p:nvPr/>
        </p:nvSpPr>
        <p:spPr>
          <a:xfrm>
            <a:off x="4297680" y="2834640"/>
            <a:ext cx="4389120" cy="1737360"/>
          </a:xfrm>
          <a:prstGeom prst="roundRect">
            <a:avLst>
              <a:gd name="adj" fmla="val 4211"/>
            </a:avLst>
          </a:prstGeom>
          <a:solidFill>
            <a:srgbClr val="3B4252"/>
          </a:solidFill>
          <a:ln w="12700">
            <a:solidFill>
              <a:srgbClr val="3B4252"/>
            </a:solidFill>
            <a:prstDash val="solid"/>
          </a:ln>
        </p:spPr>
        <p:txBody>
          <a:bodyPr/>
          <a:lstStyle/>
          <a:p>
            <a:endParaRPr lang="en-US"/>
          </a:p>
        </p:txBody>
      </p:sp>
      <p:sp>
        <p:nvSpPr>
          <p:cNvPr id="12" name="Shape 9"/>
          <p:cNvSpPr/>
          <p:nvPr/>
        </p:nvSpPr>
        <p:spPr>
          <a:xfrm>
            <a:off x="4480560" y="3063240"/>
            <a:ext cx="502920" cy="502920"/>
          </a:xfrm>
          <a:prstGeom prst="ellipse">
            <a:avLst/>
          </a:prstGeom>
          <a:solidFill>
            <a:srgbClr val="F28C28"/>
          </a:solidFill>
          <a:ln w="12700">
            <a:solidFill>
              <a:srgbClr val="F28C28"/>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606290" y="3188970"/>
            <a:ext cx="251460" cy="251460"/>
          </a:xfrm>
          <a:prstGeom prst="rect">
            <a:avLst/>
          </a:prstGeom>
        </p:spPr>
      </p:pic>
      <p:sp>
        <p:nvSpPr>
          <p:cNvPr id="14" name="Text 10"/>
          <p:cNvSpPr txBox="1"/>
          <p:nvPr/>
        </p:nvSpPr>
        <p:spPr>
          <a:xfrm>
            <a:off x="5120640" y="3017520"/>
            <a:ext cx="3383280" cy="256032"/>
          </a:xfrm>
          <a:prstGeom prst="rect">
            <a:avLst/>
          </a:prstGeom>
          <a:noFill/>
          <a:ln/>
        </p:spPr>
        <p:txBody>
          <a:bodyPr wrap="square" lIns="0" tIns="0" rIns="0" bIns="0" rtlCol="0" anchor="ctr"/>
          <a:lstStyle/>
          <a:p>
            <a:pPr marL="0" indent="0">
              <a:buNone/>
            </a:pPr>
            <a:r>
              <a:rPr lang="en-US" sz="1100" b="1" kern="0" spc="200" dirty="0">
                <a:solidFill>
                  <a:srgbClr val="F28C28"/>
                </a:solidFill>
                <a:latin typeface="Calibri" pitchFamily="34" charset="0"/>
                <a:ea typeface="Calibri" pitchFamily="34" charset="-122"/>
                <a:cs typeface="Calibri" pitchFamily="34" charset="-120"/>
              </a:rPr>
              <a:t>CO5</a:t>
            </a:r>
            <a:endParaRPr lang="en-US" sz="1100" dirty="0"/>
          </a:p>
        </p:txBody>
      </p:sp>
      <p:sp>
        <p:nvSpPr>
          <p:cNvPr id="15" name="Text 11"/>
          <p:cNvSpPr txBox="1"/>
          <p:nvPr/>
        </p:nvSpPr>
        <p:spPr>
          <a:xfrm>
            <a:off x="5120640" y="3273552"/>
            <a:ext cx="3429000" cy="502920"/>
          </a:xfrm>
          <a:prstGeom prst="rect">
            <a:avLst/>
          </a:prstGeom>
          <a:noFill/>
          <a:ln/>
        </p:spPr>
        <p:txBody>
          <a:bodyPr wrap="square" lIns="0" tIns="0" rIns="0" bIns="0" rtlCol="0" anchor="t"/>
          <a:lstStyle/>
          <a:p>
            <a:pPr marL="0" indent="0">
              <a:buNone/>
            </a:pPr>
            <a:r>
              <a:rPr lang="en-US" sz="1400" b="1" dirty="0">
                <a:solidFill>
                  <a:srgbClr val="FFFFFF"/>
                </a:solidFill>
                <a:latin typeface="Cambria" pitchFamily="34" charset="0"/>
                <a:ea typeface="Cambria" pitchFamily="34" charset="-122"/>
                <a:cs typeface="Cambria" pitchFamily="34" charset="-120"/>
              </a:rPr>
              <a:t>How does it balance trying new things and using what works?</a:t>
            </a:r>
            <a:endParaRPr lang="en-US" sz="1400" dirty="0"/>
          </a:p>
        </p:txBody>
      </p:sp>
      <p:sp>
        <p:nvSpPr>
          <p:cNvPr id="16" name="Text 12"/>
          <p:cNvSpPr txBox="1"/>
          <p:nvPr/>
        </p:nvSpPr>
        <p:spPr>
          <a:xfrm>
            <a:off x="4480560" y="3858768"/>
            <a:ext cx="4069080" cy="640080"/>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D8DEE9"/>
                </a:solidFill>
                <a:latin typeface="Calibri" pitchFamily="34" charset="0"/>
                <a:ea typeface="Calibri" pitchFamily="34" charset="-122"/>
                <a:cs typeface="Calibri" pitchFamily="34" charset="-120"/>
              </a:rPr>
              <a:t>Exploration vs exploitation → slide 21</a:t>
            </a:r>
            <a:endParaRPr lang="en-US" sz="1100" dirty="0"/>
          </a:p>
          <a:p>
            <a:pPr marL="152400" indent="-152400">
              <a:spcAft>
                <a:spcPts val="300"/>
              </a:spcAft>
              <a:buSzPct val="100000"/>
              <a:buChar char="•"/>
            </a:pPr>
            <a:r>
              <a:rPr lang="en-US" sz="1100" dirty="0">
                <a:solidFill>
                  <a:srgbClr val="D8DEE9"/>
                </a:solidFill>
                <a:latin typeface="Calibri" pitchFamily="34" charset="0"/>
                <a:ea typeface="Calibri" pitchFamily="34" charset="-122"/>
                <a:cs typeface="Calibri" pitchFamily="34" charset="-120"/>
              </a:rPr>
              <a:t>Parameter sensitivity → slide 22</a:t>
            </a:r>
            <a:endParaRPr lang="en-US" sz="1100" dirty="0"/>
          </a:p>
        </p:txBody>
      </p:sp>
      <p:sp>
        <p:nvSpPr>
          <p:cNvPr id="17" name="Text 13"/>
          <p:cNvSpPr txBox="1"/>
          <p:nvPr/>
        </p:nvSpPr>
        <p:spPr>
          <a:xfrm>
            <a:off x="457200" y="4846320"/>
            <a:ext cx="4572000" cy="201168"/>
          </a:xfrm>
          <a:prstGeom prst="rect">
            <a:avLst/>
          </a:prstGeom>
          <a:noFill/>
          <a:ln/>
        </p:spPr>
        <p:txBody>
          <a:bodyPr wrap="square" lIns="0" tIns="0" rIns="0" bIns="0" rtlCol="0" anchor="ctr"/>
          <a:lstStyle/>
          <a:p>
            <a:pPr marL="0" indent="0">
              <a:buNone/>
            </a:pPr>
            <a:r>
              <a:rPr lang="en-US" sz="850" dirty="0">
                <a:solidFill>
                  <a:srgbClr val="9AA6B8"/>
                </a:solidFill>
                <a:latin typeface="Calibri" pitchFamily="34" charset="0"/>
                <a:ea typeface="Calibri" pitchFamily="34" charset="-122"/>
                <a:cs typeface="Calibri" pitchFamily="34" charset="-120"/>
              </a:rPr>
              <a:t>RL Mini-Project  ·  Angad biped walking</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457200" y="219456"/>
            <a:ext cx="2537460" cy="219456"/>
          </a:xfrm>
          <a:prstGeom prst="roundRect">
            <a:avLst>
              <a:gd name="adj" fmla="val 20833"/>
            </a:avLst>
          </a:prstGeom>
          <a:solidFill>
            <a:srgbClr val="E6F1FA"/>
          </a:solidFill>
          <a:ln w="12700">
            <a:solidFill>
              <a:srgbClr val="E6F1FA"/>
            </a:solidFill>
            <a:prstDash val="solid"/>
          </a:ln>
        </p:spPr>
        <p:txBody>
          <a:bodyPr/>
          <a:lstStyle/>
          <a:p>
            <a:endParaRPr lang="en-US"/>
          </a:p>
        </p:txBody>
      </p:sp>
      <p:sp>
        <p:nvSpPr>
          <p:cNvPr id="3" name="Text 1"/>
          <p:cNvSpPr txBox="1"/>
          <p:nvPr/>
        </p:nvSpPr>
        <p:spPr>
          <a:xfrm>
            <a:off x="457200" y="219456"/>
            <a:ext cx="2537460" cy="219456"/>
          </a:xfrm>
          <a:prstGeom prst="rect">
            <a:avLst/>
          </a:prstGeom>
          <a:noFill/>
          <a:ln/>
        </p:spPr>
        <p:txBody>
          <a:bodyPr wrap="square" lIns="0" tIns="0" rIns="0" bIns="0" rtlCol="0" anchor="ctr"/>
          <a:lstStyle/>
          <a:p>
            <a:pPr marL="0" indent="0" algn="ctr">
              <a:buNone/>
            </a:pPr>
            <a:r>
              <a:rPr lang="en-US" sz="850" b="1" kern="0" spc="100" dirty="0">
                <a:solidFill>
                  <a:srgbClr val="1F7AC0"/>
                </a:solidFill>
                <a:latin typeface="Calibri" pitchFamily="34" charset="0"/>
                <a:ea typeface="Calibri" pitchFamily="34" charset="-122"/>
                <a:cs typeface="Calibri" pitchFamily="34" charset="-120"/>
              </a:rPr>
              <a:t>PART II  ·  CO4  ·  RESULTS TABLE</a:t>
            </a:r>
            <a:endParaRPr lang="en-US" sz="850" dirty="0"/>
          </a:p>
        </p:txBody>
      </p:sp>
      <p:sp>
        <p:nvSpPr>
          <p:cNvPr id="4" name="Text 2"/>
          <p:cNvSpPr txBox="1"/>
          <p:nvPr/>
        </p:nvSpPr>
        <p:spPr>
          <a:xfrm>
            <a:off x="457200" y="475488"/>
            <a:ext cx="8229600" cy="502920"/>
          </a:xfrm>
          <a:prstGeom prst="rect">
            <a:avLst/>
          </a:prstGeom>
          <a:noFill/>
          <a:ln/>
        </p:spPr>
        <p:txBody>
          <a:bodyPr wrap="square" lIns="0" tIns="0" rIns="0" bIns="0" rtlCol="0" anchor="ctr"/>
          <a:lstStyle/>
          <a:p>
            <a:pPr marL="0" indent="0">
              <a:buNone/>
            </a:pPr>
            <a:r>
              <a:rPr lang="en-US" sz="2600" b="1" dirty="0">
                <a:solidFill>
                  <a:srgbClr val="2B3340"/>
                </a:solidFill>
                <a:latin typeface="Cambria" pitchFamily="34" charset="0"/>
                <a:ea typeface="Cambria" pitchFamily="34" charset="-122"/>
                <a:cs typeface="Cambria" pitchFamily="34" charset="-120"/>
              </a:rPr>
              <a:t>Performance &amp; Convergence</a:t>
            </a:r>
            <a:endParaRPr lang="en-US" sz="2600" dirty="0"/>
          </a:p>
        </p:txBody>
      </p:sp>
      <p:sp>
        <p:nvSpPr>
          <p:cNvPr id="5" name="Text 3"/>
          <p:cNvSpPr txBox="1"/>
          <p:nvPr/>
        </p:nvSpPr>
        <p:spPr>
          <a:xfrm>
            <a:off x="457200" y="4846320"/>
            <a:ext cx="4572000" cy="201168"/>
          </a:xfrm>
          <a:prstGeom prst="rect">
            <a:avLst/>
          </a:prstGeom>
          <a:noFill/>
          <a:ln/>
        </p:spPr>
        <p:txBody>
          <a:bodyPr wrap="square" lIns="0" tIns="0" rIns="0" bIns="0" rtlCol="0" anchor="ctr"/>
          <a:lstStyle/>
          <a:p>
            <a:pPr marL="0" indent="0">
              <a:buNone/>
            </a:pPr>
            <a:r>
              <a:rPr lang="en-US" sz="850" dirty="0">
                <a:solidFill>
                  <a:srgbClr val="667085"/>
                </a:solidFill>
                <a:latin typeface="Calibri" pitchFamily="34" charset="0"/>
                <a:ea typeface="Calibri" pitchFamily="34" charset="-122"/>
                <a:cs typeface="Calibri" pitchFamily="34" charset="-120"/>
              </a:rPr>
              <a:t>RL Mini-Project  ·  Angad biped walking</a:t>
            </a:r>
            <a:endParaRPr lang="en-US" sz="8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3191256"/>
        </p:xfrm>
        <a:graphic>
          <a:graphicData uri="http://schemas.openxmlformats.org/drawingml/2006/table">
            <a:tbl>
              <a:tblPr/>
              <a:tblGrid>
                <a:gridCol w="21488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2971800">
                  <a:extLst>
                    <a:ext uri="{9D8B030D-6E8A-4147-A177-3AD203B41FA5}">
                      <a16:colId xmlns:a16="http://schemas.microsoft.com/office/drawing/2014/main" val="20003"/>
                    </a:ext>
                  </a:extLst>
                </a:gridCol>
              </a:tblGrid>
              <a:tr h="292608">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1F7AC0"/>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Baseline: Method 2</a:t>
                      </a:r>
                      <a:endParaRPr lang="en-US" sz="11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1F7AC0"/>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Final: Method 4</a:t>
                      </a:r>
                      <a:endParaRPr lang="en-US" sz="11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1F7AC0"/>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Interpretation</a:t>
                      </a:r>
                      <a:endParaRPr lang="en-US" sz="11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1F7AC0"/>
                    </a:solidFill>
                  </a:tcPr>
                </a:tc>
                <a:extLst>
                  <a:ext uri="{0D108BD9-81ED-4DB2-BD59-A6C34878D82A}">
                    <a16:rowId xmlns:a16="http://schemas.microsoft.com/office/drawing/2014/main" val="10000"/>
                  </a:ext>
                </a:extLst>
              </a:tr>
              <a:tr h="315468">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Average reward</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i="1" dirty="0">
                          <a:solidFill>
                            <a:srgbClr val="8A6D00"/>
                          </a:solidFill>
                          <a:latin typeface="Calibri" pitchFamily="34" charset="0"/>
                          <a:ea typeface="Calibri" pitchFamily="34" charset="-122"/>
                          <a:cs typeface="Calibri" pitchFamily="34" charset="-120"/>
                        </a:rPr>
                        <a:t>[ fill in ]</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4CC"/>
                    </a:solidFill>
                  </a:tcPr>
                </a:tc>
                <a:tc>
                  <a:txBody>
                    <a:bodyPr/>
                    <a:lstStyle/>
                    <a:p>
                      <a:pPr marL="0" indent="0" algn="l">
                        <a:buNone/>
                      </a:pPr>
                      <a:r>
                        <a:rPr lang="en-US" sz="1050" i="1" dirty="0">
                          <a:solidFill>
                            <a:srgbClr val="8A6D00"/>
                          </a:solidFill>
                          <a:latin typeface="Calibri" pitchFamily="34" charset="0"/>
                          <a:ea typeface="Calibri" pitchFamily="34" charset="-122"/>
                          <a:cs typeface="Calibri" pitchFamily="34" charset="-120"/>
                        </a:rPr>
                        <a:t>[ fill in ]</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4CC"/>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Did cumulative performance improve? (W&amp;B mean reward)</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5468">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Success rate</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i="1" dirty="0">
                          <a:solidFill>
                            <a:srgbClr val="8A6D00"/>
                          </a:solidFill>
                          <a:latin typeface="Calibri" pitchFamily="34" charset="0"/>
                          <a:ea typeface="Calibri" pitchFamily="34" charset="-122"/>
                          <a:cs typeface="Calibri" pitchFamily="34" charset="-120"/>
                        </a:rPr>
                        <a:t>[ fill in ]</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4CC"/>
                    </a:solidFill>
                  </a:tcPr>
                </a:tc>
                <a:tc>
                  <a:txBody>
                    <a:bodyPr/>
                    <a:lstStyle/>
                    <a:p>
                      <a:pPr marL="0" indent="0" algn="l">
                        <a:buNone/>
                      </a:pPr>
                      <a:r>
                        <a:rPr lang="en-US" sz="1050" i="1" dirty="0">
                          <a:solidFill>
                            <a:srgbClr val="8A6D00"/>
                          </a:solidFill>
                          <a:latin typeface="Calibri" pitchFamily="34" charset="0"/>
                          <a:ea typeface="Calibri" pitchFamily="34" charset="-122"/>
                          <a:cs typeface="Calibri" pitchFamily="34" charset="-120"/>
                        </a:rPr>
                        <a:t>[ fill in ]</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4CC"/>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Episodes that stay upright for the full 20 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extLst>
                  <a:ext uri="{0D108BD9-81ED-4DB2-BD59-A6C34878D82A}">
                    <a16:rowId xmlns:a16="http://schemas.microsoft.com/office/drawing/2014/main" val="10002"/>
                  </a:ext>
                </a:extLst>
              </a:tr>
              <a:tr h="315468">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Convergence iteration</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i="1" dirty="0">
                          <a:solidFill>
                            <a:srgbClr val="8A6D00"/>
                          </a:solidFill>
                          <a:latin typeface="Calibri" pitchFamily="34" charset="0"/>
                          <a:ea typeface="Calibri" pitchFamily="34" charset="-122"/>
                          <a:cs typeface="Calibri" pitchFamily="34" charset="-120"/>
                        </a:rPr>
                        <a:t>[ fill in ]</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4CC"/>
                    </a:solidFill>
                  </a:tcPr>
                </a:tc>
                <a:tc>
                  <a:txBody>
                    <a:bodyPr/>
                    <a:lstStyle/>
                    <a:p>
                      <a:pPr marL="0" indent="0" algn="l">
                        <a:buNone/>
                      </a:pPr>
                      <a:r>
                        <a:rPr lang="en-US" sz="1050" i="1" dirty="0">
                          <a:solidFill>
                            <a:srgbClr val="8A6D00"/>
                          </a:solidFill>
                          <a:latin typeface="Calibri" pitchFamily="34" charset="0"/>
                          <a:ea typeface="Calibri" pitchFamily="34" charset="-122"/>
                          <a:cs typeface="Calibri" pitchFamily="34" charset="-120"/>
                        </a:rPr>
                        <a:t>[ fill in ]</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4CC"/>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When the reward curve flattens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5468">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Training time</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i="1" dirty="0">
                          <a:solidFill>
                            <a:srgbClr val="8A6D00"/>
                          </a:solidFill>
                          <a:latin typeface="Calibri" pitchFamily="34" charset="0"/>
                          <a:ea typeface="Calibri" pitchFamily="34" charset="-122"/>
                          <a:cs typeface="Calibri" pitchFamily="34" charset="-120"/>
                        </a:rPr>
                        <a:t>[ fill in ]</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4CC"/>
                    </a:solidFill>
                  </a:tcPr>
                </a:tc>
                <a:tc>
                  <a:txBody>
                    <a:bodyPr/>
                    <a:lstStyle/>
                    <a:p>
                      <a:pPr marL="0" indent="0" algn="l">
                        <a:buNone/>
                      </a:pPr>
                      <a:r>
                        <a:rPr lang="en-US" sz="1050" i="1" dirty="0">
                          <a:solidFill>
                            <a:srgbClr val="8A6D00"/>
                          </a:solidFill>
                          <a:latin typeface="Calibri" pitchFamily="34" charset="0"/>
                          <a:ea typeface="Calibri" pitchFamily="34" charset="-122"/>
                          <a:cs typeface="Calibri" pitchFamily="34" charset="-120"/>
                        </a:rPr>
                        <a:t>[ fill in ]</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4CC"/>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GPU-hours needed</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extLst>
                  <a:ext uri="{0D108BD9-81ED-4DB2-BD59-A6C34878D82A}">
                    <a16:rowId xmlns:a16="http://schemas.microsoft.com/office/drawing/2014/main" val="10004"/>
                  </a:ext>
                </a:extLst>
              </a:tr>
              <a:tr h="315468">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Iterations trained</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350</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15,200</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E4F5EC"/>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43× more experience</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5468">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Speed reached (3.0 m/s command)</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 1.8 m/s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 3.0 m/s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E4F5EC"/>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Follows the command over the whole range</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extLst>
                  <a:ext uri="{0D108BD9-81ED-4DB2-BD59-A6C34878D82A}">
                    <a16:rowId xmlns:a16="http://schemas.microsoft.com/office/drawing/2014/main" val="10006"/>
                  </a:ext>
                </a:extLst>
              </a:tr>
              <a:tr h="315468">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Sideways drift</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 13 m in 17 m</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 2.3 m in 31 m</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E4F5EC"/>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Walks almost straight</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5468">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Exploration noise (std)</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1.0 (start)</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i="1" dirty="0">
                          <a:solidFill>
                            <a:srgbClr val="8A6D00"/>
                          </a:solidFill>
                          <a:latin typeface="Calibri" pitchFamily="34" charset="0"/>
                          <a:ea typeface="Calibri" pitchFamily="34" charset="-122"/>
                          <a:cs typeface="Calibri" pitchFamily="34" charset="-120"/>
                        </a:rPr>
                        <a:t>[ fill in ]</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4CC"/>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Should shrink as the policy settles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extLst>
                  <a:ext uri="{0D108BD9-81ED-4DB2-BD59-A6C34878D82A}">
                    <a16:rowId xmlns:a16="http://schemas.microsoft.com/office/drawing/2014/main" val="10008"/>
                  </a:ext>
                </a:extLst>
              </a:tr>
              <a:tr h="315468">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Regret / sample efficiency</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See next slide</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7" name="Text 4"/>
          <p:cNvSpPr txBox="1"/>
          <p:nvPr/>
        </p:nvSpPr>
        <p:spPr>
          <a:xfrm>
            <a:off x="457200" y="4343400"/>
            <a:ext cx="8229600" cy="411480"/>
          </a:xfrm>
          <a:prstGeom prst="rect">
            <a:avLst/>
          </a:prstGeom>
          <a:noFill/>
          <a:ln/>
        </p:spPr>
        <p:txBody>
          <a:bodyPr wrap="square" lIns="0" tIns="0" rIns="0" bIns="0" rtlCol="0" anchor="t"/>
          <a:lstStyle/>
          <a:p>
            <a:pPr marL="0" indent="0">
              <a:buNone/>
            </a:pPr>
            <a:r>
              <a:rPr lang="en-US" sz="1000" i="1" dirty="0">
                <a:solidFill>
                  <a:srgbClr val="8A6D00"/>
                </a:solidFill>
                <a:latin typeface="Calibri" pitchFamily="34" charset="0"/>
                <a:ea typeface="Calibri" pitchFamily="34" charset="-122"/>
                <a:cs typeface="Calibri" pitchFamily="34" charset="-120"/>
              </a:rPr>
              <a:t>Amber cells: read the value from your W&amp;B run (Train/mean_reward, episode length, termination stats, run duration) and type it in. Other values are read from the evaluation plots.</a:t>
            </a:r>
            <a:endParaRPr lang="en-US" sz="10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50">
                <a:solidFill>
                  <a:srgbClr val="667085"/>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457200" y="219456"/>
            <a:ext cx="3429000" cy="219456"/>
          </a:xfrm>
          <a:prstGeom prst="roundRect">
            <a:avLst>
              <a:gd name="adj" fmla="val 20833"/>
            </a:avLst>
          </a:prstGeom>
          <a:solidFill>
            <a:srgbClr val="E6F1FA"/>
          </a:solidFill>
          <a:ln w="12700">
            <a:solidFill>
              <a:srgbClr val="E6F1FA"/>
            </a:solidFill>
            <a:prstDash val="solid"/>
          </a:ln>
        </p:spPr>
        <p:txBody>
          <a:bodyPr/>
          <a:lstStyle/>
          <a:p>
            <a:endParaRPr lang="en-US"/>
          </a:p>
        </p:txBody>
      </p:sp>
      <p:sp>
        <p:nvSpPr>
          <p:cNvPr id="3" name="Text 1"/>
          <p:cNvSpPr txBox="1"/>
          <p:nvPr/>
        </p:nvSpPr>
        <p:spPr>
          <a:xfrm>
            <a:off x="457200" y="219456"/>
            <a:ext cx="3429000" cy="219456"/>
          </a:xfrm>
          <a:prstGeom prst="rect">
            <a:avLst/>
          </a:prstGeom>
          <a:noFill/>
          <a:ln/>
        </p:spPr>
        <p:txBody>
          <a:bodyPr wrap="square" lIns="0" tIns="0" rIns="0" bIns="0" rtlCol="0" anchor="ctr"/>
          <a:lstStyle/>
          <a:p>
            <a:pPr marL="0" indent="0" algn="ctr">
              <a:buNone/>
            </a:pPr>
            <a:r>
              <a:rPr lang="en-US" sz="850" b="1" kern="0" spc="100" dirty="0">
                <a:solidFill>
                  <a:srgbClr val="1F7AC0"/>
                </a:solidFill>
                <a:latin typeface="Calibri" pitchFamily="34" charset="0"/>
                <a:ea typeface="Calibri" pitchFamily="34" charset="-122"/>
                <a:cs typeface="Calibri" pitchFamily="34" charset="-120"/>
              </a:rPr>
              <a:t>PART II  ·  CO4  ·  HOW EFFICIENT IS LEARNING?</a:t>
            </a:r>
            <a:endParaRPr lang="en-US" sz="850" dirty="0"/>
          </a:p>
        </p:txBody>
      </p:sp>
      <p:sp>
        <p:nvSpPr>
          <p:cNvPr id="4" name="Text 2"/>
          <p:cNvSpPr txBox="1"/>
          <p:nvPr/>
        </p:nvSpPr>
        <p:spPr>
          <a:xfrm>
            <a:off x="457200" y="475488"/>
            <a:ext cx="8229600" cy="502920"/>
          </a:xfrm>
          <a:prstGeom prst="rect">
            <a:avLst/>
          </a:prstGeom>
          <a:noFill/>
          <a:ln/>
        </p:spPr>
        <p:txBody>
          <a:bodyPr wrap="square" lIns="0" tIns="0" rIns="0" bIns="0" rtlCol="0" anchor="ctr"/>
          <a:lstStyle/>
          <a:p>
            <a:pPr marL="0" indent="0">
              <a:buNone/>
            </a:pPr>
            <a:r>
              <a:rPr lang="en-US" sz="2600" b="1" dirty="0">
                <a:solidFill>
                  <a:srgbClr val="2B3340"/>
                </a:solidFill>
                <a:latin typeface="Cambria" pitchFamily="34" charset="0"/>
                <a:ea typeface="Cambria" pitchFamily="34" charset="-122"/>
                <a:cs typeface="Cambria" pitchFamily="34" charset="-120"/>
              </a:rPr>
              <a:t>Cost, Sample Efficiency &amp; Regret</a:t>
            </a:r>
            <a:endParaRPr lang="en-US" sz="2600" dirty="0"/>
          </a:p>
        </p:txBody>
      </p:sp>
      <p:sp>
        <p:nvSpPr>
          <p:cNvPr id="5" name="Text 3"/>
          <p:cNvSpPr txBox="1"/>
          <p:nvPr/>
        </p:nvSpPr>
        <p:spPr>
          <a:xfrm>
            <a:off x="457200" y="4846320"/>
            <a:ext cx="4572000" cy="201168"/>
          </a:xfrm>
          <a:prstGeom prst="rect">
            <a:avLst/>
          </a:prstGeom>
          <a:noFill/>
          <a:ln/>
        </p:spPr>
        <p:txBody>
          <a:bodyPr wrap="square" lIns="0" tIns="0" rIns="0" bIns="0" rtlCol="0" anchor="ctr"/>
          <a:lstStyle/>
          <a:p>
            <a:pPr marL="0" indent="0">
              <a:buNone/>
            </a:pPr>
            <a:r>
              <a:rPr lang="en-US" sz="850" dirty="0">
                <a:solidFill>
                  <a:srgbClr val="667085"/>
                </a:solidFill>
                <a:latin typeface="Calibri" pitchFamily="34" charset="0"/>
                <a:ea typeface="Calibri" pitchFamily="34" charset="-122"/>
                <a:cs typeface="Calibri" pitchFamily="34" charset="-120"/>
              </a:rPr>
              <a:t>RL Mini-Project  ·  Angad biped walking</a:t>
            </a:r>
            <a:endParaRPr lang="en-US" sz="850" dirty="0"/>
          </a:p>
        </p:txBody>
      </p:sp>
      <p:sp>
        <p:nvSpPr>
          <p:cNvPr id="6" name="Shape 4"/>
          <p:cNvSpPr/>
          <p:nvPr/>
        </p:nvSpPr>
        <p:spPr>
          <a:xfrm>
            <a:off x="457200" y="1051560"/>
            <a:ext cx="2624328" cy="3611880"/>
          </a:xfrm>
          <a:prstGeom prst="roundRect">
            <a:avLst>
              <a:gd name="adj" fmla="val 278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594360" y="1161288"/>
            <a:ext cx="420624" cy="420624"/>
          </a:xfrm>
          <a:prstGeom prst="ellipse">
            <a:avLst/>
          </a:prstGeom>
          <a:solidFill>
            <a:srgbClr val="1F7AC0"/>
          </a:solidFill>
          <a:ln w="12700">
            <a:solidFill>
              <a:srgbClr val="1F7AC0"/>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699516" y="1266444"/>
            <a:ext cx="210312" cy="210312"/>
          </a:xfrm>
          <a:prstGeom prst="rect">
            <a:avLst/>
          </a:prstGeom>
        </p:spPr>
      </p:pic>
      <p:sp>
        <p:nvSpPr>
          <p:cNvPr id="9" name="Text 6"/>
          <p:cNvSpPr txBox="1"/>
          <p:nvPr/>
        </p:nvSpPr>
        <p:spPr>
          <a:xfrm>
            <a:off x="1115568" y="1161288"/>
            <a:ext cx="1874520" cy="420624"/>
          </a:xfrm>
          <a:prstGeom prst="rect">
            <a:avLst/>
          </a:prstGeom>
          <a:noFill/>
          <a:ln/>
        </p:spPr>
        <p:txBody>
          <a:bodyPr wrap="square" lIns="0" tIns="0" rIns="0" bIns="0" rtlCol="0" anchor="ctr"/>
          <a:lstStyle/>
          <a:p>
            <a:pPr marL="0" indent="0">
              <a:buNone/>
            </a:pPr>
            <a:r>
              <a:rPr lang="en-US" sz="1400" b="1" dirty="0">
                <a:solidFill>
                  <a:srgbClr val="2B3340"/>
                </a:solidFill>
                <a:latin typeface="Cambria" pitchFamily="34" charset="0"/>
                <a:ea typeface="Cambria" pitchFamily="34" charset="-122"/>
                <a:cs typeface="Cambria" pitchFamily="34" charset="-120"/>
              </a:rPr>
              <a:t>Computational cost</a:t>
            </a:r>
            <a:endParaRPr lang="en-US" sz="1400" dirty="0"/>
          </a:p>
        </p:txBody>
      </p:sp>
      <p:sp>
        <p:nvSpPr>
          <p:cNvPr id="10" name="Text 7"/>
          <p:cNvSpPr txBox="1"/>
          <p:nvPr/>
        </p:nvSpPr>
        <p:spPr>
          <a:xfrm>
            <a:off x="594360" y="1719072"/>
            <a:ext cx="2359152" cy="2834640"/>
          </a:xfrm>
          <a:prstGeom prst="rect">
            <a:avLst/>
          </a:prstGeom>
          <a:noFill/>
          <a:ln/>
        </p:spPr>
        <p:txBody>
          <a:bodyPr wrap="square" lIns="0" tIns="0" rIns="0" bIns="0" rtlCol="0" anchor="t"/>
          <a:lstStyle/>
          <a:p>
            <a:pPr marL="139700" indent="-139700">
              <a:spcAft>
                <a:spcPts val="600"/>
              </a:spcAft>
              <a:buSzPct val="100000"/>
              <a:buChar char="•"/>
            </a:pPr>
            <a:r>
              <a:rPr lang="en-US" sz="1200" b="1" dirty="0">
                <a:solidFill>
                  <a:srgbClr val="2B3340"/>
                </a:solidFill>
                <a:latin typeface="Calibri" pitchFamily="34" charset="0"/>
                <a:ea typeface="Calibri" pitchFamily="34" charset="-122"/>
                <a:cs typeface="Calibri" pitchFamily="34" charset="-120"/>
              </a:rPr>
              <a:t>Small network: </a:t>
            </a:r>
            <a:r>
              <a:rPr lang="en-US" sz="1200" dirty="0">
                <a:solidFill>
                  <a:srgbClr val="2B3340"/>
                </a:solidFill>
                <a:latin typeface="Calibri" pitchFamily="34" charset="0"/>
                <a:ea typeface="Calibri" pitchFamily="34" charset="-122"/>
                <a:cs typeface="Calibri" pitchFamily="34" charset="-120"/>
              </a:rPr>
              <a:t>Actor ≈ 0.11 M parameters (48 → 256 → 256 → 128 → 12).</a:t>
            </a:r>
            <a:endParaRPr lang="en-US" sz="1200" dirty="0"/>
          </a:p>
          <a:p>
            <a:pPr marL="139700" indent="-139700">
              <a:spcAft>
                <a:spcPts val="600"/>
              </a:spcAft>
              <a:buSzPct val="100000"/>
              <a:buChar char="•"/>
            </a:pPr>
            <a:r>
              <a:rPr lang="en-US" sz="1200" b="1" dirty="0">
                <a:solidFill>
                  <a:srgbClr val="2B3340"/>
                </a:solidFill>
                <a:latin typeface="Calibri" pitchFamily="34" charset="0"/>
                <a:ea typeface="Calibri" pitchFamily="34" charset="-122"/>
                <a:cs typeface="Calibri" pitchFamily="34" charset="-120"/>
              </a:rPr>
              <a:t>Training: </a:t>
            </a:r>
            <a:r>
              <a:rPr lang="en-US" sz="1200" dirty="0">
                <a:solidFill>
                  <a:srgbClr val="2B3340"/>
                </a:solidFill>
                <a:latin typeface="Calibri" pitchFamily="34" charset="0"/>
                <a:ea typeface="Calibri" pitchFamily="34" charset="-122"/>
                <a:cs typeface="Calibri" pitchFamily="34" charset="-120"/>
              </a:rPr>
              <a:t>thousands of simulated robots run in parallel on the GPU; several GPUs can share the job.</a:t>
            </a:r>
            <a:endParaRPr lang="en-US" sz="1200" dirty="0"/>
          </a:p>
          <a:p>
            <a:pPr marL="139700" indent="-139700">
              <a:spcAft>
                <a:spcPts val="600"/>
              </a:spcAft>
              <a:buSzPct val="100000"/>
              <a:buChar char="•"/>
            </a:pPr>
            <a:r>
              <a:rPr lang="en-US" sz="1200" b="1" dirty="0">
                <a:solidFill>
                  <a:srgbClr val="2B3340"/>
                </a:solidFill>
                <a:latin typeface="Calibri" pitchFamily="34" charset="0"/>
                <a:ea typeface="Calibri" pitchFamily="34" charset="-122"/>
                <a:cs typeface="Calibri" pitchFamily="34" charset="-120"/>
              </a:rPr>
              <a:t>Running it: </a:t>
            </a:r>
            <a:r>
              <a:rPr lang="en-US" sz="1200" dirty="0">
                <a:solidFill>
                  <a:srgbClr val="2B3340"/>
                </a:solidFill>
                <a:latin typeface="Calibri" pitchFamily="34" charset="0"/>
                <a:ea typeface="Calibri" pitchFamily="34" charset="-122"/>
                <a:cs typeface="Calibri" pitchFamily="34" charset="-120"/>
              </a:rPr>
              <a:t>cheap. The policy is exported to ONNX for the robot.</a:t>
            </a:r>
            <a:endParaRPr lang="en-US" sz="1200" dirty="0"/>
          </a:p>
          <a:p>
            <a:pPr marL="139700" indent="-139700">
              <a:spcAft>
                <a:spcPts val="600"/>
              </a:spcAft>
              <a:buSzPct val="100000"/>
              <a:buChar char="•"/>
            </a:pPr>
            <a:r>
              <a:rPr lang="en-US" sz="1200" b="1" dirty="0">
                <a:solidFill>
                  <a:srgbClr val="2B3340"/>
                </a:solidFill>
                <a:latin typeface="Calibri" pitchFamily="34" charset="0"/>
                <a:ea typeface="Calibri" pitchFamily="34" charset="-122"/>
                <a:cs typeface="Calibri" pitchFamily="34" charset="-120"/>
              </a:rPr>
              <a:t>Time: </a:t>
            </a:r>
            <a:r>
              <a:rPr lang="en-US" sz="1200" i="1" dirty="0">
                <a:solidFill>
                  <a:srgbClr val="8A6D00"/>
                </a:solidFill>
                <a:latin typeface="Calibri" pitchFamily="34" charset="0"/>
                <a:ea typeface="Calibri" pitchFamily="34" charset="-122"/>
                <a:cs typeface="Calibri" pitchFamily="34" charset="-120"/>
              </a:rPr>
              <a:t>[ fill in ] h on [ fill in ] GPU</a:t>
            </a:r>
            <a:endParaRPr lang="en-US" sz="1200" dirty="0"/>
          </a:p>
        </p:txBody>
      </p:sp>
      <p:sp>
        <p:nvSpPr>
          <p:cNvPr id="11" name="Shape 8"/>
          <p:cNvSpPr/>
          <p:nvPr/>
        </p:nvSpPr>
        <p:spPr>
          <a:xfrm>
            <a:off x="3259836" y="1051560"/>
            <a:ext cx="2624328" cy="3611880"/>
          </a:xfrm>
          <a:prstGeom prst="roundRect">
            <a:avLst>
              <a:gd name="adj" fmla="val 278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12" name="Shape 9"/>
          <p:cNvSpPr/>
          <p:nvPr/>
        </p:nvSpPr>
        <p:spPr>
          <a:xfrm>
            <a:off x="3396996" y="1161288"/>
            <a:ext cx="420624" cy="420624"/>
          </a:xfrm>
          <a:prstGeom prst="ellipse">
            <a:avLst/>
          </a:prstGeom>
          <a:solidFill>
            <a:srgbClr val="1F7AC0"/>
          </a:solidFill>
          <a:ln w="12700">
            <a:solidFill>
              <a:srgbClr val="1F7AC0"/>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3502152" y="1266444"/>
            <a:ext cx="210312" cy="210312"/>
          </a:xfrm>
          <a:prstGeom prst="rect">
            <a:avLst/>
          </a:prstGeom>
        </p:spPr>
      </p:pic>
      <p:sp>
        <p:nvSpPr>
          <p:cNvPr id="14" name="Text 10"/>
          <p:cNvSpPr txBox="1"/>
          <p:nvPr/>
        </p:nvSpPr>
        <p:spPr>
          <a:xfrm>
            <a:off x="3918204" y="1161288"/>
            <a:ext cx="1874520" cy="420624"/>
          </a:xfrm>
          <a:prstGeom prst="rect">
            <a:avLst/>
          </a:prstGeom>
          <a:noFill/>
          <a:ln/>
        </p:spPr>
        <p:txBody>
          <a:bodyPr wrap="square" lIns="0" tIns="0" rIns="0" bIns="0" rtlCol="0" anchor="ctr"/>
          <a:lstStyle/>
          <a:p>
            <a:pPr marL="0" indent="0">
              <a:buNone/>
            </a:pPr>
            <a:r>
              <a:rPr lang="en-US" sz="1400" b="1" dirty="0">
                <a:solidFill>
                  <a:srgbClr val="2B3340"/>
                </a:solidFill>
                <a:latin typeface="Cambria" pitchFamily="34" charset="0"/>
                <a:ea typeface="Cambria" pitchFamily="34" charset="-122"/>
                <a:cs typeface="Cambria" pitchFamily="34" charset="-120"/>
              </a:rPr>
              <a:t>Sample efficiency</a:t>
            </a:r>
            <a:endParaRPr lang="en-US" sz="1400" dirty="0"/>
          </a:p>
        </p:txBody>
      </p:sp>
      <p:sp>
        <p:nvSpPr>
          <p:cNvPr id="15" name="Text 11"/>
          <p:cNvSpPr txBox="1"/>
          <p:nvPr/>
        </p:nvSpPr>
        <p:spPr>
          <a:xfrm>
            <a:off x="3396996" y="1719072"/>
            <a:ext cx="2359152" cy="2834640"/>
          </a:xfrm>
          <a:prstGeom prst="rect">
            <a:avLst/>
          </a:prstGeom>
          <a:noFill/>
          <a:ln/>
        </p:spPr>
        <p:txBody>
          <a:bodyPr wrap="square" lIns="0" tIns="0" rIns="0" bIns="0" rtlCol="0" anchor="t"/>
          <a:lstStyle/>
          <a:p>
            <a:pPr marL="139700" indent="-139700">
              <a:spcAft>
                <a:spcPts val="600"/>
              </a:spcAft>
              <a:buSzPct val="100000"/>
              <a:buChar char="•"/>
            </a:pPr>
            <a:r>
              <a:rPr lang="en-US" sz="1200" b="1" dirty="0">
                <a:solidFill>
                  <a:srgbClr val="2B3340"/>
                </a:solidFill>
                <a:latin typeface="Calibri" pitchFamily="34" charset="0"/>
                <a:ea typeface="Calibri" pitchFamily="34" charset="-122"/>
                <a:cs typeface="Calibri" pitchFamily="34" charset="-120"/>
              </a:rPr>
              <a:t>Per iteration: </a:t>
            </a:r>
            <a:r>
              <a:rPr lang="en-US" sz="1200" dirty="0">
                <a:solidFill>
                  <a:srgbClr val="2B3340"/>
                </a:solidFill>
                <a:latin typeface="Calibri" pitchFamily="34" charset="0"/>
                <a:ea typeface="Calibri" pitchFamily="34" charset="-122"/>
                <a:cs typeface="Calibri" pitchFamily="34" charset="-120"/>
              </a:rPr>
              <a:t>24 steps × N robots.</a:t>
            </a:r>
            <a:endParaRPr lang="en-US" sz="1200" dirty="0"/>
          </a:p>
          <a:p>
            <a:pPr marL="139700" indent="-139700">
              <a:spcAft>
                <a:spcPts val="600"/>
              </a:spcAft>
              <a:buSzPct val="100000"/>
              <a:buChar char="•"/>
            </a:pPr>
            <a:r>
              <a:rPr lang="en-US" sz="1200" b="1" dirty="0">
                <a:solidFill>
                  <a:srgbClr val="2B3340"/>
                </a:solidFill>
                <a:latin typeface="Calibri" pitchFamily="34" charset="0"/>
                <a:ea typeface="Calibri" pitchFamily="34" charset="-122"/>
                <a:cs typeface="Calibri" pitchFamily="34" charset="-120"/>
              </a:rPr>
              <a:t>Method 4: </a:t>
            </a:r>
            <a:r>
              <a:rPr lang="en-US" sz="1200" dirty="0">
                <a:solidFill>
                  <a:srgbClr val="2B3340"/>
                </a:solidFill>
                <a:latin typeface="Calibri" pitchFamily="34" charset="0"/>
                <a:ea typeface="Calibri" pitchFamily="34" charset="-122"/>
                <a:cs typeface="Calibri" pitchFamily="34" charset="-120"/>
              </a:rPr>
              <a:t>15,200 × 24 × N samples (N = num_envs).</a:t>
            </a:r>
            <a:endParaRPr lang="en-US" sz="1200" dirty="0"/>
          </a:p>
          <a:p>
            <a:pPr marL="139700" indent="-139700">
              <a:spcAft>
                <a:spcPts val="600"/>
              </a:spcAft>
              <a:buSzPct val="100000"/>
              <a:buChar char="•"/>
            </a:pPr>
            <a:r>
              <a:rPr lang="en-US" sz="1200" b="1" dirty="0">
                <a:solidFill>
                  <a:srgbClr val="2B3340"/>
                </a:solidFill>
                <a:latin typeface="Calibri" pitchFamily="34" charset="0"/>
                <a:ea typeface="Calibri" pitchFamily="34" charset="-122"/>
                <a:cs typeface="Calibri" pitchFamily="34" charset="-120"/>
              </a:rPr>
              <a:t>On-policy: </a:t>
            </a:r>
            <a:r>
              <a:rPr lang="en-US" sz="1200" dirty="0">
                <a:solidFill>
                  <a:srgbClr val="2B3340"/>
                </a:solidFill>
                <a:latin typeface="Calibri" pitchFamily="34" charset="0"/>
                <a:ea typeface="Calibri" pitchFamily="34" charset="-122"/>
                <a:cs typeface="Calibri" pitchFamily="34" charset="-120"/>
              </a:rPr>
              <a:t>each batch is used once, then thrown away, so PPO is data-hungry.</a:t>
            </a:r>
            <a:endParaRPr lang="en-US" sz="1200" dirty="0"/>
          </a:p>
          <a:p>
            <a:pPr marL="139700" indent="-139700">
              <a:spcAft>
                <a:spcPts val="600"/>
              </a:spcAft>
              <a:buSzPct val="100000"/>
              <a:buChar char="•"/>
            </a:pPr>
            <a:r>
              <a:rPr lang="en-US" sz="1200" b="1" dirty="0">
                <a:solidFill>
                  <a:srgbClr val="2B3340"/>
                </a:solidFill>
                <a:latin typeface="Calibri" pitchFamily="34" charset="0"/>
                <a:ea typeface="Calibri" pitchFamily="34" charset="-122"/>
                <a:cs typeface="Calibri" pitchFamily="34" charset="-120"/>
              </a:rPr>
              <a:t>Cheap in simulation, </a:t>
            </a:r>
            <a:r>
              <a:rPr lang="en-US" sz="1200" dirty="0">
                <a:solidFill>
                  <a:srgbClr val="2B3340"/>
                </a:solidFill>
                <a:latin typeface="Calibri" pitchFamily="34" charset="0"/>
                <a:ea typeface="Calibri" pitchFamily="34" charset="-122"/>
                <a:cs typeface="Calibri" pitchFamily="34" charset="-120"/>
              </a:rPr>
              <a:t>but a real robot could not afford this.</a:t>
            </a:r>
            <a:endParaRPr lang="en-US" sz="1200" dirty="0"/>
          </a:p>
          <a:p>
            <a:pPr marL="139700" indent="-139700">
              <a:spcAft>
                <a:spcPts val="600"/>
              </a:spcAft>
              <a:buSzPct val="100000"/>
              <a:buChar char="•"/>
            </a:pPr>
            <a:r>
              <a:rPr lang="en-US" sz="1200" b="1" dirty="0">
                <a:solidFill>
                  <a:srgbClr val="2B3340"/>
                </a:solidFill>
                <a:latin typeface="Calibri" pitchFamily="34" charset="0"/>
                <a:ea typeface="Calibri" pitchFamily="34" charset="-122"/>
                <a:cs typeface="Calibri" pitchFamily="34" charset="-120"/>
              </a:rPr>
              <a:t>Method 4 used 43× </a:t>
            </a:r>
            <a:r>
              <a:rPr lang="en-US" sz="1200" dirty="0">
                <a:solidFill>
                  <a:srgbClr val="2B3340"/>
                </a:solidFill>
                <a:latin typeface="Calibri" pitchFamily="34" charset="0"/>
                <a:ea typeface="Calibri" pitchFamily="34" charset="-122"/>
                <a:cs typeface="Calibri" pitchFamily="34" charset="-120"/>
              </a:rPr>
              <a:t>the iterations of Method 2 (with a better gait reference).</a:t>
            </a:r>
            <a:endParaRPr lang="en-US" sz="1200" dirty="0"/>
          </a:p>
        </p:txBody>
      </p:sp>
      <p:sp>
        <p:nvSpPr>
          <p:cNvPr id="16" name="Shape 12"/>
          <p:cNvSpPr/>
          <p:nvPr/>
        </p:nvSpPr>
        <p:spPr>
          <a:xfrm>
            <a:off x="6062472" y="1051560"/>
            <a:ext cx="2624328" cy="3611880"/>
          </a:xfrm>
          <a:prstGeom prst="roundRect">
            <a:avLst>
              <a:gd name="adj" fmla="val 278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3"/>
          <p:cNvSpPr/>
          <p:nvPr/>
        </p:nvSpPr>
        <p:spPr>
          <a:xfrm>
            <a:off x="6199632" y="1161288"/>
            <a:ext cx="420624" cy="420624"/>
          </a:xfrm>
          <a:prstGeom prst="ellipse">
            <a:avLst/>
          </a:prstGeom>
          <a:solidFill>
            <a:srgbClr val="1F7AC0"/>
          </a:solidFill>
          <a:ln w="12700">
            <a:solidFill>
              <a:srgbClr val="1F7AC0"/>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6304788" y="1266444"/>
            <a:ext cx="210312" cy="210312"/>
          </a:xfrm>
          <a:prstGeom prst="rect">
            <a:avLst/>
          </a:prstGeom>
        </p:spPr>
      </p:pic>
      <p:sp>
        <p:nvSpPr>
          <p:cNvPr id="19" name="Text 14"/>
          <p:cNvSpPr txBox="1"/>
          <p:nvPr/>
        </p:nvSpPr>
        <p:spPr>
          <a:xfrm>
            <a:off x="6720840" y="1161288"/>
            <a:ext cx="1874520" cy="420624"/>
          </a:xfrm>
          <a:prstGeom prst="rect">
            <a:avLst/>
          </a:prstGeom>
          <a:noFill/>
          <a:ln/>
        </p:spPr>
        <p:txBody>
          <a:bodyPr wrap="square" lIns="0" tIns="0" rIns="0" bIns="0" rtlCol="0" anchor="ctr"/>
          <a:lstStyle/>
          <a:p>
            <a:pPr marL="0" indent="0">
              <a:buNone/>
            </a:pPr>
            <a:r>
              <a:rPr lang="en-US" sz="1400" b="1" dirty="0">
                <a:solidFill>
                  <a:srgbClr val="2B3340"/>
                </a:solidFill>
                <a:latin typeface="Cambria" pitchFamily="34" charset="0"/>
                <a:ea typeface="Cambria" pitchFamily="34" charset="-122"/>
                <a:cs typeface="Cambria" pitchFamily="34" charset="-120"/>
              </a:rPr>
              <a:t>Regret</a:t>
            </a:r>
            <a:endParaRPr lang="en-US" sz="1400" dirty="0"/>
          </a:p>
        </p:txBody>
      </p:sp>
      <p:sp>
        <p:nvSpPr>
          <p:cNvPr id="20" name="Text 15"/>
          <p:cNvSpPr txBox="1"/>
          <p:nvPr/>
        </p:nvSpPr>
        <p:spPr>
          <a:xfrm>
            <a:off x="6199632" y="1719072"/>
            <a:ext cx="2359152" cy="2834640"/>
          </a:xfrm>
          <a:prstGeom prst="rect">
            <a:avLst/>
          </a:prstGeom>
          <a:noFill/>
          <a:ln/>
        </p:spPr>
        <p:txBody>
          <a:bodyPr wrap="square" lIns="0" tIns="0" rIns="0" bIns="0" rtlCol="0" anchor="t"/>
          <a:lstStyle/>
          <a:p>
            <a:pPr marL="139700" indent="-139700">
              <a:spcAft>
                <a:spcPts val="600"/>
              </a:spcAft>
              <a:buSzPct val="100000"/>
              <a:buChar char="•"/>
            </a:pPr>
            <a:r>
              <a:rPr lang="en-US" sz="1200" b="1" dirty="0">
                <a:solidFill>
                  <a:srgbClr val="2B3340"/>
                </a:solidFill>
                <a:latin typeface="Calibri" pitchFamily="34" charset="0"/>
                <a:ea typeface="Calibri" pitchFamily="34" charset="-122"/>
                <a:cs typeface="Calibri" pitchFamily="34" charset="-120"/>
              </a:rPr>
              <a:t>Meaning: </a:t>
            </a:r>
            <a:r>
              <a:rPr lang="en-US" sz="1200" dirty="0">
                <a:solidFill>
                  <a:srgbClr val="2B3340"/>
                </a:solidFill>
                <a:latin typeface="Calibri" pitchFamily="34" charset="0"/>
                <a:ea typeface="Calibri" pitchFamily="34" charset="-122"/>
                <a:cs typeface="Calibri" pitchFamily="34" charset="-120"/>
              </a:rPr>
              <a:t>reward lost while still learning, compared with acting perfectly from the start (area between the ideal reward and the learning curve).</a:t>
            </a:r>
            <a:endParaRPr lang="en-US" sz="1200" dirty="0"/>
          </a:p>
          <a:p>
            <a:pPr marL="139700" indent="-139700">
              <a:spcAft>
                <a:spcPts val="600"/>
              </a:spcAft>
              <a:buSzPct val="100000"/>
              <a:buChar char="•"/>
            </a:pPr>
            <a:r>
              <a:rPr lang="en-US" sz="1200" b="1" dirty="0">
                <a:solidFill>
                  <a:srgbClr val="2B3340"/>
                </a:solidFill>
                <a:latin typeface="Calibri" pitchFamily="34" charset="0"/>
                <a:ea typeface="Calibri" pitchFamily="34" charset="-122"/>
                <a:cs typeface="Calibri" pitchFamily="34" charset="-120"/>
              </a:rPr>
              <a:t>Not computed exactly: </a:t>
            </a:r>
            <a:r>
              <a:rPr lang="en-US" sz="1200" dirty="0">
                <a:solidFill>
                  <a:srgbClr val="2B3340"/>
                </a:solidFill>
                <a:latin typeface="Calibri" pitchFamily="34" charset="0"/>
                <a:ea typeface="Calibri" pitchFamily="34" charset="-122"/>
                <a:cs typeface="Calibri" pitchFamily="34" charset="-120"/>
              </a:rPr>
              <a:t>the ideal reward for walking is unknown.</a:t>
            </a:r>
            <a:endParaRPr lang="en-US" sz="1200" dirty="0"/>
          </a:p>
          <a:p>
            <a:pPr marL="139700" indent="-139700">
              <a:spcAft>
                <a:spcPts val="600"/>
              </a:spcAft>
              <a:buSzPct val="100000"/>
              <a:buChar char="•"/>
            </a:pPr>
            <a:r>
              <a:rPr lang="en-US" sz="1200" b="1" dirty="0">
                <a:solidFill>
                  <a:srgbClr val="2B3340"/>
                </a:solidFill>
                <a:latin typeface="Calibri" pitchFamily="34" charset="0"/>
                <a:ea typeface="Calibri" pitchFamily="34" charset="-122"/>
                <a:cs typeface="Calibri" pitchFamily="34" charset="-120"/>
              </a:rPr>
              <a:t>Proxy: </a:t>
            </a:r>
            <a:r>
              <a:rPr lang="en-US" sz="1200" dirty="0">
                <a:solidFill>
                  <a:srgbClr val="2B3340"/>
                </a:solidFill>
                <a:latin typeface="Calibri" pitchFamily="34" charset="0"/>
                <a:ea typeface="Calibri" pitchFamily="34" charset="-122"/>
                <a:cs typeface="Calibri" pitchFamily="34" charset="-120"/>
              </a:rPr>
              <a:t>iterations needed to reach a good walking speed. A 4-stage curriculum (easy speeds first) keeps early failures cheap.</a:t>
            </a:r>
            <a:endParaRPr lang="en-US" sz="12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50">
                <a:solidFill>
                  <a:srgbClr val="667085"/>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457200" y="219456"/>
            <a:ext cx="3360420" cy="219456"/>
          </a:xfrm>
          <a:prstGeom prst="roundRect">
            <a:avLst>
              <a:gd name="adj" fmla="val 20833"/>
            </a:avLst>
          </a:prstGeom>
          <a:solidFill>
            <a:srgbClr val="E6F1FA"/>
          </a:solidFill>
          <a:ln w="12700">
            <a:solidFill>
              <a:srgbClr val="E6F1FA"/>
            </a:solidFill>
            <a:prstDash val="solid"/>
          </a:ln>
        </p:spPr>
        <p:txBody>
          <a:bodyPr/>
          <a:lstStyle/>
          <a:p>
            <a:endParaRPr lang="en-US"/>
          </a:p>
        </p:txBody>
      </p:sp>
      <p:sp>
        <p:nvSpPr>
          <p:cNvPr id="3" name="Text 1"/>
          <p:cNvSpPr txBox="1"/>
          <p:nvPr/>
        </p:nvSpPr>
        <p:spPr>
          <a:xfrm>
            <a:off x="457200" y="219456"/>
            <a:ext cx="3360420" cy="219456"/>
          </a:xfrm>
          <a:prstGeom prst="rect">
            <a:avLst/>
          </a:prstGeom>
          <a:noFill/>
          <a:ln/>
        </p:spPr>
        <p:txBody>
          <a:bodyPr wrap="square" lIns="0" tIns="0" rIns="0" bIns="0" rtlCol="0" anchor="ctr"/>
          <a:lstStyle/>
          <a:p>
            <a:pPr marL="0" indent="0" algn="ctr">
              <a:buNone/>
            </a:pPr>
            <a:r>
              <a:rPr lang="en-US" sz="850" b="1" kern="0" spc="100" dirty="0">
                <a:solidFill>
                  <a:srgbClr val="1F7AC0"/>
                </a:solidFill>
                <a:latin typeface="Calibri" pitchFamily="34" charset="0"/>
                <a:ea typeface="Calibri" pitchFamily="34" charset="-122"/>
                <a:cs typeface="Calibri" pitchFamily="34" charset="-120"/>
              </a:rPr>
              <a:t>PART II  ·  CO5  ·  TRY NEW vs USE WHAT WORKS</a:t>
            </a:r>
            <a:endParaRPr lang="en-US" sz="850" dirty="0"/>
          </a:p>
        </p:txBody>
      </p:sp>
      <p:sp>
        <p:nvSpPr>
          <p:cNvPr id="4" name="Text 2"/>
          <p:cNvSpPr txBox="1"/>
          <p:nvPr/>
        </p:nvSpPr>
        <p:spPr>
          <a:xfrm>
            <a:off x="457200" y="475488"/>
            <a:ext cx="8229600" cy="502920"/>
          </a:xfrm>
          <a:prstGeom prst="rect">
            <a:avLst/>
          </a:prstGeom>
          <a:noFill/>
          <a:ln/>
        </p:spPr>
        <p:txBody>
          <a:bodyPr wrap="square" lIns="0" tIns="0" rIns="0" bIns="0" rtlCol="0" anchor="ctr"/>
          <a:lstStyle/>
          <a:p>
            <a:pPr marL="0" indent="0">
              <a:buNone/>
            </a:pPr>
            <a:r>
              <a:rPr lang="en-US" sz="2600" b="1" dirty="0">
                <a:solidFill>
                  <a:srgbClr val="2B3340"/>
                </a:solidFill>
                <a:latin typeface="Cambria" pitchFamily="34" charset="0"/>
                <a:ea typeface="Cambria" pitchFamily="34" charset="-122"/>
                <a:cs typeface="Cambria" pitchFamily="34" charset="-120"/>
              </a:rPr>
              <a:t>Exploration vs Exploitation</a:t>
            </a:r>
            <a:endParaRPr lang="en-US" sz="2600" dirty="0"/>
          </a:p>
        </p:txBody>
      </p:sp>
      <p:sp>
        <p:nvSpPr>
          <p:cNvPr id="5" name="Text 3"/>
          <p:cNvSpPr txBox="1"/>
          <p:nvPr/>
        </p:nvSpPr>
        <p:spPr>
          <a:xfrm>
            <a:off x="457200" y="4846320"/>
            <a:ext cx="4572000" cy="201168"/>
          </a:xfrm>
          <a:prstGeom prst="rect">
            <a:avLst/>
          </a:prstGeom>
          <a:noFill/>
          <a:ln/>
        </p:spPr>
        <p:txBody>
          <a:bodyPr wrap="square" lIns="0" tIns="0" rIns="0" bIns="0" rtlCol="0" anchor="ctr"/>
          <a:lstStyle/>
          <a:p>
            <a:pPr marL="0" indent="0">
              <a:buNone/>
            </a:pPr>
            <a:r>
              <a:rPr lang="en-US" sz="850" dirty="0">
                <a:solidFill>
                  <a:srgbClr val="667085"/>
                </a:solidFill>
                <a:latin typeface="Calibri" pitchFamily="34" charset="0"/>
                <a:ea typeface="Calibri" pitchFamily="34" charset="-122"/>
                <a:cs typeface="Calibri" pitchFamily="34" charset="-120"/>
              </a:rPr>
              <a:t>RL Mini-Project  ·  Angad biped walking</a:t>
            </a:r>
            <a:endParaRPr lang="en-US" sz="850" dirty="0"/>
          </a:p>
        </p:txBody>
      </p:sp>
      <p:sp>
        <p:nvSpPr>
          <p:cNvPr id="6" name="Shape 4"/>
          <p:cNvSpPr/>
          <p:nvPr/>
        </p:nvSpPr>
        <p:spPr>
          <a:xfrm>
            <a:off x="457200" y="1051560"/>
            <a:ext cx="4206240" cy="777240"/>
          </a:xfrm>
          <a:prstGeom prst="roundRect">
            <a:avLst>
              <a:gd name="adj" fmla="val 9412"/>
            </a:avLst>
          </a:prstGeom>
          <a:solidFill>
            <a:srgbClr val="FFF1E0"/>
          </a:solidFill>
          <a:ln w="12700">
            <a:solidFill>
              <a:srgbClr val="FFF1E0"/>
            </a:solidFill>
            <a:prstDash val="solid"/>
          </a:ln>
        </p:spPr>
        <p:txBody>
          <a:bodyPr/>
          <a:lstStyle/>
          <a:p>
            <a:endParaRPr lang="en-US"/>
          </a:p>
        </p:txBody>
      </p:sp>
      <p:sp>
        <p:nvSpPr>
          <p:cNvPr id="7" name="Shape 5"/>
          <p:cNvSpPr/>
          <p:nvPr/>
        </p:nvSpPr>
        <p:spPr>
          <a:xfrm>
            <a:off x="566928" y="1188720"/>
            <a:ext cx="502920" cy="502920"/>
          </a:xfrm>
          <a:prstGeom prst="ellipse">
            <a:avLst/>
          </a:prstGeom>
          <a:solidFill>
            <a:srgbClr val="F28C28"/>
          </a:solidFill>
          <a:ln w="12700">
            <a:solidFill>
              <a:srgbClr val="F28C28"/>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692658" y="1314450"/>
            <a:ext cx="251460" cy="251460"/>
          </a:xfrm>
          <a:prstGeom prst="rect">
            <a:avLst/>
          </a:prstGeom>
        </p:spPr>
      </p:pic>
      <p:sp>
        <p:nvSpPr>
          <p:cNvPr id="9" name="Text 6"/>
          <p:cNvSpPr txBox="1"/>
          <p:nvPr/>
        </p:nvSpPr>
        <p:spPr>
          <a:xfrm>
            <a:off x="1207008" y="1051560"/>
            <a:ext cx="3383280" cy="777240"/>
          </a:xfrm>
          <a:prstGeom prst="rect">
            <a:avLst/>
          </a:prstGeom>
          <a:noFill/>
          <a:ln/>
        </p:spPr>
        <p:txBody>
          <a:bodyPr wrap="square" lIns="0" tIns="0" rIns="0" bIns="0" rtlCol="0" anchor="ctr"/>
          <a:lstStyle/>
          <a:p>
            <a:pPr marL="0" indent="0">
              <a:buNone/>
            </a:pPr>
            <a:r>
              <a:rPr lang="en-US" sz="1100" b="1" dirty="0">
                <a:solidFill>
                  <a:srgbClr val="F28C28"/>
                </a:solidFill>
                <a:latin typeface="Calibri" pitchFamily="34" charset="0"/>
                <a:ea typeface="Calibri" pitchFamily="34" charset="-122"/>
                <a:cs typeface="Calibri" pitchFamily="34" charset="-120"/>
              </a:rPr>
              <a:t>Where to eat tonight?  </a:t>
            </a:r>
            <a:r>
              <a:rPr lang="en-US" sz="1100" dirty="0">
                <a:solidFill>
                  <a:srgbClr val="2B3340"/>
                </a:solidFill>
                <a:latin typeface="Calibri" pitchFamily="34" charset="0"/>
                <a:ea typeface="Calibri" pitchFamily="34" charset="-122"/>
                <a:cs typeface="Calibri" pitchFamily="34" charset="-120"/>
              </a:rPr>
              <a:t>Try a new restaurant (explore) or go to your favourite (exploit)? A learner needs both.</a:t>
            </a:r>
            <a:endParaRPr lang="en-US" sz="1100" dirty="0"/>
          </a:p>
        </p:txBody>
      </p:sp>
      <p:sp>
        <p:nvSpPr>
          <p:cNvPr id="10" name="Shape 7"/>
          <p:cNvSpPr/>
          <p:nvPr/>
        </p:nvSpPr>
        <p:spPr>
          <a:xfrm>
            <a:off x="457200" y="1920240"/>
            <a:ext cx="4206240" cy="777240"/>
          </a:xfrm>
          <a:prstGeom prst="roundRect">
            <a:avLst>
              <a:gd name="adj" fmla="val 9412"/>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11" name="Text 8"/>
          <p:cNvSpPr txBox="1"/>
          <p:nvPr/>
        </p:nvSpPr>
        <p:spPr>
          <a:xfrm>
            <a:off x="594360" y="1920240"/>
            <a:ext cx="3977640" cy="777240"/>
          </a:xfrm>
          <a:prstGeom prst="rect">
            <a:avLst/>
          </a:prstGeom>
          <a:noFill/>
          <a:ln/>
        </p:spPr>
        <p:txBody>
          <a:bodyPr wrap="square" lIns="0" tIns="0" rIns="0" bIns="0" rtlCol="0" anchor="ctr"/>
          <a:lstStyle/>
          <a:p>
            <a:pPr marL="0" indent="0">
              <a:buNone/>
            </a:pPr>
            <a:r>
              <a:rPr lang="en-US" sz="1100" b="1" dirty="0">
                <a:solidFill>
                  <a:srgbClr val="1F7AC0"/>
                </a:solidFill>
                <a:latin typeface="Calibri" pitchFamily="34" charset="0"/>
                <a:ea typeface="Calibri" pitchFamily="34" charset="-122"/>
                <a:cs typeface="Calibri" pitchFamily="34" charset="-120"/>
              </a:rPr>
              <a:t>Basic Q-learning: ε-greedy</a:t>
            </a:r>
            <a:endParaRPr lang="en-US" sz="1100" dirty="0"/>
          </a:p>
          <a:p>
            <a:pPr marL="0" indent="0">
              <a:buNone/>
            </a:pPr>
            <a:r>
              <a:rPr lang="en-US" sz="1100" dirty="0">
                <a:solidFill>
                  <a:srgbClr val="2B3340"/>
                </a:solidFill>
                <a:latin typeface="Calibri" pitchFamily="34" charset="0"/>
                <a:ea typeface="Calibri" pitchFamily="34" charset="-122"/>
                <a:cs typeface="Calibri" pitchFamily="34" charset="-120"/>
              </a:rPr>
              <a:t>With probability ε pick a random action, otherwise the best-known one.</a:t>
            </a:r>
            <a:endParaRPr lang="en-US" sz="1100" dirty="0"/>
          </a:p>
        </p:txBody>
      </p:sp>
      <p:sp>
        <p:nvSpPr>
          <p:cNvPr id="12" name="Shape 9"/>
          <p:cNvSpPr/>
          <p:nvPr/>
        </p:nvSpPr>
        <p:spPr>
          <a:xfrm>
            <a:off x="457200" y="2788920"/>
            <a:ext cx="4206240" cy="1005840"/>
          </a:xfrm>
          <a:prstGeom prst="roundRect">
            <a:avLst>
              <a:gd name="adj" fmla="val 727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13" name="Text 10"/>
          <p:cNvSpPr txBox="1"/>
          <p:nvPr/>
        </p:nvSpPr>
        <p:spPr>
          <a:xfrm>
            <a:off x="594360" y="2788920"/>
            <a:ext cx="3977640" cy="1005840"/>
          </a:xfrm>
          <a:prstGeom prst="rect">
            <a:avLst/>
          </a:prstGeom>
          <a:noFill/>
          <a:ln/>
        </p:spPr>
        <p:txBody>
          <a:bodyPr wrap="square" lIns="0" tIns="0" rIns="0" bIns="0" rtlCol="0" anchor="ctr"/>
          <a:lstStyle/>
          <a:p>
            <a:pPr marL="0" indent="0">
              <a:buNone/>
            </a:pPr>
            <a:r>
              <a:rPr lang="en-US" sz="1100" b="1" dirty="0">
                <a:solidFill>
                  <a:srgbClr val="1F7AC0"/>
                </a:solidFill>
                <a:latin typeface="Calibri" pitchFamily="34" charset="0"/>
                <a:ea typeface="Calibri" pitchFamily="34" charset="-122"/>
                <a:cs typeface="Calibri" pitchFamily="34" charset="-120"/>
              </a:rPr>
              <a:t>PPO (ours): a bell curve per joint</a:t>
            </a:r>
            <a:endParaRPr lang="en-US" sz="1100" dirty="0"/>
          </a:p>
          <a:p>
            <a:pPr marL="0" indent="0">
              <a:buNone/>
            </a:pPr>
            <a:r>
              <a:rPr lang="en-US" sz="1100" dirty="0">
                <a:solidFill>
                  <a:srgbClr val="2B3340"/>
                </a:solidFill>
                <a:latin typeface="Calibri" pitchFamily="34" charset="0"/>
                <a:ea typeface="Calibri" pitchFamily="34" charset="-122"/>
                <a:cs typeface="Calibri" pitchFamily="34" charset="-120"/>
              </a:rPr>
              <a:t>The Actor outputs, for every joint, a centre (best-known angle = exploit) and a width (how far it experiments = explore). The action is sampled from this bell curve.</a:t>
            </a:r>
            <a:endParaRPr lang="en-US" sz="1100" dirty="0"/>
          </a:p>
        </p:txBody>
      </p:sp>
      <p:graphicFrame>
        <p:nvGraphicFramePr>
          <p:cNvPr id="14" name="Chart 0"/>
          <p:cNvGraphicFramePr/>
          <p:nvPr/>
        </p:nvGraphicFramePr>
        <p:xfrm>
          <a:off x="4846320" y="1051560"/>
          <a:ext cx="3840480" cy="2423160"/>
        </p:xfrm>
        <a:graphic>
          <a:graphicData uri="http://schemas.openxmlformats.org/drawingml/2006/chart">
            <c:chart xmlns:c="http://schemas.openxmlformats.org/drawingml/2006/chart" xmlns:r="http://schemas.openxmlformats.org/officeDocument/2006/relationships" r:id="rId4"/>
          </a:graphicData>
        </a:graphic>
      </p:graphicFrame>
      <p:sp>
        <p:nvSpPr>
          <p:cNvPr id="15" name="Text 11"/>
          <p:cNvSpPr txBox="1"/>
          <p:nvPr/>
        </p:nvSpPr>
        <p:spPr>
          <a:xfrm>
            <a:off x="4846320" y="3493008"/>
            <a:ext cx="3840480" cy="274320"/>
          </a:xfrm>
          <a:prstGeom prst="rect">
            <a:avLst/>
          </a:prstGeom>
          <a:noFill/>
          <a:ln/>
        </p:spPr>
        <p:txBody>
          <a:bodyPr wrap="square" lIns="0" tIns="0" rIns="0" bIns="0" rtlCol="0" anchor="ctr"/>
          <a:lstStyle/>
          <a:p>
            <a:pPr marL="0" indent="0">
              <a:buNone/>
            </a:pPr>
            <a:r>
              <a:rPr lang="en-US" sz="950" i="1" dirty="0">
                <a:solidFill>
                  <a:srgbClr val="667085"/>
                </a:solidFill>
                <a:latin typeface="Calibri" pitchFamily="34" charset="0"/>
                <a:ea typeface="Calibri" pitchFamily="34" charset="-122"/>
                <a:cs typeface="Calibri" pitchFamily="34" charset="-120"/>
              </a:rPr>
              <a:t>Illustrative shape: the noise shrinks as the policy improves.</a:t>
            </a:r>
            <a:endParaRPr lang="en-US" sz="950" dirty="0"/>
          </a:p>
        </p:txBody>
      </p:sp>
      <p:sp>
        <p:nvSpPr>
          <p:cNvPr id="16" name="Shape 12"/>
          <p:cNvSpPr/>
          <p:nvPr/>
        </p:nvSpPr>
        <p:spPr>
          <a:xfrm>
            <a:off x="457200" y="3931920"/>
            <a:ext cx="1920240" cy="777240"/>
          </a:xfrm>
          <a:prstGeom prst="roundRect">
            <a:avLst>
              <a:gd name="adj" fmla="val 9412"/>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17" name="Text 13"/>
          <p:cNvSpPr txBox="1"/>
          <p:nvPr/>
        </p:nvSpPr>
        <p:spPr>
          <a:xfrm>
            <a:off x="566928" y="3968496"/>
            <a:ext cx="1737360" cy="201168"/>
          </a:xfrm>
          <a:prstGeom prst="rect">
            <a:avLst/>
          </a:prstGeom>
          <a:noFill/>
          <a:ln/>
        </p:spPr>
        <p:txBody>
          <a:bodyPr wrap="square" lIns="0" tIns="0" rIns="0" bIns="0" rtlCol="0" anchor="ctr"/>
          <a:lstStyle/>
          <a:p>
            <a:pPr marL="0" indent="0">
              <a:buNone/>
            </a:pPr>
            <a:r>
              <a:rPr lang="en-US" sz="900" b="1" kern="0" spc="150" dirty="0">
                <a:solidFill>
                  <a:srgbClr val="F28C28"/>
                </a:solidFill>
                <a:latin typeface="Calibri" pitchFamily="34" charset="0"/>
                <a:ea typeface="Calibri" pitchFamily="34" charset="-122"/>
                <a:cs typeface="Calibri" pitchFamily="34" charset="-120"/>
              </a:rPr>
              <a:t>EXPLORE</a:t>
            </a:r>
            <a:endParaRPr lang="en-US" sz="900" dirty="0"/>
          </a:p>
        </p:txBody>
      </p:sp>
      <p:sp>
        <p:nvSpPr>
          <p:cNvPr id="18" name="Text 14"/>
          <p:cNvSpPr txBox="1"/>
          <p:nvPr/>
        </p:nvSpPr>
        <p:spPr>
          <a:xfrm>
            <a:off x="566928" y="4169664"/>
            <a:ext cx="1737360" cy="512064"/>
          </a:xfrm>
          <a:prstGeom prst="rect">
            <a:avLst/>
          </a:prstGeom>
          <a:noFill/>
          <a:ln/>
        </p:spPr>
        <p:txBody>
          <a:bodyPr wrap="square" lIns="0" tIns="0" rIns="0" bIns="0" rtlCol="0" anchor="t"/>
          <a:lstStyle/>
          <a:p>
            <a:pPr marL="0" indent="0">
              <a:buNone/>
            </a:pPr>
            <a:r>
              <a:rPr lang="en-US" sz="1000" dirty="0">
                <a:solidFill>
                  <a:srgbClr val="2B3340"/>
                </a:solidFill>
                <a:latin typeface="Calibri" pitchFamily="34" charset="0"/>
                <a:ea typeface="Calibri" pitchFamily="34" charset="-122"/>
                <a:cs typeface="Calibri" pitchFamily="34" charset="-120"/>
              </a:rPr>
              <a:t>Initial noise std = 1.0 (start wide)</a:t>
            </a:r>
            <a:endParaRPr lang="en-US" sz="1000" dirty="0"/>
          </a:p>
        </p:txBody>
      </p:sp>
      <p:sp>
        <p:nvSpPr>
          <p:cNvPr id="19" name="Shape 15"/>
          <p:cNvSpPr/>
          <p:nvPr/>
        </p:nvSpPr>
        <p:spPr>
          <a:xfrm>
            <a:off x="2560320" y="3931920"/>
            <a:ext cx="1920240" cy="777240"/>
          </a:xfrm>
          <a:prstGeom prst="roundRect">
            <a:avLst>
              <a:gd name="adj" fmla="val 9412"/>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20" name="Text 16"/>
          <p:cNvSpPr txBox="1"/>
          <p:nvPr/>
        </p:nvSpPr>
        <p:spPr>
          <a:xfrm>
            <a:off x="2670048" y="3968496"/>
            <a:ext cx="1737360" cy="201168"/>
          </a:xfrm>
          <a:prstGeom prst="rect">
            <a:avLst/>
          </a:prstGeom>
          <a:noFill/>
          <a:ln/>
        </p:spPr>
        <p:txBody>
          <a:bodyPr wrap="square" lIns="0" tIns="0" rIns="0" bIns="0" rtlCol="0" anchor="ctr"/>
          <a:lstStyle/>
          <a:p>
            <a:pPr marL="0" indent="0">
              <a:buNone/>
            </a:pPr>
            <a:r>
              <a:rPr lang="en-US" sz="900" b="1" kern="0" spc="150" dirty="0">
                <a:solidFill>
                  <a:srgbClr val="F28C28"/>
                </a:solidFill>
                <a:latin typeface="Calibri" pitchFamily="34" charset="0"/>
                <a:ea typeface="Calibri" pitchFamily="34" charset="-122"/>
                <a:cs typeface="Calibri" pitchFamily="34" charset="-120"/>
              </a:rPr>
              <a:t>EXPLORE</a:t>
            </a:r>
            <a:endParaRPr lang="en-US" sz="900" dirty="0"/>
          </a:p>
        </p:txBody>
      </p:sp>
      <p:sp>
        <p:nvSpPr>
          <p:cNvPr id="21" name="Text 17"/>
          <p:cNvSpPr txBox="1"/>
          <p:nvPr/>
        </p:nvSpPr>
        <p:spPr>
          <a:xfrm>
            <a:off x="2670048" y="4169664"/>
            <a:ext cx="1737360" cy="512064"/>
          </a:xfrm>
          <a:prstGeom prst="rect">
            <a:avLst/>
          </a:prstGeom>
          <a:noFill/>
          <a:ln/>
        </p:spPr>
        <p:txBody>
          <a:bodyPr wrap="square" lIns="0" tIns="0" rIns="0" bIns="0" rtlCol="0" anchor="t"/>
          <a:lstStyle/>
          <a:p>
            <a:pPr marL="0" indent="0">
              <a:buNone/>
            </a:pPr>
            <a:r>
              <a:rPr lang="en-US" sz="1000" dirty="0">
                <a:solidFill>
                  <a:srgbClr val="2B3340"/>
                </a:solidFill>
                <a:latin typeface="Calibri" pitchFamily="34" charset="0"/>
                <a:ea typeface="Calibri" pitchFamily="34" charset="-122"/>
                <a:cs typeface="Calibri" pitchFamily="34" charset="-120"/>
              </a:rPr>
              <a:t>Entropy bonus 0.01 keeps some randomness</a:t>
            </a:r>
            <a:endParaRPr lang="en-US" sz="1000" dirty="0"/>
          </a:p>
        </p:txBody>
      </p:sp>
      <p:sp>
        <p:nvSpPr>
          <p:cNvPr id="22" name="Shape 18"/>
          <p:cNvSpPr/>
          <p:nvPr/>
        </p:nvSpPr>
        <p:spPr>
          <a:xfrm>
            <a:off x="4663440" y="3931920"/>
            <a:ext cx="1920240" cy="777240"/>
          </a:xfrm>
          <a:prstGeom prst="roundRect">
            <a:avLst>
              <a:gd name="adj" fmla="val 9412"/>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23" name="Text 19"/>
          <p:cNvSpPr txBox="1"/>
          <p:nvPr/>
        </p:nvSpPr>
        <p:spPr>
          <a:xfrm>
            <a:off x="4773168" y="3968496"/>
            <a:ext cx="1737360" cy="201168"/>
          </a:xfrm>
          <a:prstGeom prst="rect">
            <a:avLst/>
          </a:prstGeom>
          <a:noFill/>
          <a:ln/>
        </p:spPr>
        <p:txBody>
          <a:bodyPr wrap="square" lIns="0" tIns="0" rIns="0" bIns="0" rtlCol="0" anchor="ctr"/>
          <a:lstStyle/>
          <a:p>
            <a:pPr marL="0" indent="0">
              <a:buNone/>
            </a:pPr>
            <a:r>
              <a:rPr lang="en-US" sz="900" b="1" kern="0" spc="150" dirty="0">
                <a:solidFill>
                  <a:srgbClr val="F28C28"/>
                </a:solidFill>
                <a:latin typeface="Calibri" pitchFamily="34" charset="0"/>
                <a:ea typeface="Calibri" pitchFamily="34" charset="-122"/>
                <a:cs typeface="Calibri" pitchFamily="34" charset="-120"/>
              </a:rPr>
              <a:t>EXPLORE</a:t>
            </a:r>
            <a:endParaRPr lang="en-US" sz="900" dirty="0"/>
          </a:p>
        </p:txBody>
      </p:sp>
      <p:sp>
        <p:nvSpPr>
          <p:cNvPr id="24" name="Text 20"/>
          <p:cNvSpPr txBox="1"/>
          <p:nvPr/>
        </p:nvSpPr>
        <p:spPr>
          <a:xfrm>
            <a:off x="4773168" y="4169664"/>
            <a:ext cx="1737360" cy="512064"/>
          </a:xfrm>
          <a:prstGeom prst="rect">
            <a:avLst/>
          </a:prstGeom>
          <a:noFill/>
          <a:ln/>
        </p:spPr>
        <p:txBody>
          <a:bodyPr wrap="square" lIns="0" tIns="0" rIns="0" bIns="0" rtlCol="0" anchor="t"/>
          <a:lstStyle/>
          <a:p>
            <a:pPr marL="0" indent="0">
              <a:buNone/>
            </a:pPr>
            <a:r>
              <a:rPr lang="en-US" sz="1000" dirty="0">
                <a:solidFill>
                  <a:srgbClr val="2B3340"/>
                </a:solidFill>
                <a:latin typeface="Calibri" pitchFamily="34" charset="0"/>
                <a:ea typeface="Calibri" pitchFamily="34" charset="-122"/>
                <a:cs typeface="Calibri" pitchFamily="34" charset="-120"/>
              </a:rPr>
              <a:t>Random pushes every 1–3 s, random start pose and friction</a:t>
            </a:r>
            <a:endParaRPr lang="en-US" sz="1000" dirty="0"/>
          </a:p>
        </p:txBody>
      </p:sp>
      <p:sp>
        <p:nvSpPr>
          <p:cNvPr id="25" name="Shape 21"/>
          <p:cNvSpPr/>
          <p:nvPr/>
        </p:nvSpPr>
        <p:spPr>
          <a:xfrm>
            <a:off x="6766560" y="3931920"/>
            <a:ext cx="1920240" cy="777240"/>
          </a:xfrm>
          <a:prstGeom prst="roundRect">
            <a:avLst>
              <a:gd name="adj" fmla="val 9412"/>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26" name="Text 22"/>
          <p:cNvSpPr txBox="1"/>
          <p:nvPr/>
        </p:nvSpPr>
        <p:spPr>
          <a:xfrm>
            <a:off x="6876288" y="3968496"/>
            <a:ext cx="1737360" cy="201168"/>
          </a:xfrm>
          <a:prstGeom prst="rect">
            <a:avLst/>
          </a:prstGeom>
          <a:noFill/>
          <a:ln/>
        </p:spPr>
        <p:txBody>
          <a:bodyPr wrap="square" lIns="0" tIns="0" rIns="0" bIns="0" rtlCol="0" anchor="ctr"/>
          <a:lstStyle/>
          <a:p>
            <a:pPr marL="0" indent="0">
              <a:buNone/>
            </a:pPr>
            <a:r>
              <a:rPr lang="en-US" sz="900" b="1" kern="0" spc="150" dirty="0">
                <a:solidFill>
                  <a:srgbClr val="1F7AC0"/>
                </a:solidFill>
                <a:latin typeface="Calibri" pitchFamily="34" charset="0"/>
                <a:ea typeface="Calibri" pitchFamily="34" charset="-122"/>
                <a:cs typeface="Calibri" pitchFamily="34" charset="-120"/>
              </a:rPr>
              <a:t>EXPLOIT</a:t>
            </a:r>
            <a:endParaRPr lang="en-US" sz="900" dirty="0"/>
          </a:p>
        </p:txBody>
      </p:sp>
      <p:sp>
        <p:nvSpPr>
          <p:cNvPr id="27" name="Text 23"/>
          <p:cNvSpPr txBox="1"/>
          <p:nvPr/>
        </p:nvSpPr>
        <p:spPr>
          <a:xfrm>
            <a:off x="6876288" y="4169664"/>
            <a:ext cx="1737360" cy="512064"/>
          </a:xfrm>
          <a:prstGeom prst="rect">
            <a:avLst/>
          </a:prstGeom>
          <a:noFill/>
          <a:ln/>
        </p:spPr>
        <p:txBody>
          <a:bodyPr wrap="square" lIns="0" tIns="0" rIns="0" bIns="0" rtlCol="0" anchor="t"/>
          <a:lstStyle/>
          <a:p>
            <a:pPr marL="0" indent="0">
              <a:buNone/>
            </a:pPr>
            <a:r>
              <a:rPr lang="en-US" sz="1000" dirty="0">
                <a:solidFill>
                  <a:srgbClr val="2B3340"/>
                </a:solidFill>
                <a:latin typeface="Calibri" pitchFamily="34" charset="0"/>
                <a:ea typeface="Calibri" pitchFamily="34" charset="-122"/>
                <a:cs typeface="Calibri" pitchFamily="34" charset="-120"/>
              </a:rPr>
              <a:t>At test time the noise is off: the best-known action is used</a:t>
            </a:r>
            <a:endParaRPr lang="en-US" sz="1000" dirty="0"/>
          </a:p>
        </p:txBody>
      </p:sp>
      <p:sp>
        <p:nvSpPr>
          <p:cNvPr id="28"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50">
                <a:solidFill>
                  <a:srgbClr val="667085"/>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457200" y="219456"/>
            <a:ext cx="3086100" cy="219456"/>
          </a:xfrm>
          <a:prstGeom prst="roundRect">
            <a:avLst>
              <a:gd name="adj" fmla="val 20833"/>
            </a:avLst>
          </a:prstGeom>
          <a:solidFill>
            <a:srgbClr val="E6F1FA"/>
          </a:solidFill>
          <a:ln w="12700">
            <a:solidFill>
              <a:srgbClr val="E6F1FA"/>
            </a:solidFill>
            <a:prstDash val="solid"/>
          </a:ln>
        </p:spPr>
        <p:txBody>
          <a:bodyPr/>
          <a:lstStyle/>
          <a:p>
            <a:endParaRPr lang="en-US"/>
          </a:p>
        </p:txBody>
      </p:sp>
      <p:sp>
        <p:nvSpPr>
          <p:cNvPr id="3" name="Text 1"/>
          <p:cNvSpPr txBox="1"/>
          <p:nvPr/>
        </p:nvSpPr>
        <p:spPr>
          <a:xfrm>
            <a:off x="457200" y="219456"/>
            <a:ext cx="3086100" cy="219456"/>
          </a:xfrm>
          <a:prstGeom prst="rect">
            <a:avLst/>
          </a:prstGeom>
          <a:noFill/>
          <a:ln/>
        </p:spPr>
        <p:txBody>
          <a:bodyPr wrap="square" lIns="0" tIns="0" rIns="0" bIns="0" rtlCol="0" anchor="ctr"/>
          <a:lstStyle/>
          <a:p>
            <a:pPr marL="0" indent="0" algn="ctr">
              <a:buNone/>
            </a:pPr>
            <a:r>
              <a:rPr lang="en-US" sz="850" b="1" kern="0" spc="100" dirty="0">
                <a:solidFill>
                  <a:srgbClr val="1F7AC0"/>
                </a:solidFill>
                <a:latin typeface="Calibri" pitchFamily="34" charset="0"/>
                <a:ea typeface="Calibri" pitchFamily="34" charset="-122"/>
                <a:cs typeface="Calibri" pitchFamily="34" charset="-120"/>
              </a:rPr>
              <a:t>PART II  ·  CO5  ·  WHAT IF WE CHANGE IT?</a:t>
            </a:r>
            <a:endParaRPr lang="en-US" sz="850" dirty="0"/>
          </a:p>
        </p:txBody>
      </p:sp>
      <p:sp>
        <p:nvSpPr>
          <p:cNvPr id="4" name="Text 2"/>
          <p:cNvSpPr txBox="1"/>
          <p:nvPr/>
        </p:nvSpPr>
        <p:spPr>
          <a:xfrm>
            <a:off x="457200" y="475488"/>
            <a:ext cx="8229600" cy="502920"/>
          </a:xfrm>
          <a:prstGeom prst="rect">
            <a:avLst/>
          </a:prstGeom>
          <a:noFill/>
          <a:ln/>
        </p:spPr>
        <p:txBody>
          <a:bodyPr wrap="square" lIns="0" tIns="0" rIns="0" bIns="0" rtlCol="0" anchor="ctr"/>
          <a:lstStyle/>
          <a:p>
            <a:pPr marL="0" indent="0">
              <a:buNone/>
            </a:pPr>
            <a:r>
              <a:rPr lang="en-US" sz="2600" b="1" dirty="0">
                <a:solidFill>
                  <a:srgbClr val="2B3340"/>
                </a:solidFill>
                <a:latin typeface="Cambria" pitchFamily="34" charset="0"/>
                <a:ea typeface="Cambria" pitchFamily="34" charset="-122"/>
                <a:cs typeface="Cambria" pitchFamily="34" charset="-120"/>
              </a:rPr>
              <a:t>Parameter Sensitivity</a:t>
            </a:r>
            <a:endParaRPr lang="en-US" sz="2600" dirty="0"/>
          </a:p>
        </p:txBody>
      </p:sp>
      <p:sp>
        <p:nvSpPr>
          <p:cNvPr id="5" name="Text 3"/>
          <p:cNvSpPr txBox="1"/>
          <p:nvPr/>
        </p:nvSpPr>
        <p:spPr>
          <a:xfrm>
            <a:off x="457200" y="4846320"/>
            <a:ext cx="4572000" cy="201168"/>
          </a:xfrm>
          <a:prstGeom prst="rect">
            <a:avLst/>
          </a:prstGeom>
          <a:noFill/>
          <a:ln/>
        </p:spPr>
        <p:txBody>
          <a:bodyPr wrap="square" lIns="0" tIns="0" rIns="0" bIns="0" rtlCol="0" anchor="ctr"/>
          <a:lstStyle/>
          <a:p>
            <a:pPr marL="0" indent="0">
              <a:buNone/>
            </a:pPr>
            <a:r>
              <a:rPr lang="en-US" sz="850" dirty="0">
                <a:solidFill>
                  <a:srgbClr val="667085"/>
                </a:solidFill>
                <a:latin typeface="Calibri" pitchFamily="34" charset="0"/>
                <a:ea typeface="Calibri" pitchFamily="34" charset="-122"/>
                <a:cs typeface="Calibri" pitchFamily="34" charset="-120"/>
              </a:rPr>
              <a:t>RL Mini-Project  ·  Angad biped walking</a:t>
            </a:r>
            <a:endParaRPr lang="en-US" sz="8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3163824"/>
        </p:xfrm>
        <a:graphic>
          <a:graphicData uri="http://schemas.openxmlformats.org/drawingml/2006/table">
            <a:tbl>
              <a:tblPr/>
              <a:tblGrid>
                <a:gridCol w="20116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310896">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Parameter</a:t>
                      </a:r>
                      <a:endParaRPr lang="en-US" sz="11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1F7AC0"/>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Our value</a:t>
                      </a:r>
                      <a:endParaRPr lang="en-US" sz="11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1F7AC0"/>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If too high</a:t>
                      </a:r>
                      <a:endParaRPr lang="en-US" sz="11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D6455D"/>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If too low</a:t>
                      </a:r>
                      <a:endParaRPr lang="en-US" sz="11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28C28"/>
                    </a:solidFill>
                  </a:tcPr>
                </a:tc>
                <a:extLst>
                  <a:ext uri="{0D108BD9-81ED-4DB2-BD59-A6C34878D82A}">
                    <a16:rowId xmlns:a16="http://schemas.microsoft.com/office/drawing/2014/main" val="10000"/>
                  </a:ext>
                </a:extLst>
              </a:tr>
              <a:tr h="475488">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Exploration noise (initial std)</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Robot flails and falls; slow learning</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BE9EC"/>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Sticks with the first gait it finds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1E0"/>
                    </a:solidFill>
                  </a:tcPr>
                </a:tc>
                <a:extLst>
                  <a:ext uri="{0D108BD9-81ED-4DB2-BD59-A6C34878D82A}">
                    <a16:rowId xmlns:a16="http://schemas.microsoft.com/office/drawing/2014/main" val="10001"/>
                  </a:ext>
                </a:extLst>
              </a:tr>
              <a:tr h="475488">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Entropy coefficient</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0.01</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Policy stays random, never settles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BE9EC"/>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Explores too little, settles too early</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1E0"/>
                    </a:solidFill>
                  </a:tcPr>
                </a:tc>
                <a:extLst>
                  <a:ext uri="{0D108BD9-81ED-4DB2-BD59-A6C34878D82A}">
                    <a16:rowId xmlns:a16="http://schemas.microsoft.com/office/drawing/2014/main" val="10002"/>
                  </a:ext>
                </a:extLst>
              </a:tr>
              <a:tr h="475488">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Learning rate</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1e-3, adaptive (KL 0.01)</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Unstable updates, forgets good walking</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BE9EC"/>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Very slow learning</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1E0"/>
                    </a:solidFill>
                  </a:tcPr>
                </a:tc>
                <a:extLst>
                  <a:ext uri="{0D108BD9-81ED-4DB2-BD59-A6C34878D82A}">
                    <a16:rowId xmlns:a16="http://schemas.microsoft.com/office/drawing/2014/main" val="10003"/>
                  </a:ext>
                </a:extLst>
              </a:tr>
              <a:tr h="475488">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Discount γ</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0.99</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Slow, noisy credit for which step mattered</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BE9EC"/>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Short-sighted: ignores a fall that comes later</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1E0"/>
                    </a:solidFill>
                  </a:tcPr>
                </a:tc>
                <a:extLst>
                  <a:ext uri="{0D108BD9-81ED-4DB2-BD59-A6C34878D82A}">
                    <a16:rowId xmlns:a16="http://schemas.microsoft.com/office/drawing/2014/main" val="10004"/>
                  </a:ext>
                </a:extLst>
              </a:tr>
              <a:tr h="475488">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Clip ε</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0.2</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Large, risky policy changes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BE9EC"/>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Tiny steps, slow progress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1E0"/>
                    </a:solidFill>
                  </a:tcPr>
                </a:tc>
                <a:extLst>
                  <a:ext uri="{0D108BD9-81ED-4DB2-BD59-A6C34878D82A}">
                    <a16:rowId xmlns:a16="http://schemas.microsoft.com/office/drawing/2014/main" val="10005"/>
                  </a:ext>
                </a:extLst>
              </a:tr>
              <a:tr h="475488">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GAE λ</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0.95</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Noisy advantage estimates (high variance)</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BE9EC"/>
                    </a:solidFill>
                  </a:tcPr>
                </a:tc>
                <a:tc>
                  <a:txBody>
                    <a:bodyPr/>
                    <a:lstStyle/>
                    <a:p>
                      <a:pPr marL="0" indent="0" algn="l">
                        <a:buNone/>
                      </a:pPr>
                      <a:r>
                        <a:rPr lang="en-US" sz="1050" dirty="0">
                          <a:solidFill>
                            <a:srgbClr val="2B3340"/>
                          </a:solidFill>
                          <a:latin typeface="Calibri" pitchFamily="34" charset="0"/>
                          <a:ea typeface="Calibri" pitchFamily="34" charset="-122"/>
                          <a:cs typeface="Calibri" pitchFamily="34" charset="-120"/>
                        </a:rPr>
                        <a:t>Biased advantage (leans on Critic errors)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1E0"/>
                    </a:solidFill>
                  </a:tcPr>
                </a:tc>
                <a:extLst>
                  <a:ext uri="{0D108BD9-81ED-4DB2-BD59-A6C34878D82A}">
                    <a16:rowId xmlns:a16="http://schemas.microsoft.com/office/drawing/2014/main" val="10006"/>
                  </a:ext>
                </a:extLst>
              </a:tr>
            </a:tbl>
          </a:graphicData>
        </a:graphic>
      </p:graphicFrame>
      <p:sp>
        <p:nvSpPr>
          <p:cNvPr id="7" name="Text 4"/>
          <p:cNvSpPr txBox="1"/>
          <p:nvPr/>
        </p:nvSpPr>
        <p:spPr>
          <a:xfrm>
            <a:off x="457200" y="4297680"/>
            <a:ext cx="8229600" cy="411480"/>
          </a:xfrm>
          <a:prstGeom prst="rect">
            <a:avLst/>
          </a:prstGeom>
          <a:noFill/>
          <a:ln/>
        </p:spPr>
        <p:txBody>
          <a:bodyPr wrap="square" lIns="0" tIns="0" rIns="0" bIns="0" rtlCol="0" anchor="t"/>
          <a:lstStyle/>
          <a:p>
            <a:pPr marL="0" indent="0">
              <a:buNone/>
            </a:pPr>
            <a:r>
              <a:rPr lang="en-US" sz="1000" i="1" dirty="0">
                <a:solidFill>
                  <a:srgbClr val="667085"/>
                </a:solidFill>
                <a:latin typeface="Calibri" pitchFamily="34" charset="0"/>
                <a:ea typeface="Calibri" pitchFamily="34" charset="-122"/>
                <a:cs typeface="Calibri" pitchFamily="34" charset="-120"/>
              </a:rPr>
              <a:t>These are the values used in our runs. The effects listed are standard RL behaviour; a proper parameter sweep is listed under future work (slide 16).</a:t>
            </a:r>
            <a:endParaRPr lang="en-US" sz="10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50">
                <a:solidFill>
                  <a:srgbClr val="667085"/>
                </a:solidFill>
                <a:latin typeface="Calibri"/>
                <a:ea typeface="Calibri"/>
                <a:cs typeface="Calibri"/>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457200" y="219456"/>
            <a:ext cx="2743200" cy="219456"/>
          </a:xfrm>
          <a:prstGeom prst="roundRect">
            <a:avLst>
              <a:gd name="adj" fmla="val 20833"/>
            </a:avLst>
          </a:prstGeom>
          <a:solidFill>
            <a:srgbClr val="E6F1FA"/>
          </a:solidFill>
          <a:ln w="12700">
            <a:solidFill>
              <a:srgbClr val="E6F1FA"/>
            </a:solidFill>
            <a:prstDash val="solid"/>
          </a:ln>
        </p:spPr>
        <p:txBody>
          <a:bodyPr/>
          <a:lstStyle/>
          <a:p>
            <a:endParaRPr lang="en-US"/>
          </a:p>
        </p:txBody>
      </p:sp>
      <p:sp>
        <p:nvSpPr>
          <p:cNvPr id="3" name="Text 1"/>
          <p:cNvSpPr txBox="1"/>
          <p:nvPr/>
        </p:nvSpPr>
        <p:spPr>
          <a:xfrm>
            <a:off x="457200" y="219456"/>
            <a:ext cx="2743200" cy="219456"/>
          </a:xfrm>
          <a:prstGeom prst="rect">
            <a:avLst/>
          </a:prstGeom>
          <a:noFill/>
          <a:ln/>
        </p:spPr>
        <p:txBody>
          <a:bodyPr wrap="square" lIns="0" tIns="0" rIns="0" bIns="0" rtlCol="0" anchor="ctr"/>
          <a:lstStyle/>
          <a:p>
            <a:pPr marL="0" indent="0" algn="ctr">
              <a:buNone/>
            </a:pPr>
            <a:r>
              <a:rPr lang="en-US" sz="850" b="1" kern="0" spc="100" dirty="0">
                <a:solidFill>
                  <a:srgbClr val="1F7AC0"/>
                </a:solidFill>
                <a:latin typeface="Calibri" pitchFamily="34" charset="0"/>
                <a:ea typeface="Calibri" pitchFamily="34" charset="-122"/>
                <a:cs typeface="Calibri" pitchFamily="34" charset="-120"/>
              </a:rPr>
              <a:t>PART II  ·  TEAM PROJECT REQUIREMENT</a:t>
            </a:r>
            <a:endParaRPr lang="en-US" sz="850" dirty="0"/>
          </a:p>
        </p:txBody>
      </p:sp>
      <p:sp>
        <p:nvSpPr>
          <p:cNvPr id="4" name="Text 2"/>
          <p:cNvSpPr txBox="1"/>
          <p:nvPr/>
        </p:nvSpPr>
        <p:spPr>
          <a:xfrm>
            <a:off x="457200" y="475488"/>
            <a:ext cx="8229600" cy="502920"/>
          </a:xfrm>
          <a:prstGeom prst="rect">
            <a:avLst/>
          </a:prstGeom>
          <a:noFill/>
          <a:ln/>
        </p:spPr>
        <p:txBody>
          <a:bodyPr wrap="square" lIns="0" tIns="0" rIns="0" bIns="0" rtlCol="0" anchor="ctr"/>
          <a:lstStyle/>
          <a:p>
            <a:pPr marL="0" indent="0">
              <a:buNone/>
            </a:pPr>
            <a:r>
              <a:rPr lang="en-US" sz="2600" b="1" dirty="0">
                <a:solidFill>
                  <a:srgbClr val="2B3340"/>
                </a:solidFill>
                <a:latin typeface="Cambria" pitchFamily="34" charset="0"/>
                <a:ea typeface="Cambria" pitchFamily="34" charset="-122"/>
                <a:cs typeface="Cambria" pitchFamily="34" charset="-120"/>
              </a:rPr>
              <a:t>Individual Contribution</a:t>
            </a:r>
            <a:endParaRPr lang="en-US" sz="2600" dirty="0"/>
          </a:p>
        </p:txBody>
      </p:sp>
      <p:sp>
        <p:nvSpPr>
          <p:cNvPr id="5" name="Text 3"/>
          <p:cNvSpPr txBox="1"/>
          <p:nvPr/>
        </p:nvSpPr>
        <p:spPr>
          <a:xfrm>
            <a:off x="457200" y="4846320"/>
            <a:ext cx="4572000" cy="201168"/>
          </a:xfrm>
          <a:prstGeom prst="rect">
            <a:avLst/>
          </a:prstGeom>
          <a:noFill/>
          <a:ln/>
        </p:spPr>
        <p:txBody>
          <a:bodyPr wrap="square" lIns="0" tIns="0" rIns="0" bIns="0" rtlCol="0" anchor="ctr"/>
          <a:lstStyle/>
          <a:p>
            <a:pPr marL="0" indent="0">
              <a:buNone/>
            </a:pPr>
            <a:r>
              <a:rPr lang="en-US" sz="850" dirty="0">
                <a:solidFill>
                  <a:srgbClr val="667085"/>
                </a:solidFill>
                <a:latin typeface="Calibri" pitchFamily="34" charset="0"/>
                <a:ea typeface="Calibri" pitchFamily="34" charset="-122"/>
                <a:cs typeface="Calibri" pitchFamily="34" charset="-120"/>
              </a:rPr>
              <a:t>RL Mini-Project  ·  Angad biped walking</a:t>
            </a:r>
            <a:endParaRPr lang="en-US" sz="850" dirty="0"/>
          </a:p>
        </p:txBody>
      </p:sp>
      <p:sp>
        <p:nvSpPr>
          <p:cNvPr id="6" name="Shape 4"/>
          <p:cNvSpPr/>
          <p:nvPr/>
        </p:nvSpPr>
        <p:spPr>
          <a:xfrm>
            <a:off x="457200" y="1051560"/>
            <a:ext cx="2423160" cy="3611880"/>
          </a:xfrm>
          <a:prstGeom prst="roundRect">
            <a:avLst>
              <a:gd name="adj" fmla="val 3019"/>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1234440" y="1280160"/>
            <a:ext cx="868680" cy="868680"/>
          </a:xfrm>
          <a:prstGeom prst="ellipse">
            <a:avLst/>
          </a:prstGeom>
          <a:solidFill>
            <a:srgbClr val="1F7AC0"/>
          </a:solidFill>
          <a:ln w="12700">
            <a:solidFill>
              <a:srgbClr val="1F7AC0"/>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1451610" y="1497330"/>
            <a:ext cx="434340" cy="434340"/>
          </a:xfrm>
          <a:prstGeom prst="rect">
            <a:avLst/>
          </a:prstGeom>
        </p:spPr>
      </p:pic>
      <p:sp>
        <p:nvSpPr>
          <p:cNvPr id="9" name="Text 6"/>
          <p:cNvSpPr txBox="1"/>
          <p:nvPr/>
        </p:nvSpPr>
        <p:spPr>
          <a:xfrm>
            <a:off x="548640" y="2286000"/>
            <a:ext cx="2240280" cy="365760"/>
          </a:xfrm>
          <a:prstGeom prst="rect">
            <a:avLst/>
          </a:prstGeom>
          <a:noFill/>
          <a:ln/>
        </p:spPr>
        <p:txBody>
          <a:bodyPr wrap="square" lIns="0" tIns="0" rIns="0" bIns="0" rtlCol="0" anchor="ctr"/>
          <a:lstStyle/>
          <a:p>
            <a:pPr marL="0" indent="0" algn="ctr">
              <a:buNone/>
            </a:pPr>
            <a:r>
              <a:rPr lang="en-US" sz="1400" b="1" dirty="0">
                <a:solidFill>
                  <a:srgbClr val="2B3340"/>
                </a:solidFill>
                <a:latin typeface="Cambria" pitchFamily="34" charset="0"/>
                <a:ea typeface="Cambria" pitchFamily="34" charset="-122"/>
                <a:cs typeface="Cambria" pitchFamily="34" charset="-120"/>
              </a:rPr>
              <a:t>Nandhith Karthikeyan</a:t>
            </a:r>
            <a:endParaRPr lang="en-US" sz="1400" dirty="0"/>
          </a:p>
        </p:txBody>
      </p:sp>
      <p:sp>
        <p:nvSpPr>
          <p:cNvPr id="10" name="Text 7"/>
          <p:cNvSpPr txBox="1"/>
          <p:nvPr/>
        </p:nvSpPr>
        <p:spPr>
          <a:xfrm>
            <a:off x="548640" y="2651760"/>
            <a:ext cx="2240280" cy="237744"/>
          </a:xfrm>
          <a:prstGeom prst="rect">
            <a:avLst/>
          </a:prstGeom>
          <a:noFill/>
          <a:ln/>
        </p:spPr>
        <p:txBody>
          <a:bodyPr wrap="square" lIns="0" tIns="0" rIns="0" bIns="0" rtlCol="0" anchor="ctr"/>
          <a:lstStyle/>
          <a:p>
            <a:pPr marL="0" indent="0" algn="ctr">
              <a:buNone/>
            </a:pPr>
            <a:r>
              <a:rPr lang="en-US" sz="1100" dirty="0">
                <a:solidFill>
                  <a:srgbClr val="667085"/>
                </a:solidFill>
                <a:latin typeface="Calibri" pitchFamily="34" charset="0"/>
                <a:ea typeface="Calibri" pitchFamily="34" charset="-122"/>
                <a:cs typeface="Calibri" pitchFamily="34" charset="-120"/>
              </a:rPr>
              <a:t>Member 1</a:t>
            </a:r>
            <a:endParaRPr lang="en-US" sz="1100" dirty="0"/>
          </a:p>
        </p:txBody>
      </p:sp>
      <p:sp>
        <p:nvSpPr>
          <p:cNvPr id="11" name="Text 8"/>
          <p:cNvSpPr txBox="1"/>
          <p:nvPr/>
        </p:nvSpPr>
        <p:spPr>
          <a:xfrm>
            <a:off x="548640" y="2907792"/>
            <a:ext cx="2240280" cy="237744"/>
          </a:xfrm>
          <a:prstGeom prst="rect">
            <a:avLst/>
          </a:prstGeom>
          <a:noFill/>
          <a:ln/>
        </p:spPr>
        <p:txBody>
          <a:bodyPr wrap="square" lIns="0" tIns="0" rIns="0" bIns="0" rtlCol="0" anchor="ctr"/>
          <a:lstStyle/>
          <a:p>
            <a:pPr marL="0" indent="0" algn="ctr">
              <a:buNone/>
            </a:pPr>
            <a:r>
              <a:rPr lang="en-US" sz="1100" dirty="0">
                <a:solidFill>
                  <a:srgbClr val="8A6D00"/>
                </a:solidFill>
                <a:latin typeface="Calibri" pitchFamily="34" charset="0"/>
                <a:ea typeface="Calibri" pitchFamily="34" charset="-122"/>
                <a:cs typeface="Calibri" pitchFamily="34" charset="-120"/>
              </a:rPr>
              <a:t>Reg. No. ________</a:t>
            </a:r>
            <a:endParaRPr lang="en-US" sz="1100" dirty="0"/>
          </a:p>
        </p:txBody>
      </p:sp>
      <p:sp>
        <p:nvSpPr>
          <p:cNvPr id="12" name="Shape 9"/>
          <p:cNvSpPr/>
          <p:nvPr/>
        </p:nvSpPr>
        <p:spPr>
          <a:xfrm>
            <a:off x="685800" y="3383280"/>
            <a:ext cx="1965960" cy="1005840"/>
          </a:xfrm>
          <a:prstGeom prst="roundRect">
            <a:avLst>
              <a:gd name="adj" fmla="val 7273"/>
            </a:avLst>
          </a:prstGeom>
          <a:solidFill>
            <a:srgbClr val="E6F1FA"/>
          </a:solidFill>
          <a:ln w="12700">
            <a:solidFill>
              <a:srgbClr val="E6F1FA"/>
            </a:solidFill>
            <a:prstDash val="solid"/>
          </a:ln>
        </p:spPr>
        <p:txBody>
          <a:bodyPr/>
          <a:lstStyle/>
          <a:p>
            <a:endParaRPr lang="en-US"/>
          </a:p>
        </p:txBody>
      </p:sp>
      <p:sp>
        <p:nvSpPr>
          <p:cNvPr id="13" name="Text 10"/>
          <p:cNvSpPr txBox="1"/>
          <p:nvPr/>
        </p:nvSpPr>
        <p:spPr>
          <a:xfrm>
            <a:off x="777240" y="3401568"/>
            <a:ext cx="1783080" cy="969264"/>
          </a:xfrm>
          <a:prstGeom prst="rect">
            <a:avLst/>
          </a:prstGeom>
          <a:noFill/>
          <a:ln/>
        </p:spPr>
        <p:txBody>
          <a:bodyPr wrap="square" lIns="0" tIns="0" rIns="0" bIns="0" rtlCol="0" anchor="ctr"/>
          <a:lstStyle/>
          <a:p>
            <a:pPr marL="0" indent="0">
              <a:buNone/>
            </a:pPr>
            <a:r>
              <a:rPr lang="en-US" sz="1050" b="1" dirty="0">
                <a:solidFill>
                  <a:srgbClr val="1F7AC0"/>
                </a:solidFill>
                <a:latin typeface="Calibri" pitchFamily="34" charset="0"/>
                <a:ea typeface="Calibri" pitchFamily="34" charset="-122"/>
                <a:cs typeface="Calibri" pitchFamily="34" charset="-120"/>
              </a:rPr>
              <a:t>Assigned agent</a:t>
            </a:r>
            <a:endParaRPr lang="en-US" sz="1050" dirty="0"/>
          </a:p>
          <a:p>
            <a:pPr marL="0" indent="0">
              <a:buNone/>
            </a:pPr>
            <a:r>
              <a:rPr lang="en-US" sz="1050" dirty="0">
                <a:solidFill>
                  <a:srgbClr val="2B3340"/>
                </a:solidFill>
                <a:latin typeface="Calibri" pitchFamily="34" charset="0"/>
                <a:ea typeface="Calibri" pitchFamily="34" charset="-122"/>
                <a:cs typeface="Calibri" pitchFamily="34" charset="-120"/>
              </a:rPr>
              <a:t>Angad walking agent (PPO, velocity tracking)</a:t>
            </a:r>
            <a:endParaRPr lang="en-US" sz="1050" dirty="0"/>
          </a:p>
        </p:txBody>
      </p:sp>
      <p:sp>
        <p:nvSpPr>
          <p:cNvPr id="14" name="Shape 11"/>
          <p:cNvSpPr/>
          <p:nvPr/>
        </p:nvSpPr>
        <p:spPr>
          <a:xfrm>
            <a:off x="3063240" y="1051560"/>
            <a:ext cx="5623560" cy="530352"/>
          </a:xfrm>
          <a:prstGeom prst="roundRect">
            <a:avLst>
              <a:gd name="adj" fmla="val 1379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15" name="Shape 12"/>
          <p:cNvSpPr/>
          <p:nvPr/>
        </p:nvSpPr>
        <p:spPr>
          <a:xfrm>
            <a:off x="3172968" y="1170432"/>
            <a:ext cx="868680" cy="292608"/>
          </a:xfrm>
          <a:prstGeom prst="roundRect">
            <a:avLst>
              <a:gd name="adj" fmla="val 18750"/>
            </a:avLst>
          </a:prstGeom>
          <a:solidFill>
            <a:srgbClr val="1F7AC0"/>
          </a:solidFill>
          <a:ln w="12700">
            <a:solidFill>
              <a:srgbClr val="1F7AC0"/>
            </a:solidFill>
            <a:prstDash val="solid"/>
          </a:ln>
        </p:spPr>
        <p:txBody>
          <a:bodyPr/>
          <a:lstStyle/>
          <a:p>
            <a:endParaRPr lang="en-US"/>
          </a:p>
        </p:txBody>
      </p:sp>
      <p:sp>
        <p:nvSpPr>
          <p:cNvPr id="16" name="Text 13"/>
          <p:cNvSpPr txBox="1"/>
          <p:nvPr/>
        </p:nvSpPr>
        <p:spPr>
          <a:xfrm>
            <a:off x="3172968" y="1170432"/>
            <a:ext cx="86868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State</a:t>
            </a:r>
            <a:endParaRPr lang="en-US" sz="1050" dirty="0"/>
          </a:p>
        </p:txBody>
      </p:sp>
      <p:sp>
        <p:nvSpPr>
          <p:cNvPr id="17" name="Text 14"/>
          <p:cNvSpPr txBox="1"/>
          <p:nvPr/>
        </p:nvSpPr>
        <p:spPr>
          <a:xfrm>
            <a:off x="4160520" y="1051560"/>
            <a:ext cx="3657600" cy="530352"/>
          </a:xfrm>
          <a:prstGeom prst="rect">
            <a:avLst/>
          </a:prstGeom>
          <a:noFill/>
          <a:ln/>
        </p:spPr>
        <p:txBody>
          <a:bodyPr wrap="square" lIns="0" tIns="0" rIns="0" bIns="0" rtlCol="0" anchor="ctr"/>
          <a:lstStyle/>
          <a:p>
            <a:pPr marL="0" indent="0">
              <a:buNone/>
            </a:pPr>
            <a:r>
              <a:rPr lang="en-US" sz="1000" dirty="0">
                <a:solidFill>
                  <a:srgbClr val="2B3340"/>
                </a:solidFill>
                <a:latin typeface="Calibri" pitchFamily="34" charset="0"/>
                <a:ea typeface="Calibri" pitchFamily="34" charset="-122"/>
                <a:cs typeface="Calibri" pitchFamily="34" charset="-120"/>
              </a:rPr>
              <a:t>48-number observation for the Actor and privileged state for the Critic</a:t>
            </a:r>
            <a:endParaRPr lang="en-US" sz="1000" dirty="0"/>
          </a:p>
        </p:txBody>
      </p:sp>
      <p:sp>
        <p:nvSpPr>
          <p:cNvPr id="18" name="Text 15"/>
          <p:cNvSpPr txBox="1"/>
          <p:nvPr/>
        </p:nvSpPr>
        <p:spPr>
          <a:xfrm>
            <a:off x="7818120" y="1051560"/>
            <a:ext cx="822960" cy="530352"/>
          </a:xfrm>
          <a:prstGeom prst="rect">
            <a:avLst/>
          </a:prstGeom>
          <a:noFill/>
          <a:ln/>
        </p:spPr>
        <p:txBody>
          <a:bodyPr wrap="square" lIns="0" tIns="0" rIns="0" bIns="0" rtlCol="0" anchor="ctr"/>
          <a:lstStyle/>
          <a:p>
            <a:pPr marL="0" indent="0" algn="r">
              <a:buNone/>
            </a:pPr>
            <a:r>
              <a:rPr lang="en-US" sz="900" i="1" dirty="0">
                <a:solidFill>
                  <a:srgbClr val="667085"/>
                </a:solidFill>
                <a:latin typeface="Calibri" pitchFamily="34" charset="0"/>
                <a:ea typeface="Calibri" pitchFamily="34" charset="-122"/>
                <a:cs typeface="Calibri" pitchFamily="34" charset="-120"/>
              </a:rPr>
              <a:t>slide 7</a:t>
            </a:r>
            <a:endParaRPr lang="en-US" sz="900" dirty="0"/>
          </a:p>
        </p:txBody>
      </p:sp>
      <p:sp>
        <p:nvSpPr>
          <p:cNvPr id="19" name="Shape 16"/>
          <p:cNvSpPr/>
          <p:nvPr/>
        </p:nvSpPr>
        <p:spPr>
          <a:xfrm>
            <a:off x="3063240" y="1659636"/>
            <a:ext cx="5623560" cy="530352"/>
          </a:xfrm>
          <a:prstGeom prst="roundRect">
            <a:avLst>
              <a:gd name="adj" fmla="val 1379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20" name="Shape 17"/>
          <p:cNvSpPr/>
          <p:nvPr/>
        </p:nvSpPr>
        <p:spPr>
          <a:xfrm>
            <a:off x="3172968" y="1778508"/>
            <a:ext cx="868680" cy="292608"/>
          </a:xfrm>
          <a:prstGeom prst="roundRect">
            <a:avLst>
              <a:gd name="adj" fmla="val 18750"/>
            </a:avLst>
          </a:prstGeom>
          <a:solidFill>
            <a:srgbClr val="1F7AC0"/>
          </a:solidFill>
          <a:ln w="12700">
            <a:solidFill>
              <a:srgbClr val="1F7AC0"/>
            </a:solidFill>
            <a:prstDash val="solid"/>
          </a:ln>
        </p:spPr>
        <p:txBody>
          <a:bodyPr/>
          <a:lstStyle/>
          <a:p>
            <a:endParaRPr lang="en-US"/>
          </a:p>
        </p:txBody>
      </p:sp>
      <p:sp>
        <p:nvSpPr>
          <p:cNvPr id="21" name="Text 18"/>
          <p:cNvSpPr txBox="1"/>
          <p:nvPr/>
        </p:nvSpPr>
        <p:spPr>
          <a:xfrm>
            <a:off x="3172968" y="1778508"/>
            <a:ext cx="86868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Action</a:t>
            </a:r>
            <a:endParaRPr lang="en-US" sz="1050" dirty="0"/>
          </a:p>
        </p:txBody>
      </p:sp>
      <p:sp>
        <p:nvSpPr>
          <p:cNvPr id="22" name="Text 19"/>
          <p:cNvSpPr txBox="1"/>
          <p:nvPr/>
        </p:nvSpPr>
        <p:spPr>
          <a:xfrm>
            <a:off x="4160520" y="1659636"/>
            <a:ext cx="3657600" cy="530352"/>
          </a:xfrm>
          <a:prstGeom prst="rect">
            <a:avLst/>
          </a:prstGeom>
          <a:noFill/>
          <a:ln/>
        </p:spPr>
        <p:txBody>
          <a:bodyPr wrap="square" lIns="0" tIns="0" rIns="0" bIns="0" rtlCol="0" anchor="ctr"/>
          <a:lstStyle/>
          <a:p>
            <a:pPr marL="0" indent="0">
              <a:buNone/>
            </a:pPr>
            <a:r>
              <a:rPr lang="en-US" sz="1000" dirty="0">
                <a:solidFill>
                  <a:srgbClr val="2B3340"/>
                </a:solidFill>
                <a:latin typeface="Calibri" pitchFamily="34" charset="0"/>
                <a:ea typeface="Calibri" pitchFamily="34" charset="-122"/>
                <a:cs typeface="Calibri" pitchFamily="34" charset="-120"/>
              </a:rPr>
              <a:t>12 continuous joint targets converted by a PD controller</a:t>
            </a:r>
            <a:endParaRPr lang="en-US" sz="1000" dirty="0"/>
          </a:p>
        </p:txBody>
      </p:sp>
      <p:sp>
        <p:nvSpPr>
          <p:cNvPr id="23" name="Text 20"/>
          <p:cNvSpPr txBox="1"/>
          <p:nvPr/>
        </p:nvSpPr>
        <p:spPr>
          <a:xfrm>
            <a:off x="7818120" y="1659636"/>
            <a:ext cx="822960" cy="530352"/>
          </a:xfrm>
          <a:prstGeom prst="rect">
            <a:avLst/>
          </a:prstGeom>
          <a:noFill/>
          <a:ln/>
        </p:spPr>
        <p:txBody>
          <a:bodyPr wrap="square" lIns="0" tIns="0" rIns="0" bIns="0" rtlCol="0" anchor="ctr"/>
          <a:lstStyle/>
          <a:p>
            <a:pPr marL="0" indent="0" algn="r">
              <a:buNone/>
            </a:pPr>
            <a:r>
              <a:rPr lang="en-US" sz="900" i="1" dirty="0">
                <a:solidFill>
                  <a:srgbClr val="667085"/>
                </a:solidFill>
                <a:latin typeface="Calibri" pitchFamily="34" charset="0"/>
                <a:ea typeface="Calibri" pitchFamily="34" charset="-122"/>
                <a:cs typeface="Calibri" pitchFamily="34" charset="-120"/>
              </a:rPr>
              <a:t>slide 8</a:t>
            </a:r>
            <a:endParaRPr lang="en-US" sz="900" dirty="0"/>
          </a:p>
        </p:txBody>
      </p:sp>
      <p:sp>
        <p:nvSpPr>
          <p:cNvPr id="24" name="Shape 21"/>
          <p:cNvSpPr/>
          <p:nvPr/>
        </p:nvSpPr>
        <p:spPr>
          <a:xfrm>
            <a:off x="3063240" y="2267712"/>
            <a:ext cx="5623560" cy="530352"/>
          </a:xfrm>
          <a:prstGeom prst="roundRect">
            <a:avLst>
              <a:gd name="adj" fmla="val 1379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25" name="Shape 22"/>
          <p:cNvSpPr/>
          <p:nvPr/>
        </p:nvSpPr>
        <p:spPr>
          <a:xfrm>
            <a:off x="3172968" y="2386584"/>
            <a:ext cx="868680" cy="292608"/>
          </a:xfrm>
          <a:prstGeom prst="roundRect">
            <a:avLst>
              <a:gd name="adj" fmla="val 18750"/>
            </a:avLst>
          </a:prstGeom>
          <a:solidFill>
            <a:srgbClr val="1F7AC0"/>
          </a:solidFill>
          <a:ln w="12700">
            <a:solidFill>
              <a:srgbClr val="1F7AC0"/>
            </a:solidFill>
            <a:prstDash val="solid"/>
          </a:ln>
        </p:spPr>
        <p:txBody>
          <a:bodyPr/>
          <a:lstStyle/>
          <a:p>
            <a:endParaRPr lang="en-US"/>
          </a:p>
        </p:txBody>
      </p:sp>
      <p:sp>
        <p:nvSpPr>
          <p:cNvPr id="26" name="Text 23"/>
          <p:cNvSpPr txBox="1"/>
          <p:nvPr/>
        </p:nvSpPr>
        <p:spPr>
          <a:xfrm>
            <a:off x="3172968" y="2386584"/>
            <a:ext cx="86868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Reward</a:t>
            </a:r>
            <a:endParaRPr lang="en-US" sz="1050" dirty="0"/>
          </a:p>
        </p:txBody>
      </p:sp>
      <p:sp>
        <p:nvSpPr>
          <p:cNvPr id="27" name="Text 24"/>
          <p:cNvSpPr txBox="1"/>
          <p:nvPr/>
        </p:nvSpPr>
        <p:spPr>
          <a:xfrm>
            <a:off x="4160520" y="2267712"/>
            <a:ext cx="3657600" cy="530352"/>
          </a:xfrm>
          <a:prstGeom prst="rect">
            <a:avLst/>
          </a:prstGeom>
          <a:noFill/>
          <a:ln/>
        </p:spPr>
        <p:txBody>
          <a:bodyPr wrap="square" lIns="0" tIns="0" rIns="0" bIns="0" rtlCol="0" anchor="ctr"/>
          <a:lstStyle/>
          <a:p>
            <a:pPr marL="0" indent="0">
              <a:buNone/>
            </a:pPr>
            <a:r>
              <a:rPr lang="en-US" sz="1000" dirty="0">
                <a:solidFill>
                  <a:srgbClr val="2B3340"/>
                </a:solidFill>
                <a:latin typeface="Calibri" pitchFamily="34" charset="0"/>
                <a:ea typeface="Calibri" pitchFamily="34" charset="-122"/>
                <a:cs typeface="Calibri" pitchFamily="34" charset="-120"/>
              </a:rPr>
              <a:t>Weighted reward terms and penalties, and why each is there</a:t>
            </a:r>
            <a:endParaRPr lang="en-US" sz="1000" dirty="0"/>
          </a:p>
        </p:txBody>
      </p:sp>
      <p:sp>
        <p:nvSpPr>
          <p:cNvPr id="28" name="Text 25"/>
          <p:cNvSpPr txBox="1"/>
          <p:nvPr/>
        </p:nvSpPr>
        <p:spPr>
          <a:xfrm>
            <a:off x="7818120" y="2267712"/>
            <a:ext cx="822960" cy="530352"/>
          </a:xfrm>
          <a:prstGeom prst="rect">
            <a:avLst/>
          </a:prstGeom>
          <a:noFill/>
          <a:ln/>
        </p:spPr>
        <p:txBody>
          <a:bodyPr wrap="square" lIns="0" tIns="0" rIns="0" bIns="0" rtlCol="0" anchor="ctr"/>
          <a:lstStyle/>
          <a:p>
            <a:pPr marL="0" indent="0" algn="r">
              <a:buNone/>
            </a:pPr>
            <a:r>
              <a:rPr lang="en-US" sz="900" i="1" dirty="0">
                <a:solidFill>
                  <a:srgbClr val="667085"/>
                </a:solidFill>
                <a:latin typeface="Calibri" pitchFamily="34" charset="0"/>
                <a:ea typeface="Calibri" pitchFamily="34" charset="-122"/>
                <a:cs typeface="Calibri" pitchFamily="34" charset="-120"/>
              </a:rPr>
              <a:t>slide 9</a:t>
            </a:r>
            <a:endParaRPr lang="en-US" sz="900" dirty="0"/>
          </a:p>
        </p:txBody>
      </p:sp>
      <p:sp>
        <p:nvSpPr>
          <p:cNvPr id="29" name="Shape 26"/>
          <p:cNvSpPr/>
          <p:nvPr/>
        </p:nvSpPr>
        <p:spPr>
          <a:xfrm>
            <a:off x="3063240" y="2875788"/>
            <a:ext cx="5623560" cy="530352"/>
          </a:xfrm>
          <a:prstGeom prst="roundRect">
            <a:avLst>
              <a:gd name="adj" fmla="val 1379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30" name="Shape 27"/>
          <p:cNvSpPr/>
          <p:nvPr/>
        </p:nvSpPr>
        <p:spPr>
          <a:xfrm>
            <a:off x="3172968" y="2994660"/>
            <a:ext cx="868680" cy="292608"/>
          </a:xfrm>
          <a:prstGeom prst="roundRect">
            <a:avLst>
              <a:gd name="adj" fmla="val 18750"/>
            </a:avLst>
          </a:prstGeom>
          <a:solidFill>
            <a:srgbClr val="1F7AC0"/>
          </a:solidFill>
          <a:ln w="12700">
            <a:solidFill>
              <a:srgbClr val="1F7AC0"/>
            </a:solidFill>
            <a:prstDash val="solid"/>
          </a:ln>
        </p:spPr>
        <p:txBody>
          <a:bodyPr/>
          <a:lstStyle/>
          <a:p>
            <a:endParaRPr lang="en-US"/>
          </a:p>
        </p:txBody>
      </p:sp>
      <p:sp>
        <p:nvSpPr>
          <p:cNvPr id="31" name="Text 28"/>
          <p:cNvSpPr txBox="1"/>
          <p:nvPr/>
        </p:nvSpPr>
        <p:spPr>
          <a:xfrm>
            <a:off x="3172968" y="2994660"/>
            <a:ext cx="86868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Algorithm</a:t>
            </a:r>
            <a:endParaRPr lang="en-US" sz="1050" dirty="0"/>
          </a:p>
        </p:txBody>
      </p:sp>
      <p:sp>
        <p:nvSpPr>
          <p:cNvPr id="32" name="Text 29"/>
          <p:cNvSpPr txBox="1"/>
          <p:nvPr/>
        </p:nvSpPr>
        <p:spPr>
          <a:xfrm>
            <a:off x="4160520" y="2875788"/>
            <a:ext cx="3657600" cy="530352"/>
          </a:xfrm>
          <a:prstGeom prst="rect">
            <a:avLst/>
          </a:prstGeom>
          <a:noFill/>
          <a:ln/>
        </p:spPr>
        <p:txBody>
          <a:bodyPr wrap="square" lIns="0" tIns="0" rIns="0" bIns="0" rtlCol="0" anchor="ctr"/>
          <a:lstStyle/>
          <a:p>
            <a:pPr marL="0" indent="0">
              <a:buNone/>
            </a:pPr>
            <a:r>
              <a:rPr lang="en-US" sz="1000" dirty="0">
                <a:solidFill>
                  <a:srgbClr val="2B3340"/>
                </a:solidFill>
                <a:latin typeface="Calibri" pitchFamily="34" charset="0"/>
                <a:ea typeface="Calibri" pitchFamily="34" charset="-122"/>
                <a:cs typeface="Calibri" pitchFamily="34" charset="-120"/>
              </a:rPr>
              <a:t>PPO: studied the actor, critic, TD error, advantage and clipped update</a:t>
            </a:r>
            <a:endParaRPr lang="en-US" sz="1000" dirty="0"/>
          </a:p>
        </p:txBody>
      </p:sp>
      <p:sp>
        <p:nvSpPr>
          <p:cNvPr id="33" name="Text 30"/>
          <p:cNvSpPr txBox="1"/>
          <p:nvPr/>
        </p:nvSpPr>
        <p:spPr>
          <a:xfrm>
            <a:off x="7818120" y="2875788"/>
            <a:ext cx="822960" cy="530352"/>
          </a:xfrm>
          <a:prstGeom prst="rect">
            <a:avLst/>
          </a:prstGeom>
          <a:noFill/>
          <a:ln/>
        </p:spPr>
        <p:txBody>
          <a:bodyPr wrap="square" lIns="0" tIns="0" rIns="0" bIns="0" rtlCol="0" anchor="ctr"/>
          <a:lstStyle/>
          <a:p>
            <a:pPr marL="0" indent="0" algn="r">
              <a:buNone/>
            </a:pPr>
            <a:r>
              <a:rPr lang="en-US" sz="900" i="1" dirty="0">
                <a:solidFill>
                  <a:srgbClr val="667085"/>
                </a:solidFill>
                <a:latin typeface="Calibri" pitchFamily="34" charset="0"/>
                <a:ea typeface="Calibri" pitchFamily="34" charset="-122"/>
                <a:cs typeface="Calibri" pitchFamily="34" charset="-120"/>
              </a:rPr>
              <a:t>slides 10–11</a:t>
            </a:r>
            <a:endParaRPr lang="en-US" sz="900" dirty="0"/>
          </a:p>
        </p:txBody>
      </p:sp>
      <p:sp>
        <p:nvSpPr>
          <p:cNvPr id="34" name="Shape 31"/>
          <p:cNvSpPr/>
          <p:nvPr/>
        </p:nvSpPr>
        <p:spPr>
          <a:xfrm>
            <a:off x="3063240" y="3483864"/>
            <a:ext cx="5623560" cy="530352"/>
          </a:xfrm>
          <a:prstGeom prst="roundRect">
            <a:avLst>
              <a:gd name="adj" fmla="val 1379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35" name="Shape 32"/>
          <p:cNvSpPr/>
          <p:nvPr/>
        </p:nvSpPr>
        <p:spPr>
          <a:xfrm>
            <a:off x="3172968" y="3602736"/>
            <a:ext cx="868680" cy="292608"/>
          </a:xfrm>
          <a:prstGeom prst="roundRect">
            <a:avLst>
              <a:gd name="adj" fmla="val 18750"/>
            </a:avLst>
          </a:prstGeom>
          <a:solidFill>
            <a:srgbClr val="1F7AC0"/>
          </a:solidFill>
          <a:ln w="12700">
            <a:solidFill>
              <a:srgbClr val="1F7AC0"/>
            </a:solidFill>
            <a:prstDash val="solid"/>
          </a:ln>
        </p:spPr>
        <p:txBody>
          <a:bodyPr/>
          <a:lstStyle/>
          <a:p>
            <a:endParaRPr lang="en-US"/>
          </a:p>
        </p:txBody>
      </p:sp>
      <p:sp>
        <p:nvSpPr>
          <p:cNvPr id="36" name="Text 33"/>
          <p:cNvSpPr txBox="1"/>
          <p:nvPr/>
        </p:nvSpPr>
        <p:spPr>
          <a:xfrm>
            <a:off x="3172968" y="3602736"/>
            <a:ext cx="86868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Code</a:t>
            </a:r>
            <a:endParaRPr lang="en-US" sz="1050" dirty="0"/>
          </a:p>
        </p:txBody>
      </p:sp>
      <p:sp>
        <p:nvSpPr>
          <p:cNvPr id="37" name="Text 34"/>
          <p:cNvSpPr txBox="1"/>
          <p:nvPr/>
        </p:nvSpPr>
        <p:spPr>
          <a:xfrm>
            <a:off x="4160520" y="3483864"/>
            <a:ext cx="3657600" cy="530352"/>
          </a:xfrm>
          <a:prstGeom prst="rect">
            <a:avLst/>
          </a:prstGeom>
          <a:noFill/>
          <a:ln/>
        </p:spPr>
        <p:txBody>
          <a:bodyPr wrap="square" lIns="0" tIns="0" rIns="0" bIns="0" rtlCol="0" anchor="ctr"/>
          <a:lstStyle/>
          <a:p>
            <a:pPr marL="0" indent="0">
              <a:buNone/>
            </a:pPr>
            <a:r>
              <a:rPr lang="en-US" sz="1000" dirty="0">
                <a:solidFill>
                  <a:srgbClr val="2B3340"/>
                </a:solidFill>
                <a:latin typeface="Calibri" pitchFamily="34" charset="0"/>
                <a:ea typeface="Calibri" pitchFamily="34" charset="-122"/>
                <a:cs typeface="Calibri" pitchFamily="34" charset="-120"/>
              </a:rPr>
              <a:t>Built Angad’s MJCF model, hand-tuned KP/KD, worked with the Angad task configs, designed reference gaits (Methods 1–7)</a:t>
            </a:r>
            <a:endParaRPr lang="en-US" sz="1000" dirty="0"/>
          </a:p>
        </p:txBody>
      </p:sp>
      <p:sp>
        <p:nvSpPr>
          <p:cNvPr id="38" name="Text 35"/>
          <p:cNvSpPr txBox="1"/>
          <p:nvPr/>
        </p:nvSpPr>
        <p:spPr>
          <a:xfrm>
            <a:off x="7818120" y="3483864"/>
            <a:ext cx="822960" cy="530352"/>
          </a:xfrm>
          <a:prstGeom prst="rect">
            <a:avLst/>
          </a:prstGeom>
          <a:noFill/>
          <a:ln/>
        </p:spPr>
        <p:txBody>
          <a:bodyPr wrap="square" lIns="0" tIns="0" rIns="0" bIns="0" rtlCol="0" anchor="ctr"/>
          <a:lstStyle/>
          <a:p>
            <a:pPr marL="0" indent="0" algn="r">
              <a:buNone/>
            </a:pPr>
            <a:r>
              <a:rPr lang="en-US" sz="900" i="1" dirty="0">
                <a:solidFill>
                  <a:srgbClr val="667085"/>
                </a:solidFill>
                <a:latin typeface="Calibri" pitchFamily="34" charset="0"/>
                <a:ea typeface="Calibri" pitchFamily="34" charset="-122"/>
                <a:cs typeface="Calibri" pitchFamily="34" charset="-120"/>
              </a:rPr>
              <a:t>slides 12, 15</a:t>
            </a:r>
            <a:endParaRPr lang="en-US" sz="900" dirty="0"/>
          </a:p>
        </p:txBody>
      </p:sp>
      <p:sp>
        <p:nvSpPr>
          <p:cNvPr id="39" name="Shape 36"/>
          <p:cNvSpPr/>
          <p:nvPr/>
        </p:nvSpPr>
        <p:spPr>
          <a:xfrm>
            <a:off x="3063240" y="4091940"/>
            <a:ext cx="5623560" cy="530352"/>
          </a:xfrm>
          <a:prstGeom prst="roundRect">
            <a:avLst>
              <a:gd name="adj" fmla="val 1379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40" name="Shape 37"/>
          <p:cNvSpPr/>
          <p:nvPr/>
        </p:nvSpPr>
        <p:spPr>
          <a:xfrm>
            <a:off x="3172968" y="4210812"/>
            <a:ext cx="868680" cy="292608"/>
          </a:xfrm>
          <a:prstGeom prst="roundRect">
            <a:avLst>
              <a:gd name="adj" fmla="val 18750"/>
            </a:avLst>
          </a:prstGeom>
          <a:solidFill>
            <a:srgbClr val="1F7AC0"/>
          </a:solidFill>
          <a:ln w="12700">
            <a:solidFill>
              <a:srgbClr val="1F7AC0"/>
            </a:solidFill>
            <a:prstDash val="solid"/>
          </a:ln>
        </p:spPr>
        <p:txBody>
          <a:bodyPr/>
          <a:lstStyle/>
          <a:p>
            <a:endParaRPr lang="en-US"/>
          </a:p>
        </p:txBody>
      </p:sp>
      <p:sp>
        <p:nvSpPr>
          <p:cNvPr id="41" name="Text 38"/>
          <p:cNvSpPr txBox="1"/>
          <p:nvPr/>
        </p:nvSpPr>
        <p:spPr>
          <a:xfrm>
            <a:off x="3172968" y="4210812"/>
            <a:ext cx="86868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Results</a:t>
            </a:r>
            <a:endParaRPr lang="en-US" sz="1050" dirty="0"/>
          </a:p>
        </p:txBody>
      </p:sp>
      <p:sp>
        <p:nvSpPr>
          <p:cNvPr id="42" name="Text 39"/>
          <p:cNvSpPr txBox="1"/>
          <p:nvPr/>
        </p:nvSpPr>
        <p:spPr>
          <a:xfrm>
            <a:off x="4160520" y="4091940"/>
            <a:ext cx="3657600" cy="530352"/>
          </a:xfrm>
          <a:prstGeom prst="rect">
            <a:avLst/>
          </a:prstGeom>
          <a:noFill/>
          <a:ln/>
        </p:spPr>
        <p:txBody>
          <a:bodyPr wrap="square" lIns="0" tIns="0" rIns="0" bIns="0" rtlCol="0" anchor="ctr"/>
          <a:lstStyle/>
          <a:p>
            <a:pPr marL="0" indent="0">
              <a:buNone/>
            </a:pPr>
            <a:r>
              <a:rPr lang="en-US" sz="1000" dirty="0">
                <a:solidFill>
                  <a:srgbClr val="2B3340"/>
                </a:solidFill>
                <a:latin typeface="Calibri" pitchFamily="34" charset="0"/>
                <a:ea typeface="Calibri" pitchFamily="34" charset="-122"/>
                <a:cs typeface="Calibri" pitchFamily="34" charset="-120"/>
              </a:rPr>
              <a:t>Speed tracking, path drift and foot-force analysis</a:t>
            </a:r>
            <a:endParaRPr lang="en-US" sz="1000" dirty="0"/>
          </a:p>
        </p:txBody>
      </p:sp>
      <p:sp>
        <p:nvSpPr>
          <p:cNvPr id="43" name="Text 40"/>
          <p:cNvSpPr txBox="1"/>
          <p:nvPr/>
        </p:nvSpPr>
        <p:spPr>
          <a:xfrm>
            <a:off x="7818120" y="4091940"/>
            <a:ext cx="822960" cy="530352"/>
          </a:xfrm>
          <a:prstGeom prst="rect">
            <a:avLst/>
          </a:prstGeom>
          <a:noFill/>
          <a:ln/>
        </p:spPr>
        <p:txBody>
          <a:bodyPr wrap="square" lIns="0" tIns="0" rIns="0" bIns="0" rtlCol="0" anchor="ctr"/>
          <a:lstStyle/>
          <a:p>
            <a:pPr marL="0" indent="0" algn="r">
              <a:buNone/>
            </a:pPr>
            <a:r>
              <a:rPr lang="en-US" sz="900" i="1" dirty="0">
                <a:solidFill>
                  <a:srgbClr val="667085"/>
                </a:solidFill>
                <a:latin typeface="Calibri" pitchFamily="34" charset="0"/>
                <a:ea typeface="Calibri" pitchFamily="34" charset="-122"/>
                <a:cs typeface="Calibri" pitchFamily="34" charset="-120"/>
              </a:rPr>
              <a:t>slides 14, 15, 19</a:t>
            </a:r>
            <a:endParaRPr lang="en-US" sz="900" dirty="0"/>
          </a:p>
        </p:txBody>
      </p:sp>
      <p:sp>
        <p:nvSpPr>
          <p:cNvPr id="44"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50">
                <a:solidFill>
                  <a:srgbClr val="667085"/>
                </a:solidFill>
                <a:latin typeface="Calibri"/>
                <a:ea typeface="Calibri"/>
                <a:cs typeface="Calibri"/>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E3440"/>
        </a:solidFill>
        <a:effectLst/>
      </p:bgPr>
    </p:bg>
    <p:spTree>
      <p:nvGrpSpPr>
        <p:cNvPr id="1" name=""/>
        <p:cNvGrpSpPr/>
        <p:nvPr/>
      </p:nvGrpSpPr>
      <p:grpSpPr>
        <a:xfrm>
          <a:off x="0" y="0"/>
          <a:ext cx="0" cy="0"/>
          <a:chOff x="0" y="0"/>
          <a:chExt cx="0" cy="0"/>
        </a:xfrm>
      </p:grpSpPr>
      <p:sp>
        <p:nvSpPr>
          <p:cNvPr id="2" name="Shape 0"/>
          <p:cNvSpPr/>
          <p:nvPr/>
        </p:nvSpPr>
        <p:spPr>
          <a:xfrm>
            <a:off x="457200" y="219456"/>
            <a:ext cx="2331720" cy="219456"/>
          </a:xfrm>
          <a:prstGeom prst="roundRect">
            <a:avLst>
              <a:gd name="adj" fmla="val 20833"/>
            </a:avLst>
          </a:prstGeom>
          <a:solidFill>
            <a:srgbClr val="3B4252"/>
          </a:solidFill>
          <a:ln w="12700">
            <a:solidFill>
              <a:srgbClr val="3B4252"/>
            </a:solidFill>
            <a:prstDash val="solid"/>
          </a:ln>
        </p:spPr>
        <p:txBody>
          <a:bodyPr/>
          <a:lstStyle/>
          <a:p>
            <a:endParaRPr lang="en-US"/>
          </a:p>
        </p:txBody>
      </p:sp>
      <p:sp>
        <p:nvSpPr>
          <p:cNvPr id="3" name="Text 1"/>
          <p:cNvSpPr txBox="1"/>
          <p:nvPr/>
        </p:nvSpPr>
        <p:spPr>
          <a:xfrm>
            <a:off x="457200" y="219456"/>
            <a:ext cx="2331720" cy="219456"/>
          </a:xfrm>
          <a:prstGeom prst="rect">
            <a:avLst/>
          </a:prstGeom>
          <a:noFill/>
          <a:ln/>
        </p:spPr>
        <p:txBody>
          <a:bodyPr wrap="square" lIns="0" tIns="0" rIns="0" bIns="0" rtlCol="0" anchor="ctr"/>
          <a:lstStyle/>
          <a:p>
            <a:pPr marL="0" indent="0" algn="ctr">
              <a:buNone/>
            </a:pPr>
            <a:r>
              <a:rPr lang="en-US" sz="850" b="1" kern="0" spc="100" dirty="0">
                <a:solidFill>
                  <a:srgbClr val="F28C28"/>
                </a:solidFill>
                <a:latin typeface="Calibri" pitchFamily="34" charset="0"/>
                <a:ea typeface="Calibri" pitchFamily="34" charset="-122"/>
                <a:cs typeface="Calibri" pitchFamily="34" charset="-120"/>
              </a:rPr>
              <a:t>PART II  ·  THE COMPLETE CHAIN</a:t>
            </a:r>
            <a:endParaRPr lang="en-US" sz="850" dirty="0"/>
          </a:p>
        </p:txBody>
      </p:sp>
      <p:sp>
        <p:nvSpPr>
          <p:cNvPr id="4" name="Text 2"/>
          <p:cNvSpPr txBox="1"/>
          <p:nvPr/>
        </p:nvSpPr>
        <p:spPr>
          <a:xfrm>
            <a:off x="457200" y="475488"/>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Evidence Trail</a:t>
            </a:r>
            <a:endParaRPr lang="en-US" sz="2600" dirty="0"/>
          </a:p>
        </p:txBody>
      </p:sp>
      <p:sp>
        <p:nvSpPr>
          <p:cNvPr id="5" name="Text 3"/>
          <p:cNvSpPr txBox="1"/>
          <p:nvPr/>
        </p:nvSpPr>
        <p:spPr>
          <a:xfrm>
            <a:off x="457200" y="4846320"/>
            <a:ext cx="4572000" cy="201168"/>
          </a:xfrm>
          <a:prstGeom prst="rect">
            <a:avLst/>
          </a:prstGeom>
          <a:noFill/>
          <a:ln/>
        </p:spPr>
        <p:txBody>
          <a:bodyPr wrap="square" lIns="0" tIns="0" rIns="0" bIns="0" rtlCol="0" anchor="ctr"/>
          <a:lstStyle/>
          <a:p>
            <a:pPr marL="0" indent="0">
              <a:buNone/>
            </a:pPr>
            <a:r>
              <a:rPr lang="en-US" sz="850" dirty="0">
                <a:solidFill>
                  <a:srgbClr val="9AA6B8"/>
                </a:solidFill>
                <a:latin typeface="Calibri" pitchFamily="34" charset="0"/>
                <a:ea typeface="Calibri" pitchFamily="34" charset="-122"/>
                <a:cs typeface="Calibri" pitchFamily="34" charset="-120"/>
              </a:rPr>
              <a:t>RL Mini-Project  ·  Angad biped walking</a:t>
            </a:r>
            <a:endParaRPr lang="en-US" sz="850" dirty="0"/>
          </a:p>
        </p:txBody>
      </p:sp>
      <p:sp>
        <p:nvSpPr>
          <p:cNvPr id="6" name="Shape 4"/>
          <p:cNvSpPr/>
          <p:nvPr/>
        </p:nvSpPr>
        <p:spPr>
          <a:xfrm>
            <a:off x="457200" y="1188720"/>
            <a:ext cx="1216152" cy="1005840"/>
          </a:xfrm>
          <a:prstGeom prst="roundRect">
            <a:avLst>
              <a:gd name="adj" fmla="val 7273"/>
            </a:avLst>
          </a:prstGeom>
          <a:solidFill>
            <a:srgbClr val="3B4252"/>
          </a:solidFill>
          <a:ln w="12700">
            <a:solidFill>
              <a:srgbClr val="3B4252"/>
            </a:solidFill>
            <a:prstDash val="solid"/>
          </a:ln>
        </p:spPr>
        <p:txBody>
          <a:bodyPr/>
          <a:lstStyle/>
          <a:p>
            <a:endParaRPr lang="en-US"/>
          </a:p>
        </p:txBody>
      </p:sp>
      <p:sp>
        <p:nvSpPr>
          <p:cNvPr id="7" name="Shape 5"/>
          <p:cNvSpPr/>
          <p:nvPr/>
        </p:nvSpPr>
        <p:spPr>
          <a:xfrm>
            <a:off x="530352" y="1261872"/>
            <a:ext cx="256032" cy="256032"/>
          </a:xfrm>
          <a:prstGeom prst="ellipse">
            <a:avLst/>
          </a:prstGeom>
          <a:solidFill>
            <a:srgbClr val="F28C28"/>
          </a:solidFill>
          <a:ln w="12700">
            <a:solidFill>
              <a:srgbClr val="F28C28"/>
            </a:solidFill>
            <a:prstDash val="solid"/>
          </a:ln>
        </p:spPr>
        <p:txBody>
          <a:bodyPr/>
          <a:lstStyle/>
          <a:p>
            <a:endParaRPr lang="en-US"/>
          </a:p>
        </p:txBody>
      </p:sp>
      <p:sp>
        <p:nvSpPr>
          <p:cNvPr id="8" name="Text 6"/>
          <p:cNvSpPr txBox="1"/>
          <p:nvPr/>
        </p:nvSpPr>
        <p:spPr>
          <a:xfrm>
            <a:off x="530352" y="1261872"/>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9" name="Text 7"/>
          <p:cNvSpPr txBox="1"/>
          <p:nvPr/>
        </p:nvSpPr>
        <p:spPr>
          <a:xfrm>
            <a:off x="530352" y="1554480"/>
            <a:ext cx="1069848"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Problem</a:t>
            </a:r>
            <a:endParaRPr lang="en-US" sz="1100" dirty="0"/>
          </a:p>
        </p:txBody>
      </p:sp>
      <p:sp>
        <p:nvSpPr>
          <p:cNvPr id="10" name="Text 8"/>
          <p:cNvSpPr txBox="1"/>
          <p:nvPr/>
        </p:nvSpPr>
        <p:spPr>
          <a:xfrm>
            <a:off x="530352" y="1938528"/>
            <a:ext cx="1069848" cy="201168"/>
          </a:xfrm>
          <a:prstGeom prst="rect">
            <a:avLst/>
          </a:prstGeom>
          <a:noFill/>
          <a:ln/>
        </p:spPr>
        <p:txBody>
          <a:bodyPr wrap="square" lIns="0" tIns="0" rIns="0" bIns="0" rtlCol="0" anchor="ctr"/>
          <a:lstStyle/>
          <a:p>
            <a:pPr marL="0" indent="0">
              <a:buNone/>
            </a:pPr>
            <a:r>
              <a:rPr lang="en-US" sz="950" dirty="0">
                <a:solidFill>
                  <a:srgbClr val="B8C2D0"/>
                </a:solidFill>
                <a:latin typeface="Calibri" pitchFamily="34" charset="0"/>
                <a:ea typeface="Calibri" pitchFamily="34" charset="-122"/>
                <a:cs typeface="Calibri" pitchFamily="34" charset="-120"/>
              </a:rPr>
              <a:t>slide 2</a:t>
            </a:r>
            <a:endParaRPr lang="en-US" sz="950" dirty="0"/>
          </a:p>
        </p:txBody>
      </p:sp>
      <p:sp>
        <p:nvSpPr>
          <p:cNvPr id="11" name="Shape 9"/>
          <p:cNvSpPr/>
          <p:nvPr/>
        </p:nvSpPr>
        <p:spPr>
          <a:xfrm>
            <a:off x="1682496" y="1691640"/>
            <a:ext cx="173736" cy="0"/>
          </a:xfrm>
          <a:prstGeom prst="line">
            <a:avLst/>
          </a:prstGeom>
          <a:noFill/>
          <a:ln w="22225">
            <a:solidFill>
              <a:srgbClr val="F28C28"/>
            </a:solidFill>
            <a:prstDash val="solid"/>
            <a:tailEnd type="triangle"/>
          </a:ln>
        </p:spPr>
        <p:txBody>
          <a:bodyPr/>
          <a:lstStyle/>
          <a:p>
            <a:endParaRPr lang="en-US"/>
          </a:p>
        </p:txBody>
      </p:sp>
      <p:sp>
        <p:nvSpPr>
          <p:cNvPr id="12" name="Shape 10"/>
          <p:cNvSpPr/>
          <p:nvPr/>
        </p:nvSpPr>
        <p:spPr>
          <a:xfrm>
            <a:off x="1865376" y="1188720"/>
            <a:ext cx="1216152" cy="1005840"/>
          </a:xfrm>
          <a:prstGeom prst="roundRect">
            <a:avLst>
              <a:gd name="adj" fmla="val 7273"/>
            </a:avLst>
          </a:prstGeom>
          <a:solidFill>
            <a:srgbClr val="3B4252"/>
          </a:solidFill>
          <a:ln w="12700">
            <a:solidFill>
              <a:srgbClr val="3B4252"/>
            </a:solidFill>
            <a:prstDash val="solid"/>
          </a:ln>
        </p:spPr>
        <p:txBody>
          <a:bodyPr/>
          <a:lstStyle/>
          <a:p>
            <a:endParaRPr lang="en-US"/>
          </a:p>
        </p:txBody>
      </p:sp>
      <p:sp>
        <p:nvSpPr>
          <p:cNvPr id="13" name="Shape 11"/>
          <p:cNvSpPr/>
          <p:nvPr/>
        </p:nvSpPr>
        <p:spPr>
          <a:xfrm>
            <a:off x="1938528" y="1261872"/>
            <a:ext cx="256032" cy="256032"/>
          </a:xfrm>
          <a:prstGeom prst="ellipse">
            <a:avLst/>
          </a:prstGeom>
          <a:solidFill>
            <a:srgbClr val="F28C28"/>
          </a:solidFill>
          <a:ln w="12700">
            <a:solidFill>
              <a:srgbClr val="F28C28"/>
            </a:solidFill>
            <a:prstDash val="solid"/>
          </a:ln>
        </p:spPr>
        <p:txBody>
          <a:bodyPr/>
          <a:lstStyle/>
          <a:p>
            <a:endParaRPr lang="en-US"/>
          </a:p>
        </p:txBody>
      </p:sp>
      <p:sp>
        <p:nvSpPr>
          <p:cNvPr id="14" name="Text 12"/>
          <p:cNvSpPr txBox="1"/>
          <p:nvPr/>
        </p:nvSpPr>
        <p:spPr>
          <a:xfrm>
            <a:off x="1938528" y="1261872"/>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5" name="Text 13"/>
          <p:cNvSpPr txBox="1"/>
          <p:nvPr/>
        </p:nvSpPr>
        <p:spPr>
          <a:xfrm>
            <a:off x="1938528" y="1554480"/>
            <a:ext cx="1069848"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RL justification</a:t>
            </a:r>
            <a:endParaRPr lang="en-US" sz="1100" dirty="0"/>
          </a:p>
        </p:txBody>
      </p:sp>
      <p:sp>
        <p:nvSpPr>
          <p:cNvPr id="16" name="Text 14"/>
          <p:cNvSpPr txBox="1"/>
          <p:nvPr/>
        </p:nvSpPr>
        <p:spPr>
          <a:xfrm>
            <a:off x="1938528" y="1938528"/>
            <a:ext cx="1069848" cy="201168"/>
          </a:xfrm>
          <a:prstGeom prst="rect">
            <a:avLst/>
          </a:prstGeom>
          <a:noFill/>
          <a:ln/>
        </p:spPr>
        <p:txBody>
          <a:bodyPr wrap="square" lIns="0" tIns="0" rIns="0" bIns="0" rtlCol="0" anchor="ctr"/>
          <a:lstStyle/>
          <a:p>
            <a:pPr marL="0" indent="0">
              <a:buNone/>
            </a:pPr>
            <a:r>
              <a:rPr lang="en-US" sz="950" dirty="0">
                <a:solidFill>
                  <a:srgbClr val="B8C2D0"/>
                </a:solidFill>
                <a:latin typeface="Calibri" pitchFamily="34" charset="0"/>
                <a:ea typeface="Calibri" pitchFamily="34" charset="-122"/>
                <a:cs typeface="Calibri" pitchFamily="34" charset="-120"/>
              </a:rPr>
              <a:t>slides 3–4</a:t>
            </a:r>
            <a:endParaRPr lang="en-US" sz="950" dirty="0"/>
          </a:p>
        </p:txBody>
      </p:sp>
      <p:sp>
        <p:nvSpPr>
          <p:cNvPr id="17" name="Shape 15"/>
          <p:cNvSpPr/>
          <p:nvPr/>
        </p:nvSpPr>
        <p:spPr>
          <a:xfrm>
            <a:off x="3090672" y="1691640"/>
            <a:ext cx="173736" cy="0"/>
          </a:xfrm>
          <a:prstGeom prst="line">
            <a:avLst/>
          </a:prstGeom>
          <a:noFill/>
          <a:ln w="22225">
            <a:solidFill>
              <a:srgbClr val="F28C28"/>
            </a:solidFill>
            <a:prstDash val="solid"/>
            <a:tailEnd type="triangle"/>
          </a:ln>
        </p:spPr>
        <p:txBody>
          <a:bodyPr/>
          <a:lstStyle/>
          <a:p>
            <a:endParaRPr lang="en-US"/>
          </a:p>
        </p:txBody>
      </p:sp>
      <p:sp>
        <p:nvSpPr>
          <p:cNvPr id="18" name="Shape 16"/>
          <p:cNvSpPr/>
          <p:nvPr/>
        </p:nvSpPr>
        <p:spPr>
          <a:xfrm>
            <a:off x="3273552" y="1188720"/>
            <a:ext cx="1216152" cy="1005840"/>
          </a:xfrm>
          <a:prstGeom prst="roundRect">
            <a:avLst>
              <a:gd name="adj" fmla="val 7273"/>
            </a:avLst>
          </a:prstGeom>
          <a:solidFill>
            <a:srgbClr val="3B4252"/>
          </a:solidFill>
          <a:ln w="12700">
            <a:solidFill>
              <a:srgbClr val="3B4252"/>
            </a:solidFill>
            <a:prstDash val="solid"/>
          </a:ln>
        </p:spPr>
        <p:txBody>
          <a:bodyPr/>
          <a:lstStyle/>
          <a:p>
            <a:endParaRPr lang="en-US"/>
          </a:p>
        </p:txBody>
      </p:sp>
      <p:sp>
        <p:nvSpPr>
          <p:cNvPr id="19" name="Shape 17"/>
          <p:cNvSpPr/>
          <p:nvPr/>
        </p:nvSpPr>
        <p:spPr>
          <a:xfrm>
            <a:off x="3346704" y="1261872"/>
            <a:ext cx="256032" cy="256032"/>
          </a:xfrm>
          <a:prstGeom prst="ellipse">
            <a:avLst/>
          </a:prstGeom>
          <a:solidFill>
            <a:srgbClr val="F28C28"/>
          </a:solidFill>
          <a:ln w="12700">
            <a:solidFill>
              <a:srgbClr val="F28C28"/>
            </a:solidFill>
            <a:prstDash val="solid"/>
          </a:ln>
        </p:spPr>
        <p:txBody>
          <a:bodyPr/>
          <a:lstStyle/>
          <a:p>
            <a:endParaRPr lang="en-US"/>
          </a:p>
        </p:txBody>
      </p:sp>
      <p:sp>
        <p:nvSpPr>
          <p:cNvPr id="20" name="Text 18"/>
          <p:cNvSpPr txBox="1"/>
          <p:nvPr/>
        </p:nvSpPr>
        <p:spPr>
          <a:xfrm>
            <a:off x="3346704" y="1261872"/>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1" name="Text 19"/>
          <p:cNvSpPr txBox="1"/>
          <p:nvPr/>
        </p:nvSpPr>
        <p:spPr>
          <a:xfrm>
            <a:off x="3346704" y="1554480"/>
            <a:ext cx="1069848"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State</a:t>
            </a:r>
            <a:endParaRPr lang="en-US" sz="1100" dirty="0"/>
          </a:p>
        </p:txBody>
      </p:sp>
      <p:sp>
        <p:nvSpPr>
          <p:cNvPr id="22" name="Text 20"/>
          <p:cNvSpPr txBox="1"/>
          <p:nvPr/>
        </p:nvSpPr>
        <p:spPr>
          <a:xfrm>
            <a:off x="3346704" y="1938528"/>
            <a:ext cx="1069848" cy="201168"/>
          </a:xfrm>
          <a:prstGeom prst="rect">
            <a:avLst/>
          </a:prstGeom>
          <a:noFill/>
          <a:ln/>
        </p:spPr>
        <p:txBody>
          <a:bodyPr wrap="square" lIns="0" tIns="0" rIns="0" bIns="0" rtlCol="0" anchor="ctr"/>
          <a:lstStyle/>
          <a:p>
            <a:pPr marL="0" indent="0">
              <a:buNone/>
            </a:pPr>
            <a:r>
              <a:rPr lang="en-US" sz="950" dirty="0">
                <a:solidFill>
                  <a:srgbClr val="B8C2D0"/>
                </a:solidFill>
                <a:latin typeface="Calibri" pitchFamily="34" charset="0"/>
                <a:ea typeface="Calibri" pitchFamily="34" charset="-122"/>
                <a:cs typeface="Calibri" pitchFamily="34" charset="-120"/>
              </a:rPr>
              <a:t>slide 7</a:t>
            </a:r>
            <a:endParaRPr lang="en-US" sz="950" dirty="0"/>
          </a:p>
        </p:txBody>
      </p:sp>
      <p:sp>
        <p:nvSpPr>
          <p:cNvPr id="23" name="Shape 21"/>
          <p:cNvSpPr/>
          <p:nvPr/>
        </p:nvSpPr>
        <p:spPr>
          <a:xfrm>
            <a:off x="4498848" y="1691640"/>
            <a:ext cx="173736" cy="0"/>
          </a:xfrm>
          <a:prstGeom prst="line">
            <a:avLst/>
          </a:prstGeom>
          <a:noFill/>
          <a:ln w="22225">
            <a:solidFill>
              <a:srgbClr val="F28C28"/>
            </a:solidFill>
            <a:prstDash val="solid"/>
            <a:tailEnd type="triangle"/>
          </a:ln>
        </p:spPr>
        <p:txBody>
          <a:bodyPr/>
          <a:lstStyle/>
          <a:p>
            <a:endParaRPr lang="en-US"/>
          </a:p>
        </p:txBody>
      </p:sp>
      <p:sp>
        <p:nvSpPr>
          <p:cNvPr id="24" name="Shape 22"/>
          <p:cNvSpPr/>
          <p:nvPr/>
        </p:nvSpPr>
        <p:spPr>
          <a:xfrm>
            <a:off x="4681728" y="1188720"/>
            <a:ext cx="1216152" cy="1005840"/>
          </a:xfrm>
          <a:prstGeom prst="roundRect">
            <a:avLst>
              <a:gd name="adj" fmla="val 7273"/>
            </a:avLst>
          </a:prstGeom>
          <a:solidFill>
            <a:srgbClr val="3B4252"/>
          </a:solidFill>
          <a:ln w="12700">
            <a:solidFill>
              <a:srgbClr val="3B4252"/>
            </a:solidFill>
            <a:prstDash val="solid"/>
          </a:ln>
        </p:spPr>
        <p:txBody>
          <a:bodyPr/>
          <a:lstStyle/>
          <a:p>
            <a:endParaRPr lang="en-US"/>
          </a:p>
        </p:txBody>
      </p:sp>
      <p:sp>
        <p:nvSpPr>
          <p:cNvPr id="25" name="Shape 23"/>
          <p:cNvSpPr/>
          <p:nvPr/>
        </p:nvSpPr>
        <p:spPr>
          <a:xfrm>
            <a:off x="4754880" y="1261872"/>
            <a:ext cx="256032" cy="256032"/>
          </a:xfrm>
          <a:prstGeom prst="ellipse">
            <a:avLst/>
          </a:prstGeom>
          <a:solidFill>
            <a:srgbClr val="F28C28"/>
          </a:solidFill>
          <a:ln w="12700">
            <a:solidFill>
              <a:srgbClr val="F28C28"/>
            </a:solidFill>
            <a:prstDash val="solid"/>
          </a:ln>
        </p:spPr>
        <p:txBody>
          <a:bodyPr/>
          <a:lstStyle/>
          <a:p>
            <a:endParaRPr lang="en-US"/>
          </a:p>
        </p:txBody>
      </p:sp>
      <p:sp>
        <p:nvSpPr>
          <p:cNvPr id="26" name="Text 24"/>
          <p:cNvSpPr txBox="1"/>
          <p:nvPr/>
        </p:nvSpPr>
        <p:spPr>
          <a:xfrm>
            <a:off x="4754880" y="1261872"/>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7" name="Text 25"/>
          <p:cNvSpPr txBox="1"/>
          <p:nvPr/>
        </p:nvSpPr>
        <p:spPr>
          <a:xfrm>
            <a:off x="4754880" y="1554480"/>
            <a:ext cx="1069848"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Action</a:t>
            </a:r>
            <a:endParaRPr lang="en-US" sz="1100" dirty="0"/>
          </a:p>
        </p:txBody>
      </p:sp>
      <p:sp>
        <p:nvSpPr>
          <p:cNvPr id="28" name="Text 26"/>
          <p:cNvSpPr txBox="1"/>
          <p:nvPr/>
        </p:nvSpPr>
        <p:spPr>
          <a:xfrm>
            <a:off x="4754880" y="1938528"/>
            <a:ext cx="1069848" cy="201168"/>
          </a:xfrm>
          <a:prstGeom prst="rect">
            <a:avLst/>
          </a:prstGeom>
          <a:noFill/>
          <a:ln/>
        </p:spPr>
        <p:txBody>
          <a:bodyPr wrap="square" lIns="0" tIns="0" rIns="0" bIns="0" rtlCol="0" anchor="ctr"/>
          <a:lstStyle/>
          <a:p>
            <a:pPr marL="0" indent="0">
              <a:buNone/>
            </a:pPr>
            <a:r>
              <a:rPr lang="en-US" sz="950" dirty="0">
                <a:solidFill>
                  <a:srgbClr val="B8C2D0"/>
                </a:solidFill>
                <a:latin typeface="Calibri" pitchFamily="34" charset="0"/>
                <a:ea typeface="Calibri" pitchFamily="34" charset="-122"/>
                <a:cs typeface="Calibri" pitchFamily="34" charset="-120"/>
              </a:rPr>
              <a:t>slide 8</a:t>
            </a:r>
            <a:endParaRPr lang="en-US" sz="950" dirty="0"/>
          </a:p>
        </p:txBody>
      </p:sp>
      <p:sp>
        <p:nvSpPr>
          <p:cNvPr id="29" name="Shape 27"/>
          <p:cNvSpPr/>
          <p:nvPr/>
        </p:nvSpPr>
        <p:spPr>
          <a:xfrm>
            <a:off x="5907024" y="1691640"/>
            <a:ext cx="173736" cy="0"/>
          </a:xfrm>
          <a:prstGeom prst="line">
            <a:avLst/>
          </a:prstGeom>
          <a:noFill/>
          <a:ln w="22225">
            <a:solidFill>
              <a:srgbClr val="F28C28"/>
            </a:solidFill>
            <a:prstDash val="solid"/>
            <a:tailEnd type="triangle"/>
          </a:ln>
        </p:spPr>
        <p:txBody>
          <a:bodyPr/>
          <a:lstStyle/>
          <a:p>
            <a:endParaRPr lang="en-US"/>
          </a:p>
        </p:txBody>
      </p:sp>
      <p:sp>
        <p:nvSpPr>
          <p:cNvPr id="30" name="Shape 28"/>
          <p:cNvSpPr/>
          <p:nvPr/>
        </p:nvSpPr>
        <p:spPr>
          <a:xfrm>
            <a:off x="6089904" y="1188720"/>
            <a:ext cx="1216152" cy="1005840"/>
          </a:xfrm>
          <a:prstGeom prst="roundRect">
            <a:avLst>
              <a:gd name="adj" fmla="val 7273"/>
            </a:avLst>
          </a:prstGeom>
          <a:solidFill>
            <a:srgbClr val="3B4252"/>
          </a:solidFill>
          <a:ln w="12700">
            <a:solidFill>
              <a:srgbClr val="3B4252"/>
            </a:solidFill>
            <a:prstDash val="solid"/>
          </a:ln>
        </p:spPr>
        <p:txBody>
          <a:bodyPr/>
          <a:lstStyle/>
          <a:p>
            <a:endParaRPr lang="en-US"/>
          </a:p>
        </p:txBody>
      </p:sp>
      <p:sp>
        <p:nvSpPr>
          <p:cNvPr id="31" name="Shape 29"/>
          <p:cNvSpPr/>
          <p:nvPr/>
        </p:nvSpPr>
        <p:spPr>
          <a:xfrm>
            <a:off x="6163056" y="1261872"/>
            <a:ext cx="256032" cy="256032"/>
          </a:xfrm>
          <a:prstGeom prst="ellipse">
            <a:avLst/>
          </a:prstGeom>
          <a:solidFill>
            <a:srgbClr val="F28C28"/>
          </a:solidFill>
          <a:ln w="12700">
            <a:solidFill>
              <a:srgbClr val="F28C28"/>
            </a:solidFill>
            <a:prstDash val="solid"/>
          </a:ln>
        </p:spPr>
        <p:txBody>
          <a:bodyPr/>
          <a:lstStyle/>
          <a:p>
            <a:endParaRPr lang="en-US"/>
          </a:p>
        </p:txBody>
      </p:sp>
      <p:sp>
        <p:nvSpPr>
          <p:cNvPr id="32" name="Text 30"/>
          <p:cNvSpPr txBox="1"/>
          <p:nvPr/>
        </p:nvSpPr>
        <p:spPr>
          <a:xfrm>
            <a:off x="6163056" y="1261872"/>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3" name="Text 31"/>
          <p:cNvSpPr txBox="1"/>
          <p:nvPr/>
        </p:nvSpPr>
        <p:spPr>
          <a:xfrm>
            <a:off x="6163056" y="1554480"/>
            <a:ext cx="1069848"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Reward</a:t>
            </a:r>
            <a:endParaRPr lang="en-US" sz="1100" dirty="0"/>
          </a:p>
        </p:txBody>
      </p:sp>
      <p:sp>
        <p:nvSpPr>
          <p:cNvPr id="34" name="Text 32"/>
          <p:cNvSpPr txBox="1"/>
          <p:nvPr/>
        </p:nvSpPr>
        <p:spPr>
          <a:xfrm>
            <a:off x="6163056" y="1938528"/>
            <a:ext cx="1069848" cy="201168"/>
          </a:xfrm>
          <a:prstGeom prst="rect">
            <a:avLst/>
          </a:prstGeom>
          <a:noFill/>
          <a:ln/>
        </p:spPr>
        <p:txBody>
          <a:bodyPr wrap="square" lIns="0" tIns="0" rIns="0" bIns="0" rtlCol="0" anchor="ctr"/>
          <a:lstStyle/>
          <a:p>
            <a:pPr marL="0" indent="0">
              <a:buNone/>
            </a:pPr>
            <a:r>
              <a:rPr lang="en-US" sz="950" dirty="0">
                <a:solidFill>
                  <a:srgbClr val="B8C2D0"/>
                </a:solidFill>
                <a:latin typeface="Calibri" pitchFamily="34" charset="0"/>
                <a:ea typeface="Calibri" pitchFamily="34" charset="-122"/>
                <a:cs typeface="Calibri" pitchFamily="34" charset="-120"/>
              </a:rPr>
              <a:t>slide 9</a:t>
            </a:r>
            <a:endParaRPr lang="en-US" sz="950" dirty="0"/>
          </a:p>
        </p:txBody>
      </p:sp>
      <p:sp>
        <p:nvSpPr>
          <p:cNvPr id="35" name="Shape 33"/>
          <p:cNvSpPr/>
          <p:nvPr/>
        </p:nvSpPr>
        <p:spPr>
          <a:xfrm>
            <a:off x="7315200" y="1691640"/>
            <a:ext cx="173736" cy="0"/>
          </a:xfrm>
          <a:prstGeom prst="line">
            <a:avLst/>
          </a:prstGeom>
          <a:noFill/>
          <a:ln w="22225">
            <a:solidFill>
              <a:srgbClr val="F28C28"/>
            </a:solidFill>
            <a:prstDash val="solid"/>
            <a:tailEnd type="triangle"/>
          </a:ln>
        </p:spPr>
        <p:txBody>
          <a:bodyPr/>
          <a:lstStyle/>
          <a:p>
            <a:endParaRPr lang="en-US"/>
          </a:p>
        </p:txBody>
      </p:sp>
      <p:sp>
        <p:nvSpPr>
          <p:cNvPr id="36" name="Shape 34"/>
          <p:cNvSpPr/>
          <p:nvPr/>
        </p:nvSpPr>
        <p:spPr>
          <a:xfrm>
            <a:off x="7498080" y="1188720"/>
            <a:ext cx="1216152" cy="1005840"/>
          </a:xfrm>
          <a:prstGeom prst="roundRect">
            <a:avLst>
              <a:gd name="adj" fmla="val 7273"/>
            </a:avLst>
          </a:prstGeom>
          <a:solidFill>
            <a:srgbClr val="3B4252"/>
          </a:solidFill>
          <a:ln w="12700">
            <a:solidFill>
              <a:srgbClr val="3B4252"/>
            </a:solidFill>
            <a:prstDash val="solid"/>
          </a:ln>
        </p:spPr>
        <p:txBody>
          <a:bodyPr/>
          <a:lstStyle/>
          <a:p>
            <a:endParaRPr lang="en-US"/>
          </a:p>
        </p:txBody>
      </p:sp>
      <p:sp>
        <p:nvSpPr>
          <p:cNvPr id="37" name="Shape 35"/>
          <p:cNvSpPr/>
          <p:nvPr/>
        </p:nvSpPr>
        <p:spPr>
          <a:xfrm>
            <a:off x="7571232" y="1261872"/>
            <a:ext cx="256032" cy="256032"/>
          </a:xfrm>
          <a:prstGeom prst="ellipse">
            <a:avLst/>
          </a:prstGeom>
          <a:solidFill>
            <a:srgbClr val="F28C28"/>
          </a:solidFill>
          <a:ln w="12700">
            <a:solidFill>
              <a:srgbClr val="F28C28"/>
            </a:solidFill>
            <a:prstDash val="solid"/>
          </a:ln>
        </p:spPr>
        <p:txBody>
          <a:bodyPr/>
          <a:lstStyle/>
          <a:p>
            <a:endParaRPr lang="en-US"/>
          </a:p>
        </p:txBody>
      </p:sp>
      <p:sp>
        <p:nvSpPr>
          <p:cNvPr id="38" name="Text 36"/>
          <p:cNvSpPr txBox="1"/>
          <p:nvPr/>
        </p:nvSpPr>
        <p:spPr>
          <a:xfrm>
            <a:off x="7571232" y="1261872"/>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9" name="Text 37"/>
          <p:cNvSpPr txBox="1"/>
          <p:nvPr/>
        </p:nvSpPr>
        <p:spPr>
          <a:xfrm>
            <a:off x="7571232" y="1554480"/>
            <a:ext cx="1069848"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Algorithm</a:t>
            </a:r>
            <a:endParaRPr lang="en-US" sz="1100" dirty="0"/>
          </a:p>
        </p:txBody>
      </p:sp>
      <p:sp>
        <p:nvSpPr>
          <p:cNvPr id="40" name="Text 38"/>
          <p:cNvSpPr txBox="1"/>
          <p:nvPr/>
        </p:nvSpPr>
        <p:spPr>
          <a:xfrm>
            <a:off x="7571232" y="1938528"/>
            <a:ext cx="1069848" cy="201168"/>
          </a:xfrm>
          <a:prstGeom prst="rect">
            <a:avLst/>
          </a:prstGeom>
          <a:noFill/>
          <a:ln/>
        </p:spPr>
        <p:txBody>
          <a:bodyPr wrap="square" lIns="0" tIns="0" rIns="0" bIns="0" rtlCol="0" anchor="ctr"/>
          <a:lstStyle/>
          <a:p>
            <a:pPr marL="0" indent="0">
              <a:buNone/>
            </a:pPr>
            <a:r>
              <a:rPr lang="en-US" sz="950" dirty="0">
                <a:solidFill>
                  <a:srgbClr val="B8C2D0"/>
                </a:solidFill>
                <a:latin typeface="Calibri" pitchFamily="34" charset="0"/>
                <a:ea typeface="Calibri" pitchFamily="34" charset="-122"/>
                <a:cs typeface="Calibri" pitchFamily="34" charset="-120"/>
              </a:rPr>
              <a:t>slides 10–11</a:t>
            </a:r>
            <a:endParaRPr lang="en-US" sz="950" dirty="0"/>
          </a:p>
        </p:txBody>
      </p:sp>
      <p:sp>
        <p:nvSpPr>
          <p:cNvPr id="41" name="Shape 39"/>
          <p:cNvSpPr/>
          <p:nvPr/>
        </p:nvSpPr>
        <p:spPr>
          <a:xfrm>
            <a:off x="457200" y="2514600"/>
            <a:ext cx="1216152" cy="1005840"/>
          </a:xfrm>
          <a:prstGeom prst="roundRect">
            <a:avLst>
              <a:gd name="adj" fmla="val 7273"/>
            </a:avLst>
          </a:prstGeom>
          <a:solidFill>
            <a:srgbClr val="3B4252"/>
          </a:solidFill>
          <a:ln w="12700">
            <a:solidFill>
              <a:srgbClr val="3B4252"/>
            </a:solidFill>
            <a:prstDash val="solid"/>
          </a:ln>
        </p:spPr>
        <p:txBody>
          <a:bodyPr/>
          <a:lstStyle/>
          <a:p>
            <a:endParaRPr lang="en-US"/>
          </a:p>
        </p:txBody>
      </p:sp>
      <p:sp>
        <p:nvSpPr>
          <p:cNvPr id="42" name="Shape 40"/>
          <p:cNvSpPr/>
          <p:nvPr/>
        </p:nvSpPr>
        <p:spPr>
          <a:xfrm>
            <a:off x="530352" y="2587752"/>
            <a:ext cx="256032" cy="256032"/>
          </a:xfrm>
          <a:prstGeom prst="ellipse">
            <a:avLst/>
          </a:prstGeom>
          <a:solidFill>
            <a:srgbClr val="F28C28"/>
          </a:solidFill>
          <a:ln w="12700">
            <a:solidFill>
              <a:srgbClr val="F28C28"/>
            </a:solidFill>
            <a:prstDash val="solid"/>
          </a:ln>
        </p:spPr>
        <p:txBody>
          <a:bodyPr/>
          <a:lstStyle/>
          <a:p>
            <a:endParaRPr lang="en-US"/>
          </a:p>
        </p:txBody>
      </p:sp>
      <p:sp>
        <p:nvSpPr>
          <p:cNvPr id="43" name="Text 41"/>
          <p:cNvSpPr txBox="1"/>
          <p:nvPr/>
        </p:nvSpPr>
        <p:spPr>
          <a:xfrm>
            <a:off x="530352" y="2587752"/>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44" name="Text 42"/>
          <p:cNvSpPr txBox="1"/>
          <p:nvPr/>
        </p:nvSpPr>
        <p:spPr>
          <a:xfrm>
            <a:off x="530352" y="2880360"/>
            <a:ext cx="1069848"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Code</a:t>
            </a:r>
            <a:endParaRPr lang="en-US" sz="1100" dirty="0"/>
          </a:p>
        </p:txBody>
      </p:sp>
      <p:sp>
        <p:nvSpPr>
          <p:cNvPr id="45" name="Text 43"/>
          <p:cNvSpPr txBox="1"/>
          <p:nvPr/>
        </p:nvSpPr>
        <p:spPr>
          <a:xfrm>
            <a:off x="530352" y="3264408"/>
            <a:ext cx="1069848" cy="201168"/>
          </a:xfrm>
          <a:prstGeom prst="rect">
            <a:avLst/>
          </a:prstGeom>
          <a:noFill/>
          <a:ln/>
        </p:spPr>
        <p:txBody>
          <a:bodyPr wrap="square" lIns="0" tIns="0" rIns="0" bIns="0" rtlCol="0" anchor="ctr"/>
          <a:lstStyle/>
          <a:p>
            <a:pPr marL="0" indent="0">
              <a:buNone/>
            </a:pPr>
            <a:r>
              <a:rPr lang="en-US" sz="950" dirty="0">
                <a:solidFill>
                  <a:srgbClr val="B8C2D0"/>
                </a:solidFill>
                <a:latin typeface="Calibri" pitchFamily="34" charset="0"/>
                <a:ea typeface="Calibri" pitchFamily="34" charset="-122"/>
                <a:cs typeface="Calibri" pitchFamily="34" charset="-120"/>
              </a:rPr>
              <a:t>slide 12</a:t>
            </a:r>
            <a:endParaRPr lang="en-US" sz="950" dirty="0"/>
          </a:p>
        </p:txBody>
      </p:sp>
      <p:sp>
        <p:nvSpPr>
          <p:cNvPr id="46" name="Shape 44"/>
          <p:cNvSpPr/>
          <p:nvPr/>
        </p:nvSpPr>
        <p:spPr>
          <a:xfrm>
            <a:off x="1682496" y="3017520"/>
            <a:ext cx="173736" cy="0"/>
          </a:xfrm>
          <a:prstGeom prst="line">
            <a:avLst/>
          </a:prstGeom>
          <a:noFill/>
          <a:ln w="22225">
            <a:solidFill>
              <a:srgbClr val="F28C28"/>
            </a:solidFill>
            <a:prstDash val="solid"/>
            <a:tailEnd type="triangle"/>
          </a:ln>
        </p:spPr>
        <p:txBody>
          <a:bodyPr/>
          <a:lstStyle/>
          <a:p>
            <a:endParaRPr lang="en-US"/>
          </a:p>
        </p:txBody>
      </p:sp>
      <p:sp>
        <p:nvSpPr>
          <p:cNvPr id="47" name="Shape 45"/>
          <p:cNvSpPr/>
          <p:nvPr/>
        </p:nvSpPr>
        <p:spPr>
          <a:xfrm>
            <a:off x="1865376" y="2514600"/>
            <a:ext cx="1216152" cy="1005840"/>
          </a:xfrm>
          <a:prstGeom prst="roundRect">
            <a:avLst>
              <a:gd name="adj" fmla="val 7273"/>
            </a:avLst>
          </a:prstGeom>
          <a:solidFill>
            <a:srgbClr val="3B4252"/>
          </a:solidFill>
          <a:ln w="12700">
            <a:solidFill>
              <a:srgbClr val="3B4252"/>
            </a:solidFill>
            <a:prstDash val="solid"/>
          </a:ln>
        </p:spPr>
        <p:txBody>
          <a:bodyPr/>
          <a:lstStyle/>
          <a:p>
            <a:endParaRPr lang="en-US"/>
          </a:p>
        </p:txBody>
      </p:sp>
      <p:sp>
        <p:nvSpPr>
          <p:cNvPr id="48" name="Shape 46"/>
          <p:cNvSpPr/>
          <p:nvPr/>
        </p:nvSpPr>
        <p:spPr>
          <a:xfrm>
            <a:off x="1938528" y="2587752"/>
            <a:ext cx="256032" cy="256032"/>
          </a:xfrm>
          <a:prstGeom prst="ellipse">
            <a:avLst/>
          </a:prstGeom>
          <a:solidFill>
            <a:srgbClr val="F28C28"/>
          </a:solidFill>
          <a:ln w="12700">
            <a:solidFill>
              <a:srgbClr val="F28C28"/>
            </a:solidFill>
            <a:prstDash val="solid"/>
          </a:ln>
        </p:spPr>
        <p:txBody>
          <a:bodyPr/>
          <a:lstStyle/>
          <a:p>
            <a:endParaRPr lang="en-US"/>
          </a:p>
        </p:txBody>
      </p:sp>
      <p:sp>
        <p:nvSpPr>
          <p:cNvPr id="49" name="Text 47"/>
          <p:cNvSpPr txBox="1"/>
          <p:nvPr/>
        </p:nvSpPr>
        <p:spPr>
          <a:xfrm>
            <a:off x="1938528" y="2587752"/>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50" name="Text 48"/>
          <p:cNvSpPr txBox="1"/>
          <p:nvPr/>
        </p:nvSpPr>
        <p:spPr>
          <a:xfrm>
            <a:off x="1938528" y="2880360"/>
            <a:ext cx="1069848"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Learning</a:t>
            </a:r>
            <a:endParaRPr lang="en-US" sz="1100" dirty="0"/>
          </a:p>
        </p:txBody>
      </p:sp>
      <p:sp>
        <p:nvSpPr>
          <p:cNvPr id="51" name="Text 49"/>
          <p:cNvSpPr txBox="1"/>
          <p:nvPr/>
        </p:nvSpPr>
        <p:spPr>
          <a:xfrm>
            <a:off x="1938528" y="3264408"/>
            <a:ext cx="1069848" cy="201168"/>
          </a:xfrm>
          <a:prstGeom prst="rect">
            <a:avLst/>
          </a:prstGeom>
          <a:noFill/>
          <a:ln/>
        </p:spPr>
        <p:txBody>
          <a:bodyPr wrap="square" lIns="0" tIns="0" rIns="0" bIns="0" rtlCol="0" anchor="ctr"/>
          <a:lstStyle/>
          <a:p>
            <a:pPr marL="0" indent="0">
              <a:buNone/>
            </a:pPr>
            <a:r>
              <a:rPr lang="en-US" sz="950" dirty="0">
                <a:solidFill>
                  <a:srgbClr val="B8C2D0"/>
                </a:solidFill>
                <a:latin typeface="Calibri" pitchFamily="34" charset="0"/>
                <a:ea typeface="Calibri" pitchFamily="34" charset="-122"/>
                <a:cs typeface="Calibri" pitchFamily="34" charset="-120"/>
              </a:rPr>
              <a:t>slides 14–15</a:t>
            </a:r>
            <a:endParaRPr lang="en-US" sz="950" dirty="0"/>
          </a:p>
        </p:txBody>
      </p:sp>
      <p:sp>
        <p:nvSpPr>
          <p:cNvPr id="52" name="Shape 50"/>
          <p:cNvSpPr/>
          <p:nvPr/>
        </p:nvSpPr>
        <p:spPr>
          <a:xfrm>
            <a:off x="3090672" y="3017520"/>
            <a:ext cx="173736" cy="0"/>
          </a:xfrm>
          <a:prstGeom prst="line">
            <a:avLst/>
          </a:prstGeom>
          <a:noFill/>
          <a:ln w="22225">
            <a:solidFill>
              <a:srgbClr val="F28C28"/>
            </a:solidFill>
            <a:prstDash val="solid"/>
            <a:tailEnd type="triangle"/>
          </a:ln>
        </p:spPr>
        <p:txBody>
          <a:bodyPr/>
          <a:lstStyle/>
          <a:p>
            <a:endParaRPr lang="en-US"/>
          </a:p>
        </p:txBody>
      </p:sp>
      <p:sp>
        <p:nvSpPr>
          <p:cNvPr id="53" name="Shape 51"/>
          <p:cNvSpPr/>
          <p:nvPr/>
        </p:nvSpPr>
        <p:spPr>
          <a:xfrm>
            <a:off x="3273552" y="2514600"/>
            <a:ext cx="1216152" cy="1005840"/>
          </a:xfrm>
          <a:prstGeom prst="roundRect">
            <a:avLst>
              <a:gd name="adj" fmla="val 7273"/>
            </a:avLst>
          </a:prstGeom>
          <a:solidFill>
            <a:srgbClr val="3B4252"/>
          </a:solidFill>
          <a:ln w="12700">
            <a:solidFill>
              <a:srgbClr val="3B4252"/>
            </a:solidFill>
            <a:prstDash val="solid"/>
          </a:ln>
        </p:spPr>
        <p:txBody>
          <a:bodyPr/>
          <a:lstStyle/>
          <a:p>
            <a:endParaRPr lang="en-US"/>
          </a:p>
        </p:txBody>
      </p:sp>
      <p:sp>
        <p:nvSpPr>
          <p:cNvPr id="54" name="Shape 52"/>
          <p:cNvSpPr/>
          <p:nvPr/>
        </p:nvSpPr>
        <p:spPr>
          <a:xfrm>
            <a:off x="3346704" y="2587752"/>
            <a:ext cx="256032" cy="256032"/>
          </a:xfrm>
          <a:prstGeom prst="ellipse">
            <a:avLst/>
          </a:prstGeom>
          <a:solidFill>
            <a:srgbClr val="F28C28"/>
          </a:solidFill>
          <a:ln w="12700">
            <a:solidFill>
              <a:srgbClr val="F28C28"/>
            </a:solidFill>
            <a:prstDash val="solid"/>
          </a:ln>
        </p:spPr>
        <p:txBody>
          <a:bodyPr/>
          <a:lstStyle/>
          <a:p>
            <a:endParaRPr lang="en-US"/>
          </a:p>
        </p:txBody>
      </p:sp>
      <p:sp>
        <p:nvSpPr>
          <p:cNvPr id="55" name="Text 53"/>
          <p:cNvSpPr txBox="1"/>
          <p:nvPr/>
        </p:nvSpPr>
        <p:spPr>
          <a:xfrm>
            <a:off x="3346704" y="2587752"/>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56" name="Text 54"/>
          <p:cNvSpPr txBox="1"/>
          <p:nvPr/>
        </p:nvSpPr>
        <p:spPr>
          <a:xfrm>
            <a:off x="3346704" y="2880360"/>
            <a:ext cx="1069848"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Performance</a:t>
            </a:r>
            <a:endParaRPr lang="en-US" sz="1100" dirty="0"/>
          </a:p>
        </p:txBody>
      </p:sp>
      <p:sp>
        <p:nvSpPr>
          <p:cNvPr id="57" name="Text 55"/>
          <p:cNvSpPr txBox="1"/>
          <p:nvPr/>
        </p:nvSpPr>
        <p:spPr>
          <a:xfrm>
            <a:off x="3346704" y="3264408"/>
            <a:ext cx="1069848" cy="201168"/>
          </a:xfrm>
          <a:prstGeom prst="rect">
            <a:avLst/>
          </a:prstGeom>
          <a:noFill/>
          <a:ln/>
        </p:spPr>
        <p:txBody>
          <a:bodyPr wrap="square" lIns="0" tIns="0" rIns="0" bIns="0" rtlCol="0" anchor="ctr"/>
          <a:lstStyle/>
          <a:p>
            <a:pPr marL="0" indent="0">
              <a:buNone/>
            </a:pPr>
            <a:r>
              <a:rPr lang="en-US" sz="950" dirty="0">
                <a:solidFill>
                  <a:srgbClr val="B8C2D0"/>
                </a:solidFill>
                <a:latin typeface="Calibri" pitchFamily="34" charset="0"/>
                <a:ea typeface="Calibri" pitchFamily="34" charset="-122"/>
                <a:cs typeface="Calibri" pitchFamily="34" charset="-120"/>
              </a:rPr>
              <a:t>slides 19–20</a:t>
            </a:r>
            <a:endParaRPr lang="en-US" sz="950" dirty="0"/>
          </a:p>
        </p:txBody>
      </p:sp>
      <p:sp>
        <p:nvSpPr>
          <p:cNvPr id="58" name="Shape 56"/>
          <p:cNvSpPr/>
          <p:nvPr/>
        </p:nvSpPr>
        <p:spPr>
          <a:xfrm>
            <a:off x="4498848" y="3017520"/>
            <a:ext cx="173736" cy="0"/>
          </a:xfrm>
          <a:prstGeom prst="line">
            <a:avLst/>
          </a:prstGeom>
          <a:noFill/>
          <a:ln w="22225">
            <a:solidFill>
              <a:srgbClr val="F28C28"/>
            </a:solidFill>
            <a:prstDash val="solid"/>
            <a:tailEnd type="triangle"/>
          </a:ln>
        </p:spPr>
        <p:txBody>
          <a:bodyPr/>
          <a:lstStyle/>
          <a:p>
            <a:endParaRPr lang="en-US"/>
          </a:p>
        </p:txBody>
      </p:sp>
      <p:sp>
        <p:nvSpPr>
          <p:cNvPr id="59" name="Shape 57"/>
          <p:cNvSpPr/>
          <p:nvPr/>
        </p:nvSpPr>
        <p:spPr>
          <a:xfrm>
            <a:off x="4681728" y="2514600"/>
            <a:ext cx="1216152" cy="1005840"/>
          </a:xfrm>
          <a:prstGeom prst="roundRect">
            <a:avLst>
              <a:gd name="adj" fmla="val 7273"/>
            </a:avLst>
          </a:prstGeom>
          <a:solidFill>
            <a:srgbClr val="3B4252"/>
          </a:solidFill>
          <a:ln w="12700">
            <a:solidFill>
              <a:srgbClr val="3B4252"/>
            </a:solidFill>
            <a:prstDash val="solid"/>
          </a:ln>
        </p:spPr>
        <p:txBody>
          <a:bodyPr/>
          <a:lstStyle/>
          <a:p>
            <a:endParaRPr lang="en-US"/>
          </a:p>
        </p:txBody>
      </p:sp>
      <p:sp>
        <p:nvSpPr>
          <p:cNvPr id="60" name="Shape 58"/>
          <p:cNvSpPr/>
          <p:nvPr/>
        </p:nvSpPr>
        <p:spPr>
          <a:xfrm>
            <a:off x="4754880" y="2587752"/>
            <a:ext cx="256032" cy="256032"/>
          </a:xfrm>
          <a:prstGeom prst="ellipse">
            <a:avLst/>
          </a:prstGeom>
          <a:solidFill>
            <a:srgbClr val="F28C28"/>
          </a:solidFill>
          <a:ln w="12700">
            <a:solidFill>
              <a:srgbClr val="F28C28"/>
            </a:solidFill>
            <a:prstDash val="solid"/>
          </a:ln>
        </p:spPr>
        <p:txBody>
          <a:bodyPr/>
          <a:lstStyle/>
          <a:p>
            <a:endParaRPr lang="en-US"/>
          </a:p>
        </p:txBody>
      </p:sp>
      <p:sp>
        <p:nvSpPr>
          <p:cNvPr id="61" name="Text 59"/>
          <p:cNvSpPr txBox="1"/>
          <p:nvPr/>
        </p:nvSpPr>
        <p:spPr>
          <a:xfrm>
            <a:off x="4754880" y="2587752"/>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62" name="Text 60"/>
          <p:cNvSpPr txBox="1"/>
          <p:nvPr/>
        </p:nvSpPr>
        <p:spPr>
          <a:xfrm>
            <a:off x="4754880" y="2880360"/>
            <a:ext cx="1069848"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Exploration / exploitation</a:t>
            </a:r>
            <a:endParaRPr lang="en-US" sz="1100" dirty="0"/>
          </a:p>
        </p:txBody>
      </p:sp>
      <p:sp>
        <p:nvSpPr>
          <p:cNvPr id="63" name="Text 61"/>
          <p:cNvSpPr txBox="1"/>
          <p:nvPr/>
        </p:nvSpPr>
        <p:spPr>
          <a:xfrm>
            <a:off x="4754880" y="3264408"/>
            <a:ext cx="1069848" cy="201168"/>
          </a:xfrm>
          <a:prstGeom prst="rect">
            <a:avLst/>
          </a:prstGeom>
          <a:noFill/>
          <a:ln/>
        </p:spPr>
        <p:txBody>
          <a:bodyPr wrap="square" lIns="0" tIns="0" rIns="0" bIns="0" rtlCol="0" anchor="ctr"/>
          <a:lstStyle/>
          <a:p>
            <a:pPr marL="0" indent="0">
              <a:buNone/>
            </a:pPr>
            <a:r>
              <a:rPr lang="en-US" sz="950" dirty="0">
                <a:solidFill>
                  <a:srgbClr val="B8C2D0"/>
                </a:solidFill>
                <a:latin typeface="Calibri" pitchFamily="34" charset="0"/>
                <a:ea typeface="Calibri" pitchFamily="34" charset="-122"/>
                <a:cs typeface="Calibri" pitchFamily="34" charset="-120"/>
              </a:rPr>
              <a:t>slides 21–22</a:t>
            </a:r>
            <a:endParaRPr lang="en-US" sz="950" dirty="0"/>
          </a:p>
        </p:txBody>
      </p:sp>
      <p:sp>
        <p:nvSpPr>
          <p:cNvPr id="64" name="Shape 62"/>
          <p:cNvSpPr/>
          <p:nvPr/>
        </p:nvSpPr>
        <p:spPr>
          <a:xfrm>
            <a:off x="5907024" y="3017520"/>
            <a:ext cx="173736" cy="0"/>
          </a:xfrm>
          <a:prstGeom prst="line">
            <a:avLst/>
          </a:prstGeom>
          <a:noFill/>
          <a:ln w="22225">
            <a:solidFill>
              <a:srgbClr val="F28C28"/>
            </a:solidFill>
            <a:prstDash val="solid"/>
            <a:tailEnd type="triangle"/>
          </a:ln>
        </p:spPr>
        <p:txBody>
          <a:bodyPr/>
          <a:lstStyle/>
          <a:p>
            <a:endParaRPr lang="en-US"/>
          </a:p>
        </p:txBody>
      </p:sp>
      <p:sp>
        <p:nvSpPr>
          <p:cNvPr id="65" name="Shape 63"/>
          <p:cNvSpPr/>
          <p:nvPr/>
        </p:nvSpPr>
        <p:spPr>
          <a:xfrm>
            <a:off x="6089904" y="2514600"/>
            <a:ext cx="1216152" cy="1005840"/>
          </a:xfrm>
          <a:prstGeom prst="roundRect">
            <a:avLst>
              <a:gd name="adj" fmla="val 7273"/>
            </a:avLst>
          </a:prstGeom>
          <a:solidFill>
            <a:srgbClr val="3B4252"/>
          </a:solidFill>
          <a:ln w="12700">
            <a:solidFill>
              <a:srgbClr val="3B4252"/>
            </a:solidFill>
            <a:prstDash val="solid"/>
          </a:ln>
        </p:spPr>
        <p:txBody>
          <a:bodyPr/>
          <a:lstStyle/>
          <a:p>
            <a:endParaRPr lang="en-US"/>
          </a:p>
        </p:txBody>
      </p:sp>
      <p:sp>
        <p:nvSpPr>
          <p:cNvPr id="66" name="Shape 64"/>
          <p:cNvSpPr/>
          <p:nvPr/>
        </p:nvSpPr>
        <p:spPr>
          <a:xfrm>
            <a:off x="6163056" y="2587752"/>
            <a:ext cx="256032" cy="256032"/>
          </a:xfrm>
          <a:prstGeom prst="ellipse">
            <a:avLst/>
          </a:prstGeom>
          <a:solidFill>
            <a:srgbClr val="F28C28"/>
          </a:solidFill>
          <a:ln w="12700">
            <a:solidFill>
              <a:srgbClr val="F28C28"/>
            </a:solidFill>
            <a:prstDash val="solid"/>
          </a:ln>
        </p:spPr>
        <p:txBody>
          <a:bodyPr/>
          <a:lstStyle/>
          <a:p>
            <a:endParaRPr lang="en-US"/>
          </a:p>
        </p:txBody>
      </p:sp>
      <p:sp>
        <p:nvSpPr>
          <p:cNvPr id="67" name="Text 65"/>
          <p:cNvSpPr txBox="1"/>
          <p:nvPr/>
        </p:nvSpPr>
        <p:spPr>
          <a:xfrm>
            <a:off x="6163056" y="2587752"/>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68" name="Text 66"/>
          <p:cNvSpPr txBox="1"/>
          <p:nvPr/>
        </p:nvSpPr>
        <p:spPr>
          <a:xfrm>
            <a:off x="6163056" y="2880360"/>
            <a:ext cx="1069848"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Conclusion</a:t>
            </a:r>
            <a:endParaRPr lang="en-US" sz="1100" dirty="0"/>
          </a:p>
        </p:txBody>
      </p:sp>
      <p:sp>
        <p:nvSpPr>
          <p:cNvPr id="69" name="Text 67"/>
          <p:cNvSpPr txBox="1"/>
          <p:nvPr/>
        </p:nvSpPr>
        <p:spPr>
          <a:xfrm>
            <a:off x="6163056" y="3264408"/>
            <a:ext cx="1069848" cy="201168"/>
          </a:xfrm>
          <a:prstGeom prst="rect">
            <a:avLst/>
          </a:prstGeom>
          <a:noFill/>
          <a:ln/>
        </p:spPr>
        <p:txBody>
          <a:bodyPr wrap="square" lIns="0" tIns="0" rIns="0" bIns="0" rtlCol="0" anchor="ctr"/>
          <a:lstStyle/>
          <a:p>
            <a:pPr marL="0" indent="0">
              <a:buNone/>
            </a:pPr>
            <a:r>
              <a:rPr lang="en-US" sz="950" dirty="0">
                <a:solidFill>
                  <a:srgbClr val="B8C2D0"/>
                </a:solidFill>
                <a:latin typeface="Calibri" pitchFamily="34" charset="0"/>
                <a:ea typeface="Calibri" pitchFamily="34" charset="-122"/>
                <a:cs typeface="Calibri" pitchFamily="34" charset="-120"/>
              </a:rPr>
              <a:t>slide 17</a:t>
            </a:r>
            <a:endParaRPr lang="en-US" sz="950" dirty="0"/>
          </a:p>
        </p:txBody>
      </p:sp>
      <p:sp>
        <p:nvSpPr>
          <p:cNvPr id="70" name="Text 68"/>
          <p:cNvSpPr txBox="1"/>
          <p:nvPr/>
        </p:nvSpPr>
        <p:spPr>
          <a:xfrm>
            <a:off x="457200" y="3931920"/>
            <a:ext cx="82296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Thank you.  Questions?</a:t>
            </a:r>
            <a:endParaRPr lang="en-US" sz="3000" dirty="0"/>
          </a:p>
        </p:txBody>
      </p:sp>
      <p:sp>
        <p:nvSpPr>
          <p:cNvPr id="71" name="Text 69"/>
          <p:cNvSpPr txBox="1"/>
          <p:nvPr/>
        </p:nvSpPr>
        <p:spPr>
          <a:xfrm>
            <a:off x="457200" y="4498848"/>
            <a:ext cx="8229600" cy="237744"/>
          </a:xfrm>
          <a:prstGeom prst="rect">
            <a:avLst/>
          </a:prstGeom>
          <a:noFill/>
          <a:ln/>
        </p:spPr>
        <p:txBody>
          <a:bodyPr wrap="square" lIns="0" tIns="0" rIns="0" bIns="0" rtlCol="0" anchor="ctr"/>
          <a:lstStyle/>
          <a:p>
            <a:pPr marL="0" indent="0">
              <a:buNone/>
            </a:pPr>
            <a:r>
              <a:rPr lang="en-US" sz="1000" dirty="0">
                <a:solidFill>
                  <a:srgbClr val="9AA6B8"/>
                </a:solidFill>
                <a:latin typeface="Calibri" pitchFamily="34" charset="0"/>
                <a:ea typeface="Calibri" pitchFamily="34" charset="-122"/>
                <a:cs typeface="Calibri" pitchFamily="34" charset="-120"/>
              </a:rPr>
              <a:t>Backup slides follow: robot model and gains, before-vs-after tracking, model validation, tools surveyed.</a:t>
            </a:r>
            <a:endParaRPr lang="en-US" sz="1000" dirty="0"/>
          </a:p>
        </p:txBody>
      </p:sp>
      <p:sp>
        <p:nvSpPr>
          <p:cNvPr id="72"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50">
                <a:solidFill>
                  <a:srgbClr val="9AA6B8"/>
                </a:solidFill>
                <a:latin typeface="Calibri"/>
                <a:ea typeface="Calibri"/>
                <a:cs typeface="Calibri"/>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457200" y="219456"/>
            <a:ext cx="1988820" cy="219456"/>
          </a:xfrm>
          <a:prstGeom prst="roundRect">
            <a:avLst>
              <a:gd name="adj" fmla="val 20833"/>
            </a:avLst>
          </a:prstGeom>
          <a:solidFill>
            <a:srgbClr val="E6F1FA"/>
          </a:solidFill>
          <a:ln w="12700">
            <a:solidFill>
              <a:srgbClr val="E6F1FA"/>
            </a:solidFill>
            <a:prstDash val="solid"/>
          </a:ln>
        </p:spPr>
        <p:txBody>
          <a:bodyPr/>
          <a:lstStyle/>
          <a:p>
            <a:endParaRPr lang="en-US"/>
          </a:p>
        </p:txBody>
      </p:sp>
      <p:sp>
        <p:nvSpPr>
          <p:cNvPr id="3" name="Text 1"/>
          <p:cNvSpPr txBox="1"/>
          <p:nvPr/>
        </p:nvSpPr>
        <p:spPr>
          <a:xfrm>
            <a:off x="457200" y="219456"/>
            <a:ext cx="1988820" cy="219456"/>
          </a:xfrm>
          <a:prstGeom prst="rect">
            <a:avLst/>
          </a:prstGeom>
          <a:noFill/>
          <a:ln/>
        </p:spPr>
        <p:txBody>
          <a:bodyPr wrap="square" lIns="0" tIns="0" rIns="0" bIns="0" rtlCol="0" anchor="ctr"/>
          <a:lstStyle/>
          <a:p>
            <a:pPr marL="0" indent="0" algn="ctr">
              <a:buNone/>
            </a:pPr>
            <a:r>
              <a:rPr lang="en-US" sz="850" b="1" kern="0" spc="100" dirty="0">
                <a:solidFill>
                  <a:srgbClr val="1F7AC0"/>
                </a:solidFill>
                <a:latin typeface="Calibri" pitchFamily="34" charset="0"/>
                <a:ea typeface="Calibri" pitchFamily="34" charset="-122"/>
                <a:cs typeface="Calibri" pitchFamily="34" charset="-120"/>
              </a:rPr>
              <a:t>BACKUP  ·  VIVA REFERENCE</a:t>
            </a:r>
            <a:endParaRPr lang="en-US" sz="850" dirty="0"/>
          </a:p>
        </p:txBody>
      </p:sp>
      <p:sp>
        <p:nvSpPr>
          <p:cNvPr id="4" name="Text 2"/>
          <p:cNvSpPr txBox="1"/>
          <p:nvPr/>
        </p:nvSpPr>
        <p:spPr>
          <a:xfrm>
            <a:off x="457200" y="475488"/>
            <a:ext cx="8229600" cy="502920"/>
          </a:xfrm>
          <a:prstGeom prst="rect">
            <a:avLst/>
          </a:prstGeom>
          <a:noFill/>
          <a:ln/>
        </p:spPr>
        <p:txBody>
          <a:bodyPr wrap="square" lIns="0" tIns="0" rIns="0" bIns="0" rtlCol="0" anchor="ctr"/>
          <a:lstStyle/>
          <a:p>
            <a:pPr marL="0" indent="0">
              <a:buNone/>
            </a:pPr>
            <a:r>
              <a:rPr lang="en-US" sz="2600" b="1" dirty="0">
                <a:solidFill>
                  <a:srgbClr val="2B3340"/>
                </a:solidFill>
                <a:latin typeface="Cambria" pitchFamily="34" charset="0"/>
                <a:ea typeface="Cambria" pitchFamily="34" charset="-122"/>
                <a:cs typeface="Cambria" pitchFamily="34" charset="-120"/>
              </a:rPr>
              <a:t>Backup: Robot Model &amp; Controller Gains</a:t>
            </a:r>
            <a:endParaRPr lang="en-US" sz="2600" dirty="0"/>
          </a:p>
        </p:txBody>
      </p:sp>
      <p:sp>
        <p:nvSpPr>
          <p:cNvPr id="5" name="Text 3"/>
          <p:cNvSpPr txBox="1"/>
          <p:nvPr/>
        </p:nvSpPr>
        <p:spPr>
          <a:xfrm>
            <a:off x="457200" y="4846320"/>
            <a:ext cx="4572000" cy="201168"/>
          </a:xfrm>
          <a:prstGeom prst="rect">
            <a:avLst/>
          </a:prstGeom>
          <a:noFill/>
          <a:ln/>
        </p:spPr>
        <p:txBody>
          <a:bodyPr wrap="square" lIns="0" tIns="0" rIns="0" bIns="0" rtlCol="0" anchor="ctr"/>
          <a:lstStyle/>
          <a:p>
            <a:pPr marL="0" indent="0">
              <a:buNone/>
            </a:pPr>
            <a:r>
              <a:rPr lang="en-US" sz="850" dirty="0">
                <a:solidFill>
                  <a:srgbClr val="667085"/>
                </a:solidFill>
                <a:latin typeface="Calibri" pitchFamily="34" charset="0"/>
                <a:ea typeface="Calibri" pitchFamily="34" charset="-122"/>
                <a:cs typeface="Calibri" pitchFamily="34" charset="-120"/>
              </a:rPr>
              <a:t>RL Mini-Project  ·  Angad biped walking</a:t>
            </a:r>
            <a:endParaRPr lang="en-US" sz="8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3931920" cy="2962656"/>
        </p:xfrm>
        <a:graphic>
          <a:graphicData uri="http://schemas.openxmlformats.org/drawingml/2006/table">
            <a:tbl>
              <a:tblPr/>
              <a:tblGrid>
                <a:gridCol w="27432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Link</a:t>
                      </a:r>
                      <a:endParaRPr lang="en-US" sz="11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1F7AC0"/>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Mass (kg)</a:t>
                      </a:r>
                      <a:endParaRPr lang="en-US" sz="11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1F7AC0"/>
                    </a:solidFill>
                  </a:tcPr>
                </a:tc>
                <a:extLst>
                  <a:ext uri="{0D108BD9-81ED-4DB2-BD59-A6C34878D82A}">
                    <a16:rowId xmlns:a16="http://schemas.microsoft.com/office/drawing/2014/main" val="10000"/>
                  </a:ext>
                </a:extLst>
              </a:tr>
              <a:tr h="329184">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Base</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r">
                        <a:buNone/>
                      </a:pPr>
                      <a:r>
                        <a:rPr lang="en-US" sz="1050" dirty="0">
                          <a:solidFill>
                            <a:srgbClr val="2B3340"/>
                          </a:solidFill>
                          <a:latin typeface="Calibri" pitchFamily="34" charset="0"/>
                          <a:ea typeface="Calibri" pitchFamily="34" charset="-122"/>
                          <a:cs typeface="Calibri" pitchFamily="34" charset="-120"/>
                        </a:rPr>
                        <a:t>3.206</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Hip pitch link (per leg)</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r">
                        <a:buNone/>
                      </a:pPr>
                      <a:r>
                        <a:rPr lang="en-US" sz="1050" dirty="0">
                          <a:solidFill>
                            <a:srgbClr val="2B3340"/>
                          </a:solidFill>
                          <a:latin typeface="Calibri" pitchFamily="34" charset="0"/>
                          <a:ea typeface="Calibri" pitchFamily="34" charset="-122"/>
                          <a:cs typeface="Calibri" pitchFamily="34" charset="-120"/>
                        </a:rPr>
                        <a:t>0.157</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extLst>
                  <a:ext uri="{0D108BD9-81ED-4DB2-BD59-A6C34878D82A}">
                    <a16:rowId xmlns:a16="http://schemas.microsoft.com/office/drawing/2014/main" val="10002"/>
                  </a:ext>
                </a:extLst>
              </a:tr>
              <a:tr h="329184">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Thigh link (per leg)</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r">
                        <a:buNone/>
                      </a:pPr>
                      <a:r>
                        <a:rPr lang="en-US" sz="1050" dirty="0">
                          <a:solidFill>
                            <a:srgbClr val="2B3340"/>
                          </a:solidFill>
                          <a:latin typeface="Calibri" pitchFamily="34" charset="0"/>
                          <a:ea typeface="Calibri" pitchFamily="34" charset="-122"/>
                          <a:cs typeface="Calibri" pitchFamily="34" charset="-120"/>
                        </a:rPr>
                        <a:t>3.162</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Knee link (per leg)</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r">
                        <a:buNone/>
                      </a:pPr>
                      <a:r>
                        <a:rPr lang="en-US" sz="1050" dirty="0">
                          <a:solidFill>
                            <a:srgbClr val="2B3340"/>
                          </a:solidFill>
                          <a:latin typeface="Calibri" pitchFamily="34" charset="0"/>
                          <a:ea typeface="Calibri" pitchFamily="34" charset="-122"/>
                          <a:cs typeface="Calibri" pitchFamily="34" charset="-120"/>
                        </a:rPr>
                        <a:t>1.876</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extLst>
                  <a:ext uri="{0D108BD9-81ED-4DB2-BD59-A6C34878D82A}">
                    <a16:rowId xmlns:a16="http://schemas.microsoft.com/office/drawing/2014/main" val="10004"/>
                  </a:ext>
                </a:extLst>
              </a:tr>
              <a:tr h="329184">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Shank link (per leg)</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r">
                        <a:buNone/>
                      </a:pPr>
                      <a:r>
                        <a:rPr lang="en-US" sz="1050" dirty="0">
                          <a:solidFill>
                            <a:srgbClr val="2B3340"/>
                          </a:solidFill>
                          <a:latin typeface="Calibri" pitchFamily="34" charset="0"/>
                          <a:ea typeface="Calibri" pitchFamily="34" charset="-122"/>
                          <a:cs typeface="Calibri" pitchFamily="34" charset="-120"/>
                        </a:rPr>
                        <a:t>2.071</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Ankle coupler (per leg)</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r">
                        <a:buNone/>
                      </a:pPr>
                      <a:r>
                        <a:rPr lang="en-US" sz="1050" dirty="0">
                          <a:solidFill>
                            <a:srgbClr val="2B3340"/>
                          </a:solidFill>
                          <a:latin typeface="Calibri" pitchFamily="34" charset="0"/>
                          <a:ea typeface="Calibri" pitchFamily="34" charset="-122"/>
                          <a:cs typeface="Calibri" pitchFamily="34" charset="-120"/>
                        </a:rPr>
                        <a:t>0.052</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extLst>
                  <a:ext uri="{0D108BD9-81ED-4DB2-BD59-A6C34878D82A}">
                    <a16:rowId xmlns:a16="http://schemas.microsoft.com/office/drawing/2014/main" val="10006"/>
                  </a:ext>
                </a:extLst>
              </a:tr>
              <a:tr h="329184">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Foot link (per leg)</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r">
                        <a:buNone/>
                      </a:pPr>
                      <a:r>
                        <a:rPr lang="en-US" sz="1050" dirty="0">
                          <a:solidFill>
                            <a:srgbClr val="2B3340"/>
                          </a:solidFill>
                          <a:latin typeface="Calibri" pitchFamily="34" charset="0"/>
                          <a:ea typeface="Calibri" pitchFamily="34" charset="-122"/>
                          <a:cs typeface="Calibri" pitchFamily="34" charset="-120"/>
                        </a:rPr>
                        <a:t>0.537</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9184">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Total mass (base + both legs)</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E6F1FA"/>
                    </a:solidFill>
                  </a:tcPr>
                </a:tc>
                <a:tc>
                  <a:txBody>
                    <a:bodyPr/>
                    <a:lstStyle/>
                    <a:p>
                      <a:pPr marL="0" indent="0" algn="r">
                        <a:buNone/>
                      </a:pPr>
                      <a:r>
                        <a:rPr lang="en-US" sz="1050" b="1" dirty="0">
                          <a:solidFill>
                            <a:srgbClr val="2B3340"/>
                          </a:solidFill>
                          <a:latin typeface="Calibri" pitchFamily="34" charset="0"/>
                          <a:ea typeface="Calibri" pitchFamily="34" charset="-122"/>
                          <a:cs typeface="Calibri" pitchFamily="34" charset="-120"/>
                        </a:rPr>
                        <a:t>18.917</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E6F1FA"/>
                    </a:solidFill>
                  </a:tcPr>
                </a:tc>
                <a:extLst>
                  <a:ext uri="{0D108BD9-81ED-4DB2-BD59-A6C34878D82A}">
                    <a16:rowId xmlns:a16="http://schemas.microsoft.com/office/drawing/2014/main" val="10008"/>
                  </a:ext>
                </a:extLst>
              </a:tr>
            </a:tbl>
          </a:graphicData>
        </a:graphic>
      </p:graphicFrame>
      <p:graphicFrame>
        <p:nvGraphicFramePr>
          <p:cNvPr id="51" name="Table 1"/>
          <p:cNvGraphicFramePr>
            <a:graphicFrameLocks noGrp="1"/>
          </p:cNvGraphicFramePr>
          <p:nvPr>
            <p:extLst>
              <p:ext uri="{D42A27DB-BD31-4B8C-83A1-F6EECF244321}">
                <p14:modId xmlns:p14="http://schemas.microsoft.com/office/powerpoint/2010/main" val="1579011935"/>
              </p:ext>
            </p:extLst>
          </p:nvPr>
        </p:nvGraphicFramePr>
        <p:xfrm>
          <a:off x="4754880" y="1097280"/>
          <a:ext cx="3931920" cy="2304288"/>
        </p:xfrm>
        <a:graphic>
          <a:graphicData uri="http://schemas.openxmlformats.org/drawingml/2006/table">
            <a:tbl>
              <a:tblPr/>
              <a:tblGrid>
                <a:gridCol w="21031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Joint (same on both legs)</a:t>
                      </a:r>
                      <a:endParaRPr lang="en-US" sz="11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28C28"/>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KP</a:t>
                      </a:r>
                      <a:endParaRPr lang="en-US" sz="11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28C28"/>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KD</a:t>
                      </a:r>
                      <a:endParaRPr lang="en-US" sz="110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28C28"/>
                    </a:solidFill>
                  </a:tcPr>
                </a:tc>
                <a:extLst>
                  <a:ext uri="{0D108BD9-81ED-4DB2-BD59-A6C34878D82A}">
                    <a16:rowId xmlns:a16="http://schemas.microsoft.com/office/drawing/2014/main" val="10000"/>
                  </a:ext>
                </a:extLst>
              </a:tr>
              <a:tr h="329184">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Hip pitch</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B3340"/>
                          </a:solidFill>
                          <a:latin typeface="Calibri" pitchFamily="34" charset="0"/>
                          <a:ea typeface="Calibri" pitchFamily="34" charset="-122"/>
                          <a:cs typeface="Calibri" pitchFamily="34" charset="-120"/>
                        </a:rPr>
                        <a:t>800</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B3340"/>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Hip roll</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ctr">
                        <a:buNone/>
                      </a:pPr>
                      <a:r>
                        <a:rPr lang="en-US" sz="1050" dirty="0">
                          <a:solidFill>
                            <a:srgbClr val="2B3340"/>
                          </a:solidFill>
                          <a:latin typeface="Calibri" pitchFamily="34" charset="0"/>
                          <a:ea typeface="Calibri" pitchFamily="34" charset="-122"/>
                          <a:cs typeface="Calibri" pitchFamily="34" charset="-120"/>
                        </a:rPr>
                        <a:t>800</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ctr">
                        <a:buNone/>
                      </a:pPr>
                      <a:r>
                        <a:rPr lang="en-US" sz="1050" dirty="0">
                          <a:solidFill>
                            <a:srgbClr val="2B3340"/>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extLst>
                  <a:ext uri="{0D108BD9-81ED-4DB2-BD59-A6C34878D82A}">
                    <a16:rowId xmlns:a16="http://schemas.microsoft.com/office/drawing/2014/main" val="10002"/>
                  </a:ext>
                </a:extLst>
              </a:tr>
              <a:tr h="329184">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Hip yaw</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B3340"/>
                          </a:solidFill>
                          <a:latin typeface="Calibri" pitchFamily="34" charset="0"/>
                          <a:ea typeface="Calibri" pitchFamily="34" charset="-122"/>
                          <a:cs typeface="Calibri" pitchFamily="34" charset="-120"/>
                        </a:rPr>
                        <a:t>135</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B3340"/>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Knee pitch</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ctr">
                        <a:buNone/>
                      </a:pPr>
                      <a:r>
                        <a:rPr lang="en-US" sz="1050" dirty="0">
                          <a:solidFill>
                            <a:srgbClr val="2B3340"/>
                          </a:solidFill>
                          <a:latin typeface="Calibri" pitchFamily="34" charset="0"/>
                          <a:ea typeface="Calibri" pitchFamily="34" charset="-122"/>
                          <a:cs typeface="Calibri" pitchFamily="34" charset="-120"/>
                        </a:rPr>
                        <a:t>500</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ctr">
                        <a:buNone/>
                      </a:pPr>
                      <a:r>
                        <a:rPr lang="en-US" sz="1050" dirty="0">
                          <a:solidFill>
                            <a:srgbClr val="2B3340"/>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extLst>
                  <a:ext uri="{0D108BD9-81ED-4DB2-BD59-A6C34878D82A}">
                    <a16:rowId xmlns:a16="http://schemas.microsoft.com/office/drawing/2014/main" val="10004"/>
                  </a:ext>
                </a:extLst>
              </a:tr>
              <a:tr h="329184">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Ankle pitch</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B3340"/>
                          </a:solidFill>
                          <a:latin typeface="Calibri" pitchFamily="34" charset="0"/>
                          <a:ea typeface="Calibri" pitchFamily="34" charset="-122"/>
                          <a:cs typeface="Calibri" pitchFamily="34" charset="-120"/>
                        </a:rPr>
                        <a:t>282</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B3340"/>
                          </a:solidFill>
                          <a:latin typeface="Calibri" pitchFamily="34" charset="0"/>
                          <a:ea typeface="Calibri" pitchFamily="34" charset="-122"/>
                          <a:cs typeface="Calibri" pitchFamily="34" charset="-120"/>
                        </a:rPr>
                        <a:t>0.8</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lgn="l">
                        <a:buNone/>
                      </a:pPr>
                      <a:r>
                        <a:rPr lang="en-US" sz="1050" b="1" dirty="0">
                          <a:solidFill>
                            <a:srgbClr val="2B3340"/>
                          </a:solidFill>
                          <a:latin typeface="Calibri" pitchFamily="34" charset="0"/>
                          <a:ea typeface="Calibri" pitchFamily="34" charset="-122"/>
                          <a:cs typeface="Calibri" pitchFamily="34" charset="-120"/>
                        </a:rPr>
                        <a:t>Ankle roll</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ctr">
                        <a:buNone/>
                      </a:pPr>
                      <a:r>
                        <a:rPr lang="en-US" sz="1050" dirty="0">
                          <a:solidFill>
                            <a:srgbClr val="2B3340"/>
                          </a:solidFill>
                          <a:latin typeface="Calibri" pitchFamily="34" charset="0"/>
                          <a:ea typeface="Calibri" pitchFamily="34" charset="-122"/>
                          <a:cs typeface="Calibri" pitchFamily="34" charset="-120"/>
                        </a:rPr>
                        <a:t>290</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tc>
                  <a:txBody>
                    <a:bodyPr/>
                    <a:lstStyle/>
                    <a:p>
                      <a:pPr marL="0" indent="0" algn="ctr">
                        <a:buNone/>
                      </a:pPr>
                      <a:r>
                        <a:rPr lang="en-US" sz="1050" dirty="0">
                          <a:solidFill>
                            <a:srgbClr val="2B3340"/>
                          </a:solidFill>
                          <a:latin typeface="Calibri" pitchFamily="34" charset="0"/>
                          <a:ea typeface="Calibri" pitchFamily="34" charset="-122"/>
                          <a:cs typeface="Calibri" pitchFamily="34" charset="-120"/>
                        </a:rPr>
                        <a:t>0.6</a:t>
                      </a:r>
                      <a:endParaRPr lang="en-US" sz="1050" dirty="0">
                        <a:latin typeface="Calibri" charset="0"/>
                        <a:ea typeface="Calibri" charset="0"/>
                        <a:cs typeface="Calibri" charset="0"/>
                      </a:endParaRPr>
                    </a:p>
                  </a:txBody>
                  <a:tcPr marL="73152" marR="73152" marT="27432" marB="27432" anchor="ctr">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rgbClr val="F0F5FA"/>
                    </a:solidFill>
                  </a:tcPr>
                </a:tc>
                <a:extLst>
                  <a:ext uri="{0D108BD9-81ED-4DB2-BD59-A6C34878D82A}">
                    <a16:rowId xmlns:a16="http://schemas.microsoft.com/office/drawing/2014/main" val="10006"/>
                  </a:ext>
                </a:extLst>
              </a:tr>
            </a:tbl>
          </a:graphicData>
        </a:graphic>
      </p:graphicFrame>
      <p:sp>
        <p:nvSpPr>
          <p:cNvPr id="8" name="Shape 4"/>
          <p:cNvSpPr/>
          <p:nvPr/>
        </p:nvSpPr>
        <p:spPr>
          <a:xfrm>
            <a:off x="4754880" y="3520440"/>
            <a:ext cx="3931920" cy="640080"/>
          </a:xfrm>
          <a:prstGeom prst="roundRect">
            <a:avLst>
              <a:gd name="adj" fmla="val 11429"/>
            </a:avLst>
          </a:prstGeom>
          <a:solidFill>
            <a:srgbClr val="FFF1E0"/>
          </a:solidFill>
          <a:ln w="12700">
            <a:solidFill>
              <a:srgbClr val="FFF1E0"/>
            </a:solidFill>
            <a:prstDash val="solid"/>
          </a:ln>
        </p:spPr>
        <p:txBody>
          <a:bodyPr/>
          <a:lstStyle/>
          <a:p>
            <a:endParaRPr lang="en-US"/>
          </a:p>
        </p:txBody>
      </p:sp>
      <p:sp>
        <p:nvSpPr>
          <p:cNvPr id="9" name="Text 5"/>
          <p:cNvSpPr txBox="1"/>
          <p:nvPr/>
        </p:nvSpPr>
        <p:spPr>
          <a:xfrm>
            <a:off x="4864608" y="3520440"/>
            <a:ext cx="3749040" cy="640080"/>
          </a:xfrm>
          <a:prstGeom prst="rect">
            <a:avLst/>
          </a:prstGeom>
          <a:noFill/>
          <a:ln/>
        </p:spPr>
        <p:txBody>
          <a:bodyPr wrap="square" lIns="0" tIns="0" rIns="0" bIns="0" rtlCol="0" anchor="ctr"/>
          <a:lstStyle/>
          <a:p>
            <a:pPr marL="0" indent="0">
              <a:buNone/>
            </a:pPr>
            <a:r>
              <a:rPr lang="en-US" sz="1000" dirty="0">
                <a:solidFill>
                  <a:srgbClr val="2B3340"/>
                </a:solidFill>
                <a:latin typeface="Calibri" pitchFamily="34" charset="0"/>
                <a:ea typeface="Calibri" pitchFamily="34" charset="-122"/>
                <a:cs typeface="Calibri" pitchFamily="34" charset="-120"/>
              </a:rPr>
              <a:t>KP is the spring stiffness and KD the damping of the PD controller that turns a target angle into motor torque. Both were tuned by hand.</a:t>
            </a:r>
            <a:endParaRPr lang="en-US" sz="10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50">
                <a:solidFill>
                  <a:srgbClr val="667085"/>
                </a:solidFill>
                <a:latin typeface="Calibri"/>
                <a:ea typeface="Calibri"/>
                <a:cs typeface="Calibri"/>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457200" y="219456"/>
            <a:ext cx="1988820" cy="219456"/>
          </a:xfrm>
          <a:prstGeom prst="roundRect">
            <a:avLst>
              <a:gd name="adj" fmla="val 20833"/>
            </a:avLst>
          </a:prstGeom>
          <a:solidFill>
            <a:srgbClr val="E6F1FA"/>
          </a:solidFill>
          <a:ln w="12700">
            <a:solidFill>
              <a:srgbClr val="E6F1FA"/>
            </a:solidFill>
            <a:prstDash val="solid"/>
          </a:ln>
        </p:spPr>
        <p:txBody>
          <a:bodyPr/>
          <a:lstStyle/>
          <a:p>
            <a:endParaRPr lang="en-US"/>
          </a:p>
        </p:txBody>
      </p:sp>
      <p:sp>
        <p:nvSpPr>
          <p:cNvPr id="3" name="Text 1"/>
          <p:cNvSpPr txBox="1"/>
          <p:nvPr/>
        </p:nvSpPr>
        <p:spPr>
          <a:xfrm>
            <a:off x="457200" y="219456"/>
            <a:ext cx="1988820" cy="219456"/>
          </a:xfrm>
          <a:prstGeom prst="rect">
            <a:avLst/>
          </a:prstGeom>
          <a:noFill/>
          <a:ln/>
        </p:spPr>
        <p:txBody>
          <a:bodyPr wrap="square" lIns="0" tIns="0" rIns="0" bIns="0" rtlCol="0" anchor="ctr"/>
          <a:lstStyle/>
          <a:p>
            <a:pPr marL="0" indent="0" algn="ctr">
              <a:buNone/>
            </a:pPr>
            <a:r>
              <a:rPr lang="en-US" sz="850" b="1" kern="0" spc="100" dirty="0">
                <a:solidFill>
                  <a:srgbClr val="1F7AC0"/>
                </a:solidFill>
                <a:latin typeface="Calibri" pitchFamily="34" charset="0"/>
                <a:ea typeface="Calibri" pitchFamily="34" charset="-122"/>
                <a:cs typeface="Calibri" pitchFamily="34" charset="-120"/>
              </a:rPr>
              <a:t>BACKUP  ·  SPEED TRACKING</a:t>
            </a:r>
            <a:endParaRPr lang="en-US" sz="850" dirty="0"/>
          </a:p>
        </p:txBody>
      </p:sp>
      <p:sp>
        <p:nvSpPr>
          <p:cNvPr id="4" name="Text 2"/>
          <p:cNvSpPr txBox="1"/>
          <p:nvPr/>
        </p:nvSpPr>
        <p:spPr>
          <a:xfrm>
            <a:off x="457200" y="475488"/>
            <a:ext cx="8229600" cy="502920"/>
          </a:xfrm>
          <a:prstGeom prst="rect">
            <a:avLst/>
          </a:prstGeom>
          <a:noFill/>
          <a:ln/>
        </p:spPr>
        <p:txBody>
          <a:bodyPr wrap="square" lIns="0" tIns="0" rIns="0" bIns="0" rtlCol="0" anchor="ctr"/>
          <a:lstStyle/>
          <a:p>
            <a:pPr marL="0" indent="0">
              <a:buNone/>
            </a:pPr>
            <a:r>
              <a:rPr lang="en-US" sz="2600" b="1" dirty="0">
                <a:solidFill>
                  <a:srgbClr val="2B3340"/>
                </a:solidFill>
                <a:latin typeface="Cambria" pitchFamily="34" charset="0"/>
                <a:ea typeface="Cambria" pitchFamily="34" charset="-122"/>
                <a:cs typeface="Cambria" pitchFamily="34" charset="-120"/>
              </a:rPr>
              <a:t>Backup: Before vs After</a:t>
            </a:r>
            <a:endParaRPr lang="en-US" sz="2600" dirty="0"/>
          </a:p>
        </p:txBody>
      </p:sp>
      <p:sp>
        <p:nvSpPr>
          <p:cNvPr id="5" name="Text 3"/>
          <p:cNvSpPr txBox="1"/>
          <p:nvPr/>
        </p:nvSpPr>
        <p:spPr>
          <a:xfrm>
            <a:off x="457200" y="4846320"/>
            <a:ext cx="4572000" cy="201168"/>
          </a:xfrm>
          <a:prstGeom prst="rect">
            <a:avLst/>
          </a:prstGeom>
          <a:noFill/>
          <a:ln/>
        </p:spPr>
        <p:txBody>
          <a:bodyPr wrap="square" lIns="0" tIns="0" rIns="0" bIns="0" rtlCol="0" anchor="ctr"/>
          <a:lstStyle/>
          <a:p>
            <a:pPr marL="0" indent="0">
              <a:buNone/>
            </a:pPr>
            <a:r>
              <a:rPr lang="en-US" sz="850" dirty="0">
                <a:solidFill>
                  <a:srgbClr val="667085"/>
                </a:solidFill>
                <a:latin typeface="Calibri" pitchFamily="34" charset="0"/>
                <a:ea typeface="Calibri" pitchFamily="34" charset="-122"/>
                <a:cs typeface="Calibri" pitchFamily="34" charset="-120"/>
              </a:rPr>
              <a:t>RL Mini-Project  ·  Angad biped walking</a:t>
            </a:r>
            <a:endParaRPr lang="en-US" sz="850" dirty="0"/>
          </a:p>
        </p:txBody>
      </p:sp>
      <p:pic>
        <p:nvPicPr>
          <p:cNvPr id="6" name="Image 0" descr="/home/claude/build/assets/m2_track.png"/>
          <p:cNvPicPr>
            <a:picLocks noChangeAspect="1"/>
          </p:cNvPicPr>
          <p:nvPr/>
        </p:nvPicPr>
        <p:blipFill>
          <a:blip r:embed="rId3"/>
          <a:stretch>
            <a:fillRect/>
          </a:stretch>
        </p:blipFill>
        <p:spPr>
          <a:xfrm>
            <a:off x="457200" y="1097280"/>
            <a:ext cx="4023360" cy="2414016"/>
          </a:xfrm>
          <a:prstGeom prst="rect">
            <a:avLst/>
          </a:prstGeom>
          <a:effectLst>
            <a:outerShdw blurRad="76200" dist="25400" dir="5400000" algn="bl" rotWithShape="0">
              <a:srgbClr val="000000">
                <a:alpha val="12000"/>
              </a:srgbClr>
            </a:outerShdw>
          </a:effectLst>
        </p:spPr>
      </p:pic>
      <p:pic>
        <p:nvPicPr>
          <p:cNvPr id="7" name="Image 1" descr="/home/claude/build/assets/m4_track.png"/>
          <p:cNvPicPr>
            <a:picLocks noChangeAspect="1"/>
          </p:cNvPicPr>
          <p:nvPr/>
        </p:nvPicPr>
        <p:blipFill>
          <a:blip r:embed="rId4"/>
          <a:stretch>
            <a:fillRect/>
          </a:stretch>
        </p:blipFill>
        <p:spPr>
          <a:xfrm>
            <a:off x="4663440" y="1097280"/>
            <a:ext cx="4023360" cy="2414016"/>
          </a:xfrm>
          <a:prstGeom prst="rect">
            <a:avLst/>
          </a:prstGeom>
          <a:effectLst>
            <a:outerShdw blurRad="76200" dist="25400" dir="5400000" algn="bl" rotWithShape="0">
              <a:srgbClr val="000000">
                <a:alpha val="12000"/>
              </a:srgbClr>
            </a:outerShdw>
          </a:effectLst>
        </p:spPr>
      </p:pic>
      <p:sp>
        <p:nvSpPr>
          <p:cNvPr id="8" name="Text 4"/>
          <p:cNvSpPr txBox="1"/>
          <p:nvPr/>
        </p:nvSpPr>
        <p:spPr>
          <a:xfrm>
            <a:off x="457200" y="3584448"/>
            <a:ext cx="4023360" cy="457200"/>
          </a:xfrm>
          <a:prstGeom prst="rect">
            <a:avLst/>
          </a:prstGeom>
          <a:noFill/>
          <a:ln/>
        </p:spPr>
        <p:txBody>
          <a:bodyPr wrap="square" lIns="0" tIns="0" rIns="0" bIns="0" rtlCol="0" anchor="t"/>
          <a:lstStyle/>
          <a:p>
            <a:pPr marL="0" indent="0">
              <a:buNone/>
            </a:pPr>
            <a:r>
              <a:rPr lang="en-US" sz="1100" b="1" dirty="0">
                <a:solidFill>
                  <a:srgbClr val="D6455D"/>
                </a:solidFill>
                <a:latin typeface="Calibri" pitchFamily="34" charset="0"/>
                <a:ea typeface="Calibri" pitchFamily="34" charset="-122"/>
                <a:cs typeface="Calibri" pitchFamily="34" charset="-120"/>
              </a:rPr>
              <a:t>Method 2, 350 iterations. </a:t>
            </a:r>
            <a:r>
              <a:rPr lang="en-US" sz="1100" dirty="0">
                <a:solidFill>
                  <a:srgbClr val="2B3340"/>
                </a:solidFill>
                <a:latin typeface="Calibri" pitchFamily="34" charset="0"/>
                <a:ea typeface="Calibri" pitchFamily="34" charset="-122"/>
                <a:cs typeface="Calibri" pitchFamily="34" charset="-120"/>
              </a:rPr>
              <a:t>Reaches only ≈ 1.8 m/s when 3.0 m/s is commanded.</a:t>
            </a:r>
            <a:endParaRPr lang="en-US" sz="1100" dirty="0"/>
          </a:p>
        </p:txBody>
      </p:sp>
      <p:sp>
        <p:nvSpPr>
          <p:cNvPr id="9" name="Text 5"/>
          <p:cNvSpPr txBox="1"/>
          <p:nvPr/>
        </p:nvSpPr>
        <p:spPr>
          <a:xfrm>
            <a:off x="4663440" y="3584448"/>
            <a:ext cx="4023360" cy="457200"/>
          </a:xfrm>
          <a:prstGeom prst="rect">
            <a:avLst/>
          </a:prstGeom>
          <a:noFill/>
          <a:ln/>
        </p:spPr>
        <p:txBody>
          <a:bodyPr wrap="square" lIns="0" tIns="0" rIns="0" bIns="0" rtlCol="0" anchor="t"/>
          <a:lstStyle/>
          <a:p>
            <a:pPr marL="0" indent="0">
              <a:buNone/>
            </a:pPr>
            <a:r>
              <a:rPr lang="en-US" sz="1100" b="1" dirty="0">
                <a:solidFill>
                  <a:srgbClr val="2E9E6B"/>
                </a:solidFill>
                <a:latin typeface="Calibri" pitchFamily="34" charset="0"/>
                <a:ea typeface="Calibri" pitchFamily="34" charset="-122"/>
                <a:cs typeface="Calibri" pitchFamily="34" charset="-120"/>
              </a:rPr>
              <a:t>Method 4, 15,200 iterations. </a:t>
            </a:r>
            <a:r>
              <a:rPr lang="en-US" sz="1100" dirty="0">
                <a:solidFill>
                  <a:srgbClr val="2B3340"/>
                </a:solidFill>
                <a:latin typeface="Calibri" pitchFamily="34" charset="0"/>
                <a:ea typeface="Calibri" pitchFamily="34" charset="-122"/>
                <a:cs typeface="Calibri" pitchFamily="34" charset="-120"/>
              </a:rPr>
              <a:t>Follows the command up to ≈ 3.0 m/s.</a:t>
            </a:r>
            <a:endParaRPr lang="en-US" sz="1100" dirty="0"/>
          </a:p>
        </p:txBody>
      </p:sp>
      <p:sp>
        <p:nvSpPr>
          <p:cNvPr id="10" name="Shape 6"/>
          <p:cNvSpPr/>
          <p:nvPr/>
        </p:nvSpPr>
        <p:spPr>
          <a:xfrm>
            <a:off x="457200" y="4279392"/>
            <a:ext cx="8229600" cy="457200"/>
          </a:xfrm>
          <a:prstGeom prst="roundRect">
            <a:avLst>
              <a:gd name="adj" fmla="val 16000"/>
            </a:avLst>
          </a:prstGeom>
          <a:solidFill>
            <a:srgbClr val="FFF1E0"/>
          </a:solidFill>
          <a:ln w="12700">
            <a:solidFill>
              <a:srgbClr val="FFF1E0"/>
            </a:solidFill>
            <a:prstDash val="solid"/>
          </a:ln>
        </p:spPr>
        <p:txBody>
          <a:bodyPr/>
          <a:lstStyle/>
          <a:p>
            <a:endParaRPr lang="en-US"/>
          </a:p>
        </p:txBody>
      </p:sp>
      <p:pic>
        <p:nvPicPr>
          <p:cNvPr id="11" name="Image 2" descr="preencoded.png"/>
          <p:cNvPicPr>
            <a:picLocks noChangeAspect="1"/>
          </p:cNvPicPr>
          <p:nvPr/>
        </p:nvPicPr>
        <p:blipFill>
          <a:blip r:embed="rId5"/>
          <a:stretch>
            <a:fillRect/>
          </a:stretch>
        </p:blipFill>
        <p:spPr>
          <a:xfrm>
            <a:off x="585216" y="4389120"/>
            <a:ext cx="237744" cy="237744"/>
          </a:xfrm>
          <a:prstGeom prst="rect">
            <a:avLst/>
          </a:prstGeom>
        </p:spPr>
      </p:pic>
      <p:sp>
        <p:nvSpPr>
          <p:cNvPr id="12" name="Text 7"/>
          <p:cNvSpPr txBox="1"/>
          <p:nvPr/>
        </p:nvSpPr>
        <p:spPr>
          <a:xfrm>
            <a:off x="932688" y="4279392"/>
            <a:ext cx="7635240" cy="457200"/>
          </a:xfrm>
          <a:prstGeom prst="rect">
            <a:avLst/>
          </a:prstGeom>
          <a:noFill/>
          <a:ln/>
        </p:spPr>
        <p:txBody>
          <a:bodyPr wrap="square" lIns="0" tIns="0" rIns="0" bIns="0" rtlCol="0" anchor="ctr"/>
          <a:lstStyle/>
          <a:p>
            <a:pPr marL="0" indent="0">
              <a:buNone/>
            </a:pPr>
            <a:r>
              <a:rPr lang="en-US" sz="1150" b="1" dirty="0">
                <a:solidFill>
                  <a:srgbClr val="F28C28"/>
                </a:solidFill>
                <a:latin typeface="Calibri" pitchFamily="34" charset="0"/>
                <a:ea typeface="Calibri" pitchFamily="34" charset="-122"/>
                <a:cs typeface="Calibri" pitchFamily="34" charset="-120"/>
              </a:rPr>
              <a:t>In plain words:  </a:t>
            </a:r>
            <a:r>
              <a:rPr lang="en-US" sz="1150" dirty="0">
                <a:solidFill>
                  <a:srgbClr val="2B3340"/>
                </a:solidFill>
                <a:latin typeface="Calibri" pitchFamily="34" charset="0"/>
                <a:ea typeface="Calibri" pitchFamily="34" charset="-122"/>
                <a:cs typeface="Calibri" pitchFamily="34" charset="-120"/>
              </a:rPr>
              <a:t>The closer the green line stays to the dashed line, the better the robot does what it is asked. This is the evidence that learning worked.</a:t>
            </a:r>
            <a:endParaRPr lang="en-US" sz="115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50">
                <a:solidFill>
                  <a:srgbClr val="667085"/>
                </a:solidFill>
                <a:latin typeface="Calibri"/>
                <a:ea typeface="Calibri"/>
                <a:cs typeface="Calibri"/>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457200" y="219456"/>
            <a:ext cx="2263140" cy="219456"/>
          </a:xfrm>
          <a:prstGeom prst="roundRect">
            <a:avLst>
              <a:gd name="adj" fmla="val 20833"/>
            </a:avLst>
          </a:prstGeom>
          <a:solidFill>
            <a:srgbClr val="E6F1FA"/>
          </a:solidFill>
          <a:ln w="12700">
            <a:solidFill>
              <a:srgbClr val="E6F1FA"/>
            </a:solidFill>
            <a:prstDash val="solid"/>
          </a:ln>
        </p:spPr>
        <p:txBody>
          <a:bodyPr/>
          <a:lstStyle/>
          <a:p>
            <a:endParaRPr lang="en-US"/>
          </a:p>
        </p:txBody>
      </p:sp>
      <p:sp>
        <p:nvSpPr>
          <p:cNvPr id="3" name="Text 1"/>
          <p:cNvSpPr txBox="1"/>
          <p:nvPr/>
        </p:nvSpPr>
        <p:spPr>
          <a:xfrm>
            <a:off x="457200" y="219456"/>
            <a:ext cx="2263140" cy="219456"/>
          </a:xfrm>
          <a:prstGeom prst="rect">
            <a:avLst/>
          </a:prstGeom>
          <a:noFill/>
          <a:ln/>
        </p:spPr>
        <p:txBody>
          <a:bodyPr wrap="square" lIns="0" tIns="0" rIns="0" bIns="0" rtlCol="0" anchor="ctr"/>
          <a:lstStyle/>
          <a:p>
            <a:pPr marL="0" indent="0" algn="ctr">
              <a:buNone/>
            </a:pPr>
            <a:r>
              <a:rPr lang="en-US" sz="850" b="1" kern="0" spc="100" dirty="0">
                <a:solidFill>
                  <a:srgbClr val="1F7AC0"/>
                </a:solidFill>
                <a:latin typeface="Calibri" pitchFamily="34" charset="0"/>
                <a:ea typeface="Calibri" pitchFamily="34" charset="-122"/>
                <a:cs typeface="Calibri" pitchFamily="34" charset="-120"/>
              </a:rPr>
              <a:t>BACKUP  ·  ENVIRONMENT CHECKS</a:t>
            </a:r>
            <a:endParaRPr lang="en-US" sz="850" dirty="0"/>
          </a:p>
        </p:txBody>
      </p:sp>
      <p:sp>
        <p:nvSpPr>
          <p:cNvPr id="4" name="Text 2"/>
          <p:cNvSpPr txBox="1"/>
          <p:nvPr/>
        </p:nvSpPr>
        <p:spPr>
          <a:xfrm>
            <a:off x="457200" y="475488"/>
            <a:ext cx="8229600" cy="502920"/>
          </a:xfrm>
          <a:prstGeom prst="rect">
            <a:avLst/>
          </a:prstGeom>
          <a:noFill/>
          <a:ln/>
        </p:spPr>
        <p:txBody>
          <a:bodyPr wrap="square" lIns="0" tIns="0" rIns="0" bIns="0" rtlCol="0" anchor="ctr"/>
          <a:lstStyle/>
          <a:p>
            <a:pPr marL="0" indent="0">
              <a:buNone/>
            </a:pPr>
            <a:r>
              <a:rPr lang="en-US" sz="2600" b="1" dirty="0">
                <a:solidFill>
                  <a:srgbClr val="2B3340"/>
                </a:solidFill>
                <a:latin typeface="Cambria" pitchFamily="34" charset="0"/>
                <a:ea typeface="Cambria" pitchFamily="34" charset="-122"/>
                <a:cs typeface="Cambria" pitchFamily="34" charset="-120"/>
              </a:rPr>
              <a:t>Backup: Model Validation</a:t>
            </a:r>
            <a:endParaRPr lang="en-US" sz="2600" dirty="0"/>
          </a:p>
        </p:txBody>
      </p:sp>
      <p:sp>
        <p:nvSpPr>
          <p:cNvPr id="5" name="Text 3"/>
          <p:cNvSpPr txBox="1"/>
          <p:nvPr/>
        </p:nvSpPr>
        <p:spPr>
          <a:xfrm>
            <a:off x="457200" y="4846320"/>
            <a:ext cx="4572000" cy="201168"/>
          </a:xfrm>
          <a:prstGeom prst="rect">
            <a:avLst/>
          </a:prstGeom>
          <a:noFill/>
          <a:ln/>
        </p:spPr>
        <p:txBody>
          <a:bodyPr wrap="square" lIns="0" tIns="0" rIns="0" bIns="0" rtlCol="0" anchor="ctr"/>
          <a:lstStyle/>
          <a:p>
            <a:pPr marL="0" indent="0">
              <a:buNone/>
            </a:pPr>
            <a:r>
              <a:rPr lang="en-US" sz="850" dirty="0">
                <a:solidFill>
                  <a:srgbClr val="667085"/>
                </a:solidFill>
                <a:latin typeface="Calibri" pitchFamily="34" charset="0"/>
                <a:ea typeface="Calibri" pitchFamily="34" charset="-122"/>
                <a:cs typeface="Calibri" pitchFamily="34" charset="-120"/>
              </a:rPr>
              <a:t>RL Mini-Project  ·  Angad biped walking</a:t>
            </a:r>
            <a:endParaRPr lang="en-US" sz="850" dirty="0"/>
          </a:p>
        </p:txBody>
      </p:sp>
      <p:pic>
        <p:nvPicPr>
          <p:cNvPr id="6" name="Image 0" descr="/home/claude/build/assets/squat.png"/>
          <p:cNvPicPr>
            <a:picLocks noChangeAspect="1"/>
          </p:cNvPicPr>
          <p:nvPr/>
        </p:nvPicPr>
        <p:blipFill>
          <a:blip r:embed="rId3"/>
          <a:stretch>
            <a:fillRect/>
          </a:stretch>
        </p:blipFill>
        <p:spPr>
          <a:xfrm>
            <a:off x="457200" y="1097280"/>
            <a:ext cx="4937760" cy="2468880"/>
          </a:xfrm>
          <a:prstGeom prst="rect">
            <a:avLst/>
          </a:prstGeom>
          <a:effectLst>
            <a:outerShdw blurRad="76200" dist="25400" dir="5400000" algn="bl" rotWithShape="0">
              <a:srgbClr val="000000">
                <a:alpha val="12000"/>
              </a:srgbClr>
            </a:outerShdw>
          </a:effectLst>
        </p:spPr>
      </p:pic>
      <p:sp>
        <p:nvSpPr>
          <p:cNvPr id="7" name="Text 4"/>
          <p:cNvSpPr txBox="1"/>
          <p:nvPr/>
        </p:nvSpPr>
        <p:spPr>
          <a:xfrm>
            <a:off x="457200" y="3639312"/>
            <a:ext cx="4937760" cy="457200"/>
          </a:xfrm>
          <a:prstGeom prst="rect">
            <a:avLst/>
          </a:prstGeom>
          <a:noFill/>
          <a:ln/>
        </p:spPr>
        <p:txBody>
          <a:bodyPr wrap="square" lIns="0" tIns="0" rIns="0" bIns="0" rtlCol="0" anchor="t"/>
          <a:lstStyle/>
          <a:p>
            <a:pPr marL="0" indent="0">
              <a:buNone/>
            </a:pPr>
            <a:r>
              <a:rPr lang="en-US" sz="1050" i="1" dirty="0">
                <a:solidFill>
                  <a:srgbClr val="667085"/>
                </a:solidFill>
                <a:latin typeface="Calibri" pitchFamily="34" charset="0"/>
                <a:ea typeface="Calibri" pitchFamily="34" charset="-122"/>
                <a:cs typeface="Calibri" pitchFamily="34" charset="-120"/>
              </a:rPr>
              <a:t>Squat test: joint angle error (desired − actual) for all 12 joints stays small, at most about 0.06 rad.</a:t>
            </a:r>
            <a:endParaRPr lang="en-US" sz="1050" dirty="0"/>
          </a:p>
        </p:txBody>
      </p:sp>
      <p:pic>
        <p:nvPicPr>
          <p:cNvPr id="8" name="Image 1" descr="/home/claude/build/assets/kpkd_gui.png"/>
          <p:cNvPicPr>
            <a:picLocks noChangeAspect="1"/>
          </p:cNvPicPr>
          <p:nvPr/>
        </p:nvPicPr>
        <p:blipFill>
          <a:blip r:embed="rId4"/>
          <a:stretch>
            <a:fillRect/>
          </a:stretch>
        </p:blipFill>
        <p:spPr>
          <a:xfrm>
            <a:off x="5623560" y="1097280"/>
            <a:ext cx="3063240" cy="1307592"/>
          </a:xfrm>
          <a:prstGeom prst="rect">
            <a:avLst/>
          </a:prstGeom>
          <a:effectLst>
            <a:outerShdw blurRad="76200" dist="25400" dir="5400000" algn="bl" rotWithShape="0">
              <a:srgbClr val="000000">
                <a:alpha val="12000"/>
              </a:srgbClr>
            </a:outerShdw>
          </a:effectLst>
        </p:spPr>
      </p:pic>
      <p:sp>
        <p:nvSpPr>
          <p:cNvPr id="9" name="Text 5"/>
          <p:cNvSpPr txBox="1"/>
          <p:nvPr/>
        </p:nvSpPr>
        <p:spPr>
          <a:xfrm>
            <a:off x="5623560" y="2468880"/>
            <a:ext cx="3063240" cy="548640"/>
          </a:xfrm>
          <a:prstGeom prst="rect">
            <a:avLst/>
          </a:prstGeom>
          <a:noFill/>
          <a:ln/>
        </p:spPr>
        <p:txBody>
          <a:bodyPr wrap="square" lIns="0" tIns="0" rIns="0" bIns="0" rtlCol="0" anchor="t"/>
          <a:lstStyle/>
          <a:p>
            <a:pPr marL="0" indent="0">
              <a:buNone/>
            </a:pPr>
            <a:r>
              <a:rPr lang="en-US" sz="1050" i="1" dirty="0">
                <a:solidFill>
                  <a:srgbClr val="667085"/>
                </a:solidFill>
                <a:latin typeface="Calibri" pitchFamily="34" charset="0"/>
                <a:ea typeface="Calibri" pitchFamily="34" charset="-122"/>
                <a:cs typeface="Calibri" pitchFamily="34" charset="-120"/>
              </a:rPr>
              <a:t>Slider tool used to tune KP and KD by hand, watching desired vs actual joint angle and motor torque.</a:t>
            </a:r>
            <a:endParaRPr lang="en-US" sz="1050" dirty="0"/>
          </a:p>
        </p:txBody>
      </p:sp>
      <p:sp>
        <p:nvSpPr>
          <p:cNvPr id="10" name="Shape 6"/>
          <p:cNvSpPr/>
          <p:nvPr/>
        </p:nvSpPr>
        <p:spPr>
          <a:xfrm>
            <a:off x="5623560" y="3108960"/>
            <a:ext cx="3063240" cy="1005840"/>
          </a:xfrm>
          <a:prstGeom prst="roundRect">
            <a:avLst>
              <a:gd name="adj" fmla="val 7273"/>
            </a:avLst>
          </a:prstGeom>
          <a:solidFill>
            <a:srgbClr val="E6F1FA"/>
          </a:solidFill>
          <a:ln w="12700">
            <a:solidFill>
              <a:srgbClr val="E6F1FA"/>
            </a:solidFill>
            <a:prstDash val="solid"/>
          </a:ln>
        </p:spPr>
        <p:txBody>
          <a:bodyPr/>
          <a:lstStyle/>
          <a:p>
            <a:endParaRPr lang="en-US"/>
          </a:p>
        </p:txBody>
      </p:sp>
      <p:sp>
        <p:nvSpPr>
          <p:cNvPr id="11" name="Text 7"/>
          <p:cNvSpPr txBox="1"/>
          <p:nvPr/>
        </p:nvSpPr>
        <p:spPr>
          <a:xfrm>
            <a:off x="5733288" y="3108960"/>
            <a:ext cx="2852928" cy="1005840"/>
          </a:xfrm>
          <a:prstGeom prst="rect">
            <a:avLst/>
          </a:prstGeom>
          <a:noFill/>
          <a:ln/>
        </p:spPr>
        <p:txBody>
          <a:bodyPr wrap="square" lIns="0" tIns="0" rIns="0" bIns="0" rtlCol="0" anchor="ctr"/>
          <a:lstStyle/>
          <a:p>
            <a:pPr marL="0" indent="0">
              <a:buNone/>
            </a:pPr>
            <a:r>
              <a:rPr lang="en-US" sz="1050" dirty="0">
                <a:solidFill>
                  <a:srgbClr val="2B3340"/>
                </a:solidFill>
                <a:latin typeface="Calibri" pitchFamily="34" charset="0"/>
                <a:ea typeface="Calibri" pitchFamily="34" charset="-122"/>
                <a:cs typeface="Calibri" pitchFamily="34" charset="-120"/>
              </a:rPr>
              <a:t>Why it matters: the RL agent only chooses target angles. If the PD controller cannot follow them, the physics the agent learns from would be wrong.</a:t>
            </a:r>
            <a:endParaRPr lang="en-US" sz="105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50">
                <a:solidFill>
                  <a:srgbClr val="667085"/>
                </a:solidFill>
                <a:latin typeface="Calibri"/>
                <a:ea typeface="Calibri"/>
                <a:cs typeface="Calibri"/>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457200" y="219456"/>
            <a:ext cx="1988820" cy="219456"/>
          </a:xfrm>
          <a:prstGeom prst="roundRect">
            <a:avLst>
              <a:gd name="adj" fmla="val 20833"/>
            </a:avLst>
          </a:prstGeom>
          <a:solidFill>
            <a:srgbClr val="E6F1FA"/>
          </a:solidFill>
          <a:ln w="12700">
            <a:solidFill>
              <a:srgbClr val="E6F1FA"/>
            </a:solidFill>
            <a:prstDash val="solid"/>
          </a:ln>
        </p:spPr>
        <p:txBody>
          <a:bodyPr/>
          <a:lstStyle/>
          <a:p>
            <a:endParaRPr lang="en-US"/>
          </a:p>
        </p:txBody>
      </p:sp>
      <p:sp>
        <p:nvSpPr>
          <p:cNvPr id="3" name="Text 1"/>
          <p:cNvSpPr txBox="1"/>
          <p:nvPr/>
        </p:nvSpPr>
        <p:spPr>
          <a:xfrm>
            <a:off x="457200" y="219456"/>
            <a:ext cx="1988820" cy="219456"/>
          </a:xfrm>
          <a:prstGeom prst="rect">
            <a:avLst/>
          </a:prstGeom>
          <a:noFill/>
          <a:ln/>
        </p:spPr>
        <p:txBody>
          <a:bodyPr wrap="square" lIns="0" tIns="0" rIns="0" bIns="0" rtlCol="0" anchor="ctr"/>
          <a:lstStyle/>
          <a:p>
            <a:pPr marL="0" indent="0" algn="ctr">
              <a:buNone/>
            </a:pPr>
            <a:r>
              <a:rPr lang="en-US" sz="850" b="1" kern="0" spc="100" dirty="0">
                <a:solidFill>
                  <a:srgbClr val="1F7AC0"/>
                </a:solidFill>
                <a:latin typeface="Calibri" pitchFamily="34" charset="0"/>
                <a:ea typeface="Calibri" pitchFamily="34" charset="-122"/>
                <a:cs typeface="Calibri" pitchFamily="34" charset="-120"/>
              </a:rPr>
              <a:t>BACKUP  ·  WHY THIS STACK</a:t>
            </a:r>
            <a:endParaRPr lang="en-US" sz="850" dirty="0"/>
          </a:p>
        </p:txBody>
      </p:sp>
      <p:sp>
        <p:nvSpPr>
          <p:cNvPr id="4" name="Text 2"/>
          <p:cNvSpPr txBox="1"/>
          <p:nvPr/>
        </p:nvSpPr>
        <p:spPr>
          <a:xfrm>
            <a:off x="457200" y="475488"/>
            <a:ext cx="8229600" cy="502920"/>
          </a:xfrm>
          <a:prstGeom prst="rect">
            <a:avLst/>
          </a:prstGeom>
          <a:noFill/>
          <a:ln/>
        </p:spPr>
        <p:txBody>
          <a:bodyPr wrap="square" lIns="0" tIns="0" rIns="0" bIns="0" rtlCol="0" anchor="ctr"/>
          <a:lstStyle/>
          <a:p>
            <a:pPr marL="0" indent="0">
              <a:buNone/>
            </a:pPr>
            <a:r>
              <a:rPr lang="en-US" sz="2600" b="1" dirty="0">
                <a:solidFill>
                  <a:srgbClr val="2B3340"/>
                </a:solidFill>
                <a:latin typeface="Cambria" pitchFamily="34" charset="0"/>
                <a:ea typeface="Cambria" pitchFamily="34" charset="-122"/>
                <a:cs typeface="Cambria" pitchFamily="34" charset="-120"/>
              </a:rPr>
              <a:t>Backup: Tools We Surveyed</a:t>
            </a:r>
            <a:endParaRPr lang="en-US" sz="2600" dirty="0"/>
          </a:p>
        </p:txBody>
      </p:sp>
      <p:sp>
        <p:nvSpPr>
          <p:cNvPr id="5" name="Text 3"/>
          <p:cNvSpPr txBox="1"/>
          <p:nvPr/>
        </p:nvSpPr>
        <p:spPr>
          <a:xfrm>
            <a:off x="457200" y="4846320"/>
            <a:ext cx="4572000" cy="201168"/>
          </a:xfrm>
          <a:prstGeom prst="rect">
            <a:avLst/>
          </a:prstGeom>
          <a:noFill/>
          <a:ln/>
        </p:spPr>
        <p:txBody>
          <a:bodyPr wrap="square" lIns="0" tIns="0" rIns="0" bIns="0" rtlCol="0" anchor="ctr"/>
          <a:lstStyle/>
          <a:p>
            <a:pPr marL="0" indent="0">
              <a:buNone/>
            </a:pPr>
            <a:r>
              <a:rPr lang="en-US" sz="850" dirty="0">
                <a:solidFill>
                  <a:srgbClr val="667085"/>
                </a:solidFill>
                <a:latin typeface="Calibri" pitchFamily="34" charset="0"/>
                <a:ea typeface="Calibri" pitchFamily="34" charset="-122"/>
                <a:cs typeface="Calibri" pitchFamily="34" charset="-120"/>
              </a:rPr>
              <a:t>RL Mini-Project  ·  Angad biped walking</a:t>
            </a:r>
            <a:endParaRPr lang="en-US" sz="850" dirty="0"/>
          </a:p>
        </p:txBody>
      </p:sp>
      <p:sp>
        <p:nvSpPr>
          <p:cNvPr id="6" name="Shape 4"/>
          <p:cNvSpPr/>
          <p:nvPr/>
        </p:nvSpPr>
        <p:spPr>
          <a:xfrm>
            <a:off x="457200" y="1051560"/>
            <a:ext cx="4023360" cy="2514600"/>
          </a:xfrm>
          <a:prstGeom prst="roundRect">
            <a:avLst>
              <a:gd name="adj" fmla="val 2909"/>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5"/>
          <p:cNvSpPr txBox="1"/>
          <p:nvPr/>
        </p:nvSpPr>
        <p:spPr>
          <a:xfrm>
            <a:off x="594360" y="1097280"/>
            <a:ext cx="3749040" cy="292608"/>
          </a:xfrm>
          <a:prstGeom prst="rect">
            <a:avLst/>
          </a:prstGeom>
          <a:noFill/>
          <a:ln/>
        </p:spPr>
        <p:txBody>
          <a:bodyPr wrap="square" lIns="0" tIns="0" rIns="0" bIns="0" rtlCol="0" anchor="ctr"/>
          <a:lstStyle/>
          <a:p>
            <a:pPr marL="0" indent="0">
              <a:buNone/>
            </a:pPr>
            <a:r>
              <a:rPr lang="en-US" sz="1250" b="1" dirty="0">
                <a:solidFill>
                  <a:srgbClr val="1F7AC0"/>
                </a:solidFill>
                <a:latin typeface="Calibri" pitchFamily="34" charset="0"/>
                <a:ea typeface="Calibri" pitchFamily="34" charset="-122"/>
                <a:cs typeface="Calibri" pitchFamily="34" charset="-120"/>
              </a:rPr>
              <a:t>Physics engines</a:t>
            </a:r>
            <a:endParaRPr lang="en-US" sz="1250" dirty="0"/>
          </a:p>
        </p:txBody>
      </p:sp>
      <p:sp>
        <p:nvSpPr>
          <p:cNvPr id="8" name="Text 6"/>
          <p:cNvSpPr txBox="1"/>
          <p:nvPr/>
        </p:nvSpPr>
        <p:spPr>
          <a:xfrm>
            <a:off x="594360" y="1444752"/>
            <a:ext cx="3749040" cy="2057400"/>
          </a:xfrm>
          <a:prstGeom prst="rect">
            <a:avLst/>
          </a:prstGeom>
          <a:noFill/>
          <a:ln/>
        </p:spPr>
        <p:txBody>
          <a:bodyPr wrap="square" lIns="0" tIns="0" rIns="0" bIns="0" rtlCol="0" anchor="t"/>
          <a:lstStyle/>
          <a:p>
            <a:pPr marL="139700" indent="-139700">
              <a:spcAft>
                <a:spcPts val="400"/>
              </a:spcAft>
              <a:buSzPct val="100000"/>
              <a:buChar char="•"/>
            </a:pPr>
            <a:r>
              <a:rPr lang="en-US" sz="1050" b="1" dirty="0">
                <a:solidFill>
                  <a:srgbClr val="2B3340"/>
                </a:solidFill>
                <a:latin typeface="Calibri" pitchFamily="34" charset="0"/>
                <a:ea typeface="Calibri" pitchFamily="34" charset="-122"/>
                <a:cs typeface="Calibri" pitchFamily="34" charset="-120"/>
              </a:rPr>
              <a:t>MuJoCo / MuJoCo Warp</a:t>
            </a:r>
            <a:r>
              <a:rPr lang="en-US" sz="1050" dirty="0">
                <a:solidFill>
                  <a:srgbClr val="667085"/>
                </a:solidFill>
                <a:latin typeface="Calibri" pitchFamily="34" charset="0"/>
                <a:ea typeface="Calibri" pitchFamily="34" charset="-122"/>
                <a:cs typeface="Calibri" pitchFamily="34" charset="-120"/>
              </a:rPr>
              <a:t> — best contact model; Warp version runs on the GPU</a:t>
            </a:r>
            <a:endParaRPr lang="en-US" sz="1050" dirty="0"/>
          </a:p>
          <a:p>
            <a:pPr marL="139700" indent="-139700">
              <a:spcAft>
                <a:spcPts val="400"/>
              </a:spcAft>
              <a:buSzPct val="100000"/>
              <a:buChar char="•"/>
            </a:pPr>
            <a:r>
              <a:rPr lang="en-US" sz="1050" b="1" dirty="0">
                <a:solidFill>
                  <a:srgbClr val="2B3340"/>
                </a:solidFill>
                <a:latin typeface="Calibri" pitchFamily="34" charset="0"/>
                <a:ea typeface="Calibri" pitchFamily="34" charset="-122"/>
                <a:cs typeface="Calibri" pitchFamily="34" charset="-120"/>
              </a:rPr>
              <a:t>MJX (JAX)</a:t>
            </a:r>
            <a:r>
              <a:rPr lang="en-US" sz="1050" dirty="0">
                <a:solidFill>
                  <a:srgbClr val="667085"/>
                </a:solidFill>
                <a:latin typeface="Calibri" pitchFamily="34" charset="0"/>
                <a:ea typeface="Calibri" pitchFamily="34" charset="-122"/>
                <a:cs typeface="Calibri" pitchFamily="34" charset="-120"/>
              </a:rPr>
              <a:t> — GPU and differentiable, but slow start-up compile</a:t>
            </a:r>
            <a:endParaRPr lang="en-US" sz="1050" dirty="0"/>
          </a:p>
          <a:p>
            <a:pPr marL="139700" indent="-139700">
              <a:spcAft>
                <a:spcPts val="400"/>
              </a:spcAft>
              <a:buSzPct val="100000"/>
              <a:buChar char="•"/>
            </a:pPr>
            <a:r>
              <a:rPr lang="en-US" sz="1050" b="1" dirty="0">
                <a:solidFill>
                  <a:srgbClr val="2B3340"/>
                </a:solidFill>
                <a:latin typeface="Calibri" pitchFamily="34" charset="0"/>
                <a:ea typeface="Calibri" pitchFamily="34" charset="-122"/>
                <a:cs typeface="Calibri" pitchFamily="34" charset="-120"/>
              </a:rPr>
              <a:t>PyBullet</a:t>
            </a:r>
            <a:r>
              <a:rPr lang="en-US" sz="1050" dirty="0">
                <a:solidFill>
                  <a:srgbClr val="667085"/>
                </a:solidFill>
                <a:latin typeface="Calibri" pitchFamily="34" charset="0"/>
                <a:ea typeface="Calibri" pitchFamily="34" charset="-122"/>
                <a:cs typeface="Calibri" pitchFamily="34" charset="-120"/>
              </a:rPr>
              <a:t> — free and easy, can show jitter</a:t>
            </a:r>
            <a:endParaRPr lang="en-US" sz="1050" dirty="0"/>
          </a:p>
          <a:p>
            <a:pPr marL="139700" indent="-139700">
              <a:spcAft>
                <a:spcPts val="400"/>
              </a:spcAft>
              <a:buSzPct val="100000"/>
              <a:buChar char="•"/>
            </a:pPr>
            <a:r>
              <a:rPr lang="en-US" sz="1050" b="1" dirty="0">
                <a:solidFill>
                  <a:srgbClr val="2B3340"/>
                </a:solidFill>
                <a:latin typeface="Calibri" pitchFamily="34" charset="0"/>
                <a:ea typeface="Calibri" pitchFamily="34" charset="-122"/>
                <a:cs typeface="Calibri" pitchFamily="34" charset="-120"/>
              </a:rPr>
              <a:t>Brax</a:t>
            </a:r>
            <a:r>
              <a:rPr lang="en-US" sz="1050" dirty="0">
                <a:solidFill>
                  <a:srgbClr val="667085"/>
                </a:solidFill>
                <a:latin typeface="Calibri" pitchFamily="34" charset="0"/>
                <a:ea typeface="Calibri" pitchFamily="34" charset="-122"/>
                <a:cs typeface="Calibri" pitchFamily="34" charset="-120"/>
              </a:rPr>
              <a:t> — all-JAX and fast, weaker contact physics</a:t>
            </a:r>
            <a:endParaRPr lang="en-US" sz="1050" dirty="0"/>
          </a:p>
          <a:p>
            <a:pPr marL="139700" indent="-139700">
              <a:spcAft>
                <a:spcPts val="400"/>
              </a:spcAft>
              <a:buSzPct val="100000"/>
              <a:buChar char="•"/>
            </a:pPr>
            <a:r>
              <a:rPr lang="en-US" sz="1050" b="1" dirty="0">
                <a:solidFill>
                  <a:srgbClr val="2B3340"/>
                </a:solidFill>
                <a:latin typeface="Calibri" pitchFamily="34" charset="0"/>
                <a:ea typeface="Calibri" pitchFamily="34" charset="-122"/>
                <a:cs typeface="Calibri" pitchFamily="34" charset="-120"/>
              </a:rPr>
              <a:t>Isaac Gym / Isaac Lab</a:t>
            </a:r>
            <a:r>
              <a:rPr lang="en-US" sz="1050" dirty="0">
                <a:solidFill>
                  <a:srgbClr val="667085"/>
                </a:solidFill>
                <a:latin typeface="Calibri" pitchFamily="34" charset="0"/>
                <a:ea typeface="Calibri" pitchFamily="34" charset="-122"/>
                <a:cs typeface="Calibri" pitchFamily="34" charset="-120"/>
              </a:rPr>
              <a:t> — GPU PhysX; needs a huge Omniverse install</a:t>
            </a:r>
            <a:endParaRPr lang="en-US" sz="1050" dirty="0"/>
          </a:p>
          <a:p>
            <a:pPr marL="139700" indent="-139700">
              <a:spcAft>
                <a:spcPts val="400"/>
              </a:spcAft>
              <a:buSzPct val="100000"/>
              <a:buChar char="•"/>
            </a:pPr>
            <a:r>
              <a:rPr lang="en-US" sz="1050" b="1" dirty="0">
                <a:solidFill>
                  <a:srgbClr val="2B3340"/>
                </a:solidFill>
                <a:latin typeface="Calibri" pitchFamily="34" charset="0"/>
                <a:ea typeface="Calibri" pitchFamily="34" charset="-122"/>
                <a:cs typeface="Calibri" pitchFamily="34" charset="-120"/>
              </a:rPr>
              <a:t>Genesis, RaiSim, Drake</a:t>
            </a:r>
            <a:r>
              <a:rPr lang="en-US" sz="1050" dirty="0">
                <a:solidFill>
                  <a:srgbClr val="667085"/>
                </a:solidFill>
                <a:latin typeface="Calibri" pitchFamily="34" charset="0"/>
                <a:ea typeface="Calibri" pitchFamily="34" charset="-122"/>
                <a:cs typeface="Calibri" pitchFamily="34" charset="-120"/>
              </a:rPr>
              <a:t> — multi-physics / very realistic / mathematically rigorous</a:t>
            </a:r>
            <a:endParaRPr lang="en-US" sz="1050" dirty="0"/>
          </a:p>
        </p:txBody>
      </p:sp>
      <p:sp>
        <p:nvSpPr>
          <p:cNvPr id="9" name="Shape 7"/>
          <p:cNvSpPr/>
          <p:nvPr/>
        </p:nvSpPr>
        <p:spPr>
          <a:xfrm>
            <a:off x="4663440" y="1051560"/>
            <a:ext cx="4023360" cy="2514600"/>
          </a:xfrm>
          <a:prstGeom prst="roundRect">
            <a:avLst>
              <a:gd name="adj" fmla="val 2909"/>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n-US"/>
          </a:p>
        </p:txBody>
      </p:sp>
      <p:sp>
        <p:nvSpPr>
          <p:cNvPr id="10" name="Text 8"/>
          <p:cNvSpPr txBox="1"/>
          <p:nvPr/>
        </p:nvSpPr>
        <p:spPr>
          <a:xfrm>
            <a:off x="4800600" y="1097280"/>
            <a:ext cx="3749040" cy="292608"/>
          </a:xfrm>
          <a:prstGeom prst="rect">
            <a:avLst/>
          </a:prstGeom>
          <a:noFill/>
          <a:ln/>
        </p:spPr>
        <p:txBody>
          <a:bodyPr wrap="square" lIns="0" tIns="0" rIns="0" bIns="0" rtlCol="0" anchor="ctr"/>
          <a:lstStyle/>
          <a:p>
            <a:pPr marL="0" indent="0">
              <a:buNone/>
            </a:pPr>
            <a:r>
              <a:rPr lang="en-US" sz="1250" b="1" dirty="0">
                <a:solidFill>
                  <a:srgbClr val="1F7AC0"/>
                </a:solidFill>
                <a:latin typeface="Calibri" pitchFamily="34" charset="0"/>
                <a:ea typeface="Calibri" pitchFamily="34" charset="-122"/>
                <a:cs typeface="Calibri" pitchFamily="34" charset="-120"/>
              </a:rPr>
              <a:t>RL libraries</a:t>
            </a:r>
            <a:endParaRPr lang="en-US" sz="1250" dirty="0"/>
          </a:p>
        </p:txBody>
      </p:sp>
      <p:sp>
        <p:nvSpPr>
          <p:cNvPr id="11" name="Text 9"/>
          <p:cNvSpPr txBox="1"/>
          <p:nvPr/>
        </p:nvSpPr>
        <p:spPr>
          <a:xfrm>
            <a:off x="4800600" y="1444752"/>
            <a:ext cx="3749040" cy="2057400"/>
          </a:xfrm>
          <a:prstGeom prst="rect">
            <a:avLst/>
          </a:prstGeom>
          <a:noFill/>
          <a:ln/>
        </p:spPr>
        <p:txBody>
          <a:bodyPr wrap="square" lIns="0" tIns="0" rIns="0" bIns="0" rtlCol="0" anchor="t"/>
          <a:lstStyle/>
          <a:p>
            <a:pPr marL="139700" indent="-139700">
              <a:spcAft>
                <a:spcPts val="400"/>
              </a:spcAft>
              <a:buSzPct val="100000"/>
              <a:buChar char="•"/>
            </a:pPr>
            <a:r>
              <a:rPr lang="en-US" sz="1050" b="1" dirty="0">
                <a:solidFill>
                  <a:srgbClr val="2B3340"/>
                </a:solidFill>
                <a:latin typeface="Calibri" pitchFamily="34" charset="0"/>
                <a:ea typeface="Calibri" pitchFamily="34" charset="-122"/>
                <a:cs typeface="Calibri" pitchFamily="34" charset="-120"/>
              </a:rPr>
              <a:t>Gymnasium</a:t>
            </a:r>
            <a:r>
              <a:rPr lang="en-US" sz="1050" dirty="0">
                <a:solidFill>
                  <a:srgbClr val="667085"/>
                </a:solidFill>
                <a:latin typeface="Calibri" pitchFamily="34" charset="0"/>
                <a:ea typeface="Calibri" pitchFamily="34" charset="-122"/>
                <a:cs typeface="Calibri" pitchFamily="34" charset="-120"/>
              </a:rPr>
              <a:t> — environment interface only, no algorithms</a:t>
            </a:r>
            <a:endParaRPr lang="en-US" sz="1050" dirty="0"/>
          </a:p>
          <a:p>
            <a:pPr marL="139700" indent="-139700">
              <a:spcAft>
                <a:spcPts val="400"/>
              </a:spcAft>
              <a:buSzPct val="100000"/>
              <a:buChar char="•"/>
            </a:pPr>
            <a:r>
              <a:rPr lang="en-US" sz="1050" b="1" dirty="0">
                <a:solidFill>
                  <a:srgbClr val="2B3340"/>
                </a:solidFill>
                <a:latin typeface="Calibri" pitchFamily="34" charset="0"/>
                <a:ea typeface="Calibri" pitchFamily="34" charset="-122"/>
                <a:cs typeface="Calibri" pitchFamily="34" charset="-120"/>
              </a:rPr>
              <a:t>Stable-Baselines3</a:t>
            </a:r>
            <a:r>
              <a:rPr lang="en-US" sz="1050" dirty="0">
                <a:solidFill>
                  <a:srgbClr val="667085"/>
                </a:solidFill>
                <a:latin typeface="Calibri" pitchFamily="34" charset="0"/>
                <a:ea typeface="Calibri" pitchFamily="34" charset="-122"/>
                <a:cs typeface="Calibri" pitchFamily="34" charset="-120"/>
              </a:rPr>
              <a:t> — reliable PPO, SAC, TD3, DQN, A2C</a:t>
            </a:r>
            <a:endParaRPr lang="en-US" sz="1050" dirty="0"/>
          </a:p>
          <a:p>
            <a:pPr marL="139700" indent="-139700">
              <a:spcAft>
                <a:spcPts val="400"/>
              </a:spcAft>
              <a:buSzPct val="100000"/>
              <a:buChar char="•"/>
            </a:pPr>
            <a:r>
              <a:rPr lang="en-US" sz="1050" b="1" dirty="0">
                <a:solidFill>
                  <a:srgbClr val="2B3340"/>
                </a:solidFill>
                <a:latin typeface="Calibri" pitchFamily="34" charset="0"/>
                <a:ea typeface="Calibri" pitchFamily="34" charset="-122"/>
                <a:cs typeface="Calibri" pitchFamily="34" charset="-120"/>
              </a:rPr>
              <a:t>RSL-RL / rl_games</a:t>
            </a:r>
            <a:r>
              <a:rPr lang="en-US" sz="1050" dirty="0">
                <a:solidFill>
                  <a:srgbClr val="667085"/>
                </a:solidFill>
                <a:latin typeface="Calibri" pitchFamily="34" charset="0"/>
                <a:ea typeface="Calibri" pitchFamily="34" charset="-122"/>
                <a:cs typeface="Calibri" pitchFamily="34" charset="-120"/>
              </a:rPr>
              <a:t> — GPU PPO built for legged robots</a:t>
            </a:r>
            <a:endParaRPr lang="en-US" sz="1050" dirty="0"/>
          </a:p>
          <a:p>
            <a:pPr marL="139700" indent="-139700">
              <a:spcAft>
                <a:spcPts val="400"/>
              </a:spcAft>
              <a:buSzPct val="100000"/>
              <a:buChar char="•"/>
            </a:pPr>
            <a:r>
              <a:rPr lang="en-US" sz="1050" b="1" dirty="0">
                <a:solidFill>
                  <a:srgbClr val="2B3340"/>
                </a:solidFill>
                <a:latin typeface="Calibri" pitchFamily="34" charset="0"/>
                <a:ea typeface="Calibri" pitchFamily="34" charset="-122"/>
                <a:cs typeface="Calibri" pitchFamily="34" charset="-120"/>
              </a:rPr>
              <a:t>skrl</a:t>
            </a:r>
            <a:r>
              <a:rPr lang="en-US" sz="1050" dirty="0">
                <a:solidFill>
                  <a:srgbClr val="667085"/>
                </a:solidFill>
                <a:latin typeface="Calibri" pitchFamily="34" charset="0"/>
                <a:ea typeface="Calibri" pitchFamily="34" charset="-122"/>
                <a:cs typeface="Calibri" pitchFamily="34" charset="-120"/>
              </a:rPr>
              <a:t> — modular, readable</a:t>
            </a:r>
            <a:endParaRPr lang="en-US" sz="1050" dirty="0"/>
          </a:p>
          <a:p>
            <a:pPr marL="139700" indent="-139700">
              <a:spcAft>
                <a:spcPts val="400"/>
              </a:spcAft>
              <a:buSzPct val="100000"/>
              <a:buChar char="•"/>
            </a:pPr>
            <a:r>
              <a:rPr lang="en-US" sz="1050" b="1" dirty="0">
                <a:solidFill>
                  <a:srgbClr val="2B3340"/>
                </a:solidFill>
                <a:latin typeface="Calibri" pitchFamily="34" charset="0"/>
                <a:ea typeface="Calibri" pitchFamily="34" charset="-122"/>
                <a:cs typeface="Calibri" pitchFamily="34" charset="-120"/>
              </a:rPr>
              <a:t>RLlib</a:t>
            </a:r>
            <a:r>
              <a:rPr lang="en-US" sz="1050" dirty="0">
                <a:solidFill>
                  <a:srgbClr val="667085"/>
                </a:solidFill>
                <a:latin typeface="Calibri" pitchFamily="34" charset="0"/>
                <a:ea typeface="Calibri" pitchFamily="34" charset="-122"/>
                <a:cs typeface="Calibri" pitchFamily="34" charset="-120"/>
              </a:rPr>
              <a:t> — scales from CPU to GPU, many algorithms</a:t>
            </a:r>
            <a:endParaRPr lang="en-US" sz="1050" dirty="0"/>
          </a:p>
        </p:txBody>
      </p:sp>
      <p:sp>
        <p:nvSpPr>
          <p:cNvPr id="12" name="Shape 10"/>
          <p:cNvSpPr/>
          <p:nvPr/>
        </p:nvSpPr>
        <p:spPr>
          <a:xfrm>
            <a:off x="457200" y="3703320"/>
            <a:ext cx="8229600" cy="685800"/>
          </a:xfrm>
          <a:prstGeom prst="roundRect">
            <a:avLst>
              <a:gd name="adj" fmla="val 10667"/>
            </a:avLst>
          </a:prstGeom>
          <a:solidFill>
            <a:srgbClr val="FFF1E0"/>
          </a:solidFill>
          <a:ln w="12700">
            <a:solidFill>
              <a:srgbClr val="FFF1E0"/>
            </a:solidFill>
            <a:prstDash val="solid"/>
          </a:ln>
        </p:spPr>
        <p:txBody>
          <a:bodyPr/>
          <a:lstStyle/>
          <a:p>
            <a:endParaRPr lang="en-US"/>
          </a:p>
        </p:txBody>
      </p:sp>
      <p:sp>
        <p:nvSpPr>
          <p:cNvPr id="13" name="Text 11"/>
          <p:cNvSpPr txBox="1"/>
          <p:nvPr/>
        </p:nvSpPr>
        <p:spPr>
          <a:xfrm>
            <a:off x="594360" y="3703320"/>
            <a:ext cx="7955280" cy="685800"/>
          </a:xfrm>
          <a:prstGeom prst="rect">
            <a:avLst/>
          </a:prstGeom>
          <a:noFill/>
          <a:ln/>
        </p:spPr>
        <p:txBody>
          <a:bodyPr wrap="square" lIns="0" tIns="0" rIns="0" bIns="0" rtlCol="0" anchor="ctr"/>
          <a:lstStyle/>
          <a:p>
            <a:pPr marL="0" indent="0">
              <a:buNone/>
            </a:pPr>
            <a:r>
              <a:rPr lang="en-US" sz="1200" b="1" dirty="0">
                <a:solidFill>
                  <a:srgbClr val="F28C28"/>
                </a:solidFill>
                <a:latin typeface="Calibri" pitchFamily="34" charset="0"/>
                <a:ea typeface="Calibri" pitchFamily="34" charset="-122"/>
                <a:cs typeface="Calibri" pitchFamily="34" charset="-120"/>
              </a:rPr>
              <a:t>Chosen stack:  </a:t>
            </a:r>
            <a:r>
              <a:rPr lang="en-US" sz="1200" dirty="0">
                <a:solidFill>
                  <a:srgbClr val="2B3340"/>
                </a:solidFill>
                <a:latin typeface="Calibri" pitchFamily="34" charset="0"/>
                <a:ea typeface="Calibri" pitchFamily="34" charset="-122"/>
                <a:cs typeface="Calibri" pitchFamily="34" charset="-120"/>
              </a:rPr>
              <a:t>mjlab = MuJoCo Warp physics + an Isaac Lab-style manager API + RSL-RL PPO, without the 30 GB Omniverse install.</a:t>
            </a:r>
            <a:endParaRPr lang="en-US" sz="12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50">
                <a:solidFill>
                  <a:srgbClr val="667085"/>
                </a:solidFill>
                <a:latin typeface="Calibri"/>
                <a:ea typeface="Calibri"/>
                <a:cs typeface="Calibri"/>
              </a:defRPr>
            </a:lvl1pPr>
          </a:lstStyle>
          <a:p>
            <a:pPr algn="r"/>
            <a:fld id="{F7021451-1387-4CA6-816F-3879F97B5CBC}" type="slidenum">
              <a:rPr lang="en-US" b="0"/>
              <a:t>28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5050</Words>
  <Application>Microsoft Office PowerPoint</Application>
  <PresentationFormat>On-screen Show (16:9)</PresentationFormat>
  <Paragraphs>734</Paragraphs>
  <Slides>28</Slides>
  <Notes>28</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Reinforcement Learning Mini-Project: Angad Biped Walking</dc:title>
  <dc:subject>PptxGenJS Presentation</dc:subject>
  <dc:creator>Nandhith Karthikeyan</dc:creator>
  <cp:lastModifiedBy>NANDHITH KARTHIKEYAN-[BL.EN.U4RAE23027]</cp:lastModifiedBy>
  <cp:revision>2</cp:revision>
  <dcterms:created xsi:type="dcterms:W3CDTF">2026-09-20T09:10:44Z</dcterms:created>
  <dcterms:modified xsi:type="dcterms:W3CDTF">2026-09-20T10:54:53Z</dcterms:modified>
</cp:coreProperties>
</file>